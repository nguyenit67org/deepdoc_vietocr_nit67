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303" r:id="rId29"/>
    <p:sldId id="304" r:id="rId28"/>
    <p:sldId id="305" r:id="rId27"/>
    <p:sldId id="306" r:id="rId26"/>
    <p:sldId id="307" r:id="rId25"/>
    <p:sldId id="308" r:id="rId24"/>
    <p:sldId id="309" r:id="rId23"/>
    <p:sldId id="310" r:id="rId22"/>
    <p:sldId id="311" r:id="rId21"/>
    <p:sldId id="312" r:id="rId20"/>
    <p:sldId id="313" r:id="rId19"/>
    <p:sldId id="314" r:id="rId18"/>
    <p:sldId id="315" r:id="rId17"/>
    <p:sldId id="316" r:id="rId16"/>
    <p:sldId id="317" r:id="rId15"/>
    <p:sldId id="318" r:id="rId14"/>
    <p:sldId id="319" r:id="rId13"/>
    <p:sldId id="320" r:id="rId12"/>
    <p:sldId id="321" r:id="rId11"/>
    <p:sldId id="322" r:id="rId10"/>
    <p:sldId id="323" r:id="rId9"/>
    <p:sldId id="324" r:id="rId8"/>
  </p:sldIdLst>
  <p:sldSz cy="10287000" cx="18288000"/>
  <p:notesSz cx="6858000" cy="9144000"/>
  <p:embeddedFontLst>
    <p:embeddedFont>
      <p:font typeface="Sarabun"/>
      <p:bold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2" roundtripDataSignature="AMtx7mjbgJkpCgMk8TZQvb5PFdEftNLl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8" Type="http://schemas.openxmlformats.org/officeDocument/2006/relationships/slide" Target="slides/slide45.xml"/><Relationship Id="rId9" Type="http://schemas.openxmlformats.org/officeDocument/2006/relationships/slide" Target="slides/slide44.xml"/><Relationship Id="rId10" Type="http://schemas.openxmlformats.org/officeDocument/2006/relationships/slide" Target="slides/slide43.xml"/><Relationship Id="rId11" Type="http://schemas.openxmlformats.org/officeDocument/2006/relationships/slide" Target="slides/slide42.xml"/><Relationship Id="rId12" Type="http://schemas.openxmlformats.org/officeDocument/2006/relationships/slide" Target="slides/slide41.xml"/><Relationship Id="rId13" Type="http://schemas.openxmlformats.org/officeDocument/2006/relationships/slide" Target="slides/slide40.xml"/><Relationship Id="rId14" Type="http://schemas.openxmlformats.org/officeDocument/2006/relationships/slide" Target="slides/slide39.xml"/><Relationship Id="rId15" Type="http://schemas.openxmlformats.org/officeDocument/2006/relationships/slide" Target="slides/slide38.xml"/><Relationship Id="rId16" Type="http://schemas.openxmlformats.org/officeDocument/2006/relationships/slide" Target="slides/slide37.xml"/><Relationship Id="rId17" Type="http://schemas.openxmlformats.org/officeDocument/2006/relationships/slide" Target="slides/slide36.xml"/><Relationship Id="rId18" Type="http://schemas.openxmlformats.org/officeDocument/2006/relationships/slide" Target="slides/slide35.xml"/><Relationship Id="rId19" Type="http://schemas.openxmlformats.org/officeDocument/2006/relationships/slide" Target="slides/slide34.xml"/><Relationship Id="rId20" Type="http://schemas.openxmlformats.org/officeDocument/2006/relationships/slide" Target="slides/slide33.xml"/><Relationship Id="rId21" Type="http://schemas.openxmlformats.org/officeDocument/2006/relationships/slide" Target="slides/slide32.xml"/><Relationship Id="rId22" Type="http://schemas.openxmlformats.org/officeDocument/2006/relationships/slide" Target="slides/slide31.xml"/><Relationship Id="rId23" Type="http://schemas.openxmlformats.org/officeDocument/2006/relationships/slide" Target="slides/slide30.xml"/><Relationship Id="rId24" Type="http://schemas.openxmlformats.org/officeDocument/2006/relationships/slide" Target="slides/slide29.xml"/><Relationship Id="rId25" Type="http://schemas.openxmlformats.org/officeDocument/2006/relationships/slide" Target="slides/slide28.xml"/><Relationship Id="rId26" Type="http://schemas.openxmlformats.org/officeDocument/2006/relationships/slide" Target="slides/slide27.xml"/><Relationship Id="rId27" Type="http://schemas.openxmlformats.org/officeDocument/2006/relationships/slide" Target="slides/slide26.xml"/><Relationship Id="rId28" Type="http://schemas.openxmlformats.org/officeDocument/2006/relationships/slide" Target="slides/slide25.xml"/><Relationship Id="rId29" Type="http://schemas.openxmlformats.org/officeDocument/2006/relationships/slide" Target="slides/slide24.xml"/><Relationship Id="rId30" Type="http://schemas.openxmlformats.org/officeDocument/2006/relationships/font" Target="fonts/Sarabun-bold.fntdata"/><Relationship Id="rId31" Type="http://schemas.openxmlformats.org/officeDocument/2006/relationships/font" Target="fonts/Sarabun-boldItalic.fntdata"/><Relationship Id="rId3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vi-V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3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3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3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3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3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4"/>
          <p:cNvSpPr/>
          <p:nvPr>
            <p:ph idx="2" type="pic"/>
          </p:nvPr>
        </p:nvSpPr>
        <p:spPr>
          <a:xfrm>
            <a:off x="1792288" y="612775"/>
            <a:ext cx="5486400" cy="4114800"/>
          </a:xfrm>
          <a:prstGeom prst="rect">
            <a:avLst/>
          </a:prstGeom>
          <a:noFill/>
          <a:ln>
            <a:noFill/>
          </a:ln>
        </p:spPr>
      </p:sp>
      <p:sp>
        <p:nvSpPr>
          <p:cNvPr id="68" name="Google Shape;68;p3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V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3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36.png"/><Relationship Id="rId6"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38.jpg"/><Relationship Id="rId6" Type="http://schemas.openxmlformats.org/officeDocument/2006/relationships/image" Target="../media/image3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40.png"/><Relationship Id="rId6"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44.png"/><Relationship Id="rId6"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13.png"/><Relationship Id="rId7" Type="http://schemas.openxmlformats.org/officeDocument/2006/relationships/image" Target="../media/image32.png"/></Relationships>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9" name="Google Shape;89;p1"/>
          <p:cNvSpPr/>
          <p:nvPr/>
        </p:nvSpPr>
        <p:spPr>
          <a:xfrm>
            <a:off x="-136729" y="-146003"/>
            <a:ext cx="18424729" cy="10433003"/>
          </a:xfrm>
          <a:custGeom>
            <a:rect b="b" l="l" r="r" t="t"/>
            <a:pathLst>
              <a:path extrusionOk="0" h="10433003" w="18424729">
                <a:moveTo>
                  <a:pt x="0" y="0"/>
                </a:moveTo>
                <a:lnTo>
                  <a:pt x="18424729" y="0"/>
                </a:lnTo>
                <a:lnTo>
                  <a:pt x="18424729" y="10433003"/>
                </a:lnTo>
                <a:lnTo>
                  <a:pt x="0" y="10433003"/>
                </a:lnTo>
                <a:lnTo>
                  <a:pt x="0" y="0"/>
                </a:lnTo>
                <a:close/>
              </a:path>
            </a:pathLst>
          </a:custGeom>
          <a:blipFill rotWithShape="1">
            <a:blip r:embed="rId2">
              <a:alphaModFix/>
            </a:blip>
            <a:stretch>
              <a:fillRect b="0" l="0" r="0" t="0"/>
            </a:stretch>
          </a:blipFill>
          <a:ln>
            <a:noFill/>
          </a:ln>
        </p:spPr>
      </p:sp>
      <p:sp>
        <p:nvSpPr>
          <p:cNvPr id="90" name="Google Shape;90;p1"/>
          <p:cNvSpPr/>
          <p:nvPr/>
        </p:nvSpPr>
        <p:spPr>
          <a:xfrm>
            <a:off x="-167825" y="6726704"/>
            <a:ext cx="18623649" cy="3560296"/>
          </a:xfrm>
          <a:custGeom>
            <a:rect b="b" l="l" r="r" t="t"/>
            <a:pathLst>
              <a:path extrusionOk="0" h="3560296" w="18623649">
                <a:moveTo>
                  <a:pt x="0" y="0"/>
                </a:moveTo>
                <a:lnTo>
                  <a:pt x="18623649" y="0"/>
                </a:lnTo>
                <a:lnTo>
                  <a:pt x="18623649" y="3560296"/>
                </a:lnTo>
                <a:lnTo>
                  <a:pt x="0" y="3560296"/>
                </a:lnTo>
                <a:lnTo>
                  <a:pt x="0" y="0"/>
                </a:lnTo>
                <a:close/>
              </a:path>
            </a:pathLst>
          </a:custGeom>
          <a:blipFill rotWithShape="1">
            <a:blip r:embed="rId3">
              <a:alphaModFix/>
            </a:blip>
            <a:stretch>
              <a:fillRect b="-23612" l="-32916" r="-32916" t="0"/>
            </a:stretch>
          </a:blipFill>
          <a:ln>
            <a:noFill/>
          </a:ln>
        </p:spPr>
      </p:sp>
      <p:sp>
        <p:nvSpPr>
          <p:cNvPr id="91" name="Google Shape;91;p1"/>
          <p:cNvSpPr/>
          <p:nvPr/>
        </p:nvSpPr>
        <p:spPr>
          <a:xfrm>
            <a:off x="-799601" y="3364833"/>
            <a:ext cx="7992570" cy="9672442"/>
          </a:xfrm>
          <a:custGeom>
            <a:rect b="b" l="l" r="r" t="t"/>
            <a:pathLst>
              <a:path extrusionOk="0" h="9672442" w="7992570">
                <a:moveTo>
                  <a:pt x="0" y="0"/>
                </a:moveTo>
                <a:lnTo>
                  <a:pt x="7992570" y="0"/>
                </a:lnTo>
                <a:lnTo>
                  <a:pt x="7992570" y="9672443"/>
                </a:lnTo>
                <a:lnTo>
                  <a:pt x="0" y="9672443"/>
                </a:lnTo>
                <a:lnTo>
                  <a:pt x="0" y="0"/>
                </a:lnTo>
                <a:close/>
              </a:path>
            </a:pathLst>
          </a:custGeom>
          <a:blipFill rotWithShape="1">
            <a:blip r:embed="rId4">
              <a:alphaModFix amt="36000"/>
            </a:blip>
            <a:stretch>
              <a:fillRect b="-165" l="0" r="-105" t="0"/>
            </a:stretch>
          </a:blipFill>
          <a:ln>
            <a:noFill/>
          </a:ln>
        </p:spPr>
      </p:sp>
      <p:sp>
        <p:nvSpPr>
          <p:cNvPr id="92" name="Google Shape;92;p1"/>
          <p:cNvSpPr/>
          <p:nvPr/>
        </p:nvSpPr>
        <p:spPr>
          <a:xfrm>
            <a:off x="-343810" y="3752988"/>
            <a:ext cx="7080989" cy="8569268"/>
          </a:xfrm>
          <a:custGeom>
            <a:rect b="b" l="l" r="r" t="t"/>
            <a:pathLst>
              <a:path extrusionOk="0" h="8569268" w="7080989">
                <a:moveTo>
                  <a:pt x="0" y="0"/>
                </a:moveTo>
                <a:lnTo>
                  <a:pt x="7080988" y="0"/>
                </a:lnTo>
                <a:lnTo>
                  <a:pt x="7080988" y="8569268"/>
                </a:lnTo>
                <a:lnTo>
                  <a:pt x="0" y="8569268"/>
                </a:lnTo>
                <a:lnTo>
                  <a:pt x="0" y="0"/>
                </a:lnTo>
                <a:close/>
              </a:path>
            </a:pathLst>
          </a:custGeom>
          <a:blipFill rotWithShape="1">
            <a:blip r:embed="rId4">
              <a:alphaModFix amt="52998"/>
            </a:blip>
            <a:stretch>
              <a:fillRect b="-273" l="0" r="-213" t="0"/>
            </a:stretch>
          </a:blipFill>
          <a:ln>
            <a:noFill/>
          </a:ln>
        </p:spPr>
      </p:sp>
      <p:sp>
        <p:nvSpPr>
          <p:cNvPr id="93" name="Google Shape;93;p1"/>
          <p:cNvSpPr/>
          <p:nvPr/>
        </p:nvSpPr>
        <p:spPr>
          <a:xfrm>
            <a:off x="169718" y="4120710"/>
            <a:ext cx="6135651" cy="7425240"/>
          </a:xfrm>
          <a:custGeom>
            <a:rect b="b" l="l" r="r" t="t"/>
            <a:pathLst>
              <a:path extrusionOk="0" h="7425240" w="6135651">
                <a:moveTo>
                  <a:pt x="0" y="0"/>
                </a:moveTo>
                <a:lnTo>
                  <a:pt x="6135650" y="0"/>
                </a:lnTo>
                <a:lnTo>
                  <a:pt x="6135650" y="7425240"/>
                </a:lnTo>
                <a:lnTo>
                  <a:pt x="0" y="7425240"/>
                </a:lnTo>
                <a:lnTo>
                  <a:pt x="0" y="0"/>
                </a:lnTo>
                <a:close/>
              </a:path>
            </a:pathLst>
          </a:custGeom>
          <a:blipFill rotWithShape="1">
            <a:blip r:embed="rId5">
              <a:alphaModFix/>
            </a:blip>
            <a:stretch>
              <a:fillRect b="-190" l="0" r="-129" t="0"/>
            </a:stretch>
          </a:blipFill>
          <a:ln>
            <a:noFill/>
          </a:ln>
        </p:spPr>
      </p:sp>
      <p:sp>
        <p:nvSpPr>
          <p:cNvPr id="94" name="Google Shape;94;p1"/>
          <p:cNvSpPr/>
          <p:nvPr/>
        </p:nvSpPr>
        <p:spPr>
          <a:xfrm>
            <a:off x="725226" y="5597957"/>
            <a:ext cx="5024638" cy="2162561"/>
          </a:xfrm>
          <a:custGeom>
            <a:rect b="b" l="l" r="r" t="t"/>
            <a:pathLst>
              <a:path extrusionOk="0" h="2162561" w="5024638">
                <a:moveTo>
                  <a:pt x="0" y="0"/>
                </a:moveTo>
                <a:lnTo>
                  <a:pt x="5024638" y="0"/>
                </a:lnTo>
                <a:lnTo>
                  <a:pt x="5024638" y="2162561"/>
                </a:lnTo>
                <a:lnTo>
                  <a:pt x="0" y="2162561"/>
                </a:lnTo>
                <a:lnTo>
                  <a:pt x="0" y="0"/>
                </a:lnTo>
                <a:close/>
              </a:path>
            </a:pathLst>
          </a:custGeom>
          <a:blipFill rotWithShape="1">
            <a:blip r:embed="rId6">
              <a:alphaModFix/>
            </a:blip>
            <a:stretch>
              <a:fillRect b="-422" l="0" r="-422" t="0"/>
            </a:stretch>
          </a:blipFill>
          <a:ln>
            <a:noFill/>
          </a:ln>
        </p:spPr>
      </p:sp>
      <p:pic>
        <p:nvPicPr>
          <p:cNvPr id="95" name="Picture 94" descr="image.png"/>
          <p:cNvPicPr>
            <a:picLocks noChangeAspect="1"/>
          </p:cNvPicPr>
          <p:nvPr/>
        </p:nvPicPr>
        <p:blipFill>
          <a:blip r:embed="rId7"/>
          <a:stretch>
            <a:fillRect/>
          </a:stretch>
        </p:blipFill>
        <p:spPr>
          <a:xfrm>
            <a:off x="14859000" y="685800"/>
            <a:ext cx="2743200" cy="1715014"/>
          </a:xfrm>
          <a:prstGeom prst="rect">
            <a:avLst/>
          </a:prstGeom>
        </p:spPr>
      </p:pic>
      <p:sp>
        <p:nvSpPr>
          <p:cNvPr id="96" name="TextBox 95"/>
          <p:cNvSpPr txBox="1"/>
          <p:nvPr/>
        </p:nvSpPr>
        <p:spPr>
          <a:xfrm>
            <a:off x="7132320" y="2468880"/>
            <a:ext cx="10241280" cy="1645920"/>
          </a:xfrm>
          <a:prstGeom prst="rect">
            <a:avLst/>
          </a:prstGeom>
          <a:noFill/>
        </p:spPr>
        <p:txBody>
          <a:bodyPr wrap="square" anchor="t" lIns="27432" rIns="27432" tIns="27432" bIns="27432">
            <a:spAutoFit/>
          </a:bodyPr>
          <a:lstStyle/>
          <a:p>
            <a:pPr algn="l">
              <a:lnSpc>
                <a:spcPct val="115000"/>
              </a:lnSpc>
              <a:spcAft>
                <a:spcPts val="570"/>
              </a:spcAft>
            </a:pPr>
            <a:r>
              <a:rPr sz="3800" b="1">
                <a:solidFill>
                  <a:srgbClr val="FFFFFF"/>
                </a:solidFill>
                <a:latin typeface="Arial"/>
              </a:rPr>
              <a:t>AI OCR cho văn bản hành chính</a:t>
            </a:r>
          </a:p>
          <a:p>
            <a:pPr algn="l">
              <a:lnSpc>
                <a:spcPct val="115000"/>
              </a:lnSpc>
              <a:spcAft>
                <a:spcPts val="570"/>
              </a:spcAft>
            </a:pPr>
            <a:r>
              <a:rPr sz="3800" b="1">
                <a:solidFill>
                  <a:srgbClr val="FFFFFF"/>
                </a:solidFill>
                <a:latin typeface="Arial"/>
              </a:rPr>
              <a:t>Dự án Văn phòng số (VPS)</a:t>
            </a:r>
          </a:p>
        </p:txBody>
      </p:sp>
      <p:sp>
        <p:nvSpPr>
          <p:cNvPr id="97" name="TextBox 96"/>
          <p:cNvSpPr txBox="1"/>
          <p:nvPr/>
        </p:nvSpPr>
        <p:spPr>
          <a:xfrm>
            <a:off x="7178040" y="4206240"/>
            <a:ext cx="10058400" cy="548640"/>
          </a:xfrm>
          <a:prstGeom prst="rect">
            <a:avLst/>
          </a:prstGeom>
          <a:noFill/>
        </p:spPr>
        <p:txBody>
          <a:bodyPr wrap="square" anchor="t" lIns="27432" rIns="27432" tIns="27432" bIns="27432">
            <a:spAutoFit/>
          </a:bodyPr>
          <a:lstStyle/>
          <a:p>
            <a:pPr algn="l">
              <a:lnSpc>
                <a:spcPct val="115000"/>
              </a:lnSpc>
              <a:spcAft>
                <a:spcPts val="300"/>
              </a:spcAft>
            </a:pPr>
            <a:r>
              <a:rPr sz="2000" b="0">
                <a:solidFill>
                  <a:srgbClr val="FFFFFF"/>
                </a:solidFill>
                <a:latin typeface="Arial"/>
              </a:rPr>
              <a:t>Báo cáo kết quả thử nghiệm &amp; Đánh giá đối chuẩn giải pháp KIE (PoC)</a:t>
            </a:r>
          </a:p>
        </p:txBody>
      </p:sp>
      <p:sp>
        <p:nvSpPr>
          <p:cNvPr id="98" name="TextBox 97"/>
          <p:cNvSpPr txBox="1"/>
          <p:nvPr/>
        </p:nvSpPr>
        <p:spPr>
          <a:xfrm>
            <a:off x="7178040" y="4846320"/>
            <a:ext cx="10058400" cy="3474720"/>
          </a:xfrm>
          <a:prstGeom prst="rect">
            <a:avLst/>
          </a:prstGeom>
          <a:noFill/>
        </p:spPr>
        <p:txBody>
          <a:bodyPr wrap="square" anchor="t" lIns="27432" rIns="27432" tIns="27432" bIns="27432">
            <a:spAutoFit/>
          </a:bodyPr>
          <a:lstStyle/>
          <a:p>
            <a:pPr algn="l">
              <a:lnSpc>
                <a:spcPct val="120000"/>
              </a:lnSpc>
              <a:spcAft>
                <a:spcPts val="232"/>
              </a:spcAft>
            </a:pPr>
            <a:r>
              <a:rPr sz="1550" b="0">
                <a:solidFill>
                  <a:srgbClr val="F0F4F8"/>
                </a:solidFill>
                <a:latin typeface="Arial"/>
              </a:rPr>
              <a:t>Trưởng phòng: Đỗ Quốc Hưng</a:t>
            </a:r>
          </a:p>
          <a:p>
            <a:pPr algn="l">
              <a:lnSpc>
                <a:spcPct val="120000"/>
              </a:lnSpc>
              <a:spcAft>
                <a:spcPts val="232"/>
              </a:spcAft>
            </a:pPr>
            <a:r>
              <a:rPr sz="1550" b="0">
                <a:solidFill>
                  <a:srgbClr val="F0F4F8"/>
                </a:solidFill>
                <a:latin typeface="Arial"/>
              </a:rPr>
              <a:t>Quản lý dự án: Huỳnh Lê Bảo</a:t>
            </a:r>
          </a:p>
          <a:p>
            <a:pPr algn="l">
              <a:lnSpc>
                <a:spcPct val="120000"/>
              </a:lnSpc>
              <a:spcAft>
                <a:spcPts val="232"/>
              </a:spcAft>
            </a:pPr>
          </a:p>
          <a:p>
            <a:pPr algn="l">
              <a:lnSpc>
                <a:spcPct val="120000"/>
              </a:lnSpc>
              <a:spcAft>
                <a:spcPts val="232"/>
              </a:spcAft>
            </a:pPr>
            <a:r>
              <a:rPr sz="1550" b="0">
                <a:solidFill>
                  <a:srgbClr val="F0F4F8"/>
                </a:solidFill>
                <a:latin typeface="Arial"/>
              </a:rPr>
              <a:t>Các thành viên dự án:</a:t>
            </a:r>
          </a:p>
          <a:p>
            <a:pPr algn="l">
              <a:lnSpc>
                <a:spcPct val="120000"/>
              </a:lnSpc>
              <a:spcAft>
                <a:spcPts val="232"/>
              </a:spcAft>
            </a:pPr>
            <a:r>
              <a:rPr sz="1550" b="0">
                <a:solidFill>
                  <a:srgbClr val="F0F4F8"/>
                </a:solidFill>
                <a:latin typeface="Arial"/>
              </a:rPr>
              <a:t>• Nguyễn Hoàng Nguyên  —  nguyennh7@viettel.com.vn</a:t>
            </a:r>
          </a:p>
          <a:p>
            <a:pPr algn="l">
              <a:lnSpc>
                <a:spcPct val="120000"/>
              </a:lnSpc>
              <a:spcAft>
                <a:spcPts val="232"/>
              </a:spcAft>
            </a:pPr>
            <a:r>
              <a:rPr sz="1550" b="0">
                <a:solidFill>
                  <a:srgbClr val="F0F4F8"/>
                </a:solidFill>
                <a:latin typeface="Arial"/>
              </a:rPr>
              <a:t>• Bùi Đình Bảo  —  baobd1@viettel.com.vn</a:t>
            </a:r>
          </a:p>
          <a:p>
            <a:pPr algn="l">
              <a:lnSpc>
                <a:spcPct val="120000"/>
              </a:lnSpc>
              <a:spcAft>
                <a:spcPts val="232"/>
              </a:spcAft>
            </a:pPr>
            <a:r>
              <a:rPr sz="1550" b="0">
                <a:solidFill>
                  <a:srgbClr val="F0F4F8"/>
                </a:solidFill>
                <a:latin typeface="Arial"/>
              </a:rPr>
              <a:t>• Nguyễn Xuân An  —  annx29@viettel.com.vn</a:t>
            </a:r>
          </a:p>
          <a:p>
            <a:pPr algn="l">
              <a:lnSpc>
                <a:spcPct val="120000"/>
              </a:lnSpc>
              <a:spcAft>
                <a:spcPts val="232"/>
              </a:spcAft>
            </a:pPr>
          </a:p>
          <a:p>
            <a:pPr algn="l">
              <a:lnSpc>
                <a:spcPct val="120000"/>
              </a:lnSpc>
              <a:spcAft>
                <a:spcPts val="232"/>
              </a:spcAft>
            </a:pPr>
            <a:r>
              <a:rPr sz="1550" b="0">
                <a:solidFill>
                  <a:srgbClr val="F0F4F8"/>
                </a:solidFill>
                <a:latin typeface="Arial"/>
              </a:rPr>
              <a:t>Thời gian: Tháng 10/2026  |  Đánh giá Full inference 100 văn bản hành chính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Từ nhập liệu thủ công đến dữ liệu có cấu trúc</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Yêu cầu nghiệp vụ · Văn phòng số (VPS)</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02</a:t>
            </a:r>
          </a:p>
        </p:txBody>
      </p:sp>
      <p:sp>
        <p:nvSpPr>
          <p:cNvPr id="149" name="Rounded Rectangle 148"/>
          <p:cNvSpPr/>
          <p:nvPr/>
        </p:nvSpPr>
        <p:spPr>
          <a:xfrm>
            <a:off x="1243584" y="1280160"/>
            <a:ext cx="2404872"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313432"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01 · BỐI CẢNH</a:t>
            </a:r>
          </a:p>
        </p:txBody>
      </p:sp>
      <p:sp>
        <p:nvSpPr>
          <p:cNvPr id="151" name="Rounded Rectangle 150"/>
          <p:cNvSpPr/>
          <p:nvPr/>
        </p:nvSpPr>
        <p:spPr>
          <a:xfrm>
            <a:off x="1234440" y="1874519"/>
            <a:ext cx="5029200" cy="521208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435608" y="2020824"/>
            <a:ext cx="4626864"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EE0033"/>
                </a:solidFill>
                <a:latin typeface="Arial"/>
              </a:rPr>
              <a:t>01</a:t>
            </a:r>
          </a:p>
        </p:txBody>
      </p:sp>
      <p:sp>
        <p:nvSpPr>
          <p:cNvPr id="153" name="TextBox 152"/>
          <p:cNvSpPr txBox="1"/>
          <p:nvPr/>
        </p:nvSpPr>
        <p:spPr>
          <a:xfrm>
            <a:off x="1435608" y="2624327"/>
            <a:ext cx="4626864"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Hiện trạng</a:t>
            </a:r>
          </a:p>
        </p:txBody>
      </p:sp>
      <p:sp>
        <p:nvSpPr>
          <p:cNvPr id="154" name="TextBox 153"/>
          <p:cNvSpPr txBox="1"/>
          <p:nvPr/>
        </p:nvSpPr>
        <p:spPr>
          <a:xfrm>
            <a:off x="1435608" y="3172968"/>
            <a:ext cx="4626864" cy="3776472"/>
          </a:xfrm>
          <a:prstGeom prst="rect">
            <a:avLst/>
          </a:prstGeom>
          <a:noFill/>
        </p:spPr>
        <p:txBody>
          <a:bodyPr wrap="square" anchor="t" lIns="27432" rIns="27432" tIns="27432" bIns="27432">
            <a:spAutoFit/>
          </a:bodyPr>
          <a:lstStyle/>
          <a:p>
            <a:pPr algn="l">
              <a:lnSpc>
                <a:spcPct val="115000"/>
              </a:lnSpc>
              <a:spcAft>
                <a:spcPts val="270"/>
              </a:spcAft>
            </a:pPr>
            <a:r>
              <a:rPr sz="1800" b="0">
                <a:solidFill>
                  <a:srgbClr val="22282E"/>
                </a:solidFill>
                <a:latin typeface="Arial"/>
              </a:rPr>
              <a:t>Nhân viên văn thư đọc từng trang PDF rồi nhập liệu thủ công số ký hiệu, ngày ban hành, cơ quan, trích yếu… vào hệ thống phần mềm.</a:t>
            </a:r>
          </a:p>
        </p:txBody>
      </p:sp>
      <p:sp>
        <p:nvSpPr>
          <p:cNvPr id="155" name="Rounded Rectangle 154"/>
          <p:cNvSpPr/>
          <p:nvPr/>
        </p:nvSpPr>
        <p:spPr>
          <a:xfrm>
            <a:off x="6464808" y="1874519"/>
            <a:ext cx="5029200" cy="521208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665976" y="2020824"/>
            <a:ext cx="4626864"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EE0033"/>
                </a:solidFill>
                <a:latin typeface="Arial"/>
              </a:rPr>
              <a:t>02</a:t>
            </a:r>
          </a:p>
        </p:txBody>
      </p:sp>
      <p:sp>
        <p:nvSpPr>
          <p:cNvPr id="157" name="TextBox 156"/>
          <p:cNvSpPr txBox="1"/>
          <p:nvPr/>
        </p:nvSpPr>
        <p:spPr>
          <a:xfrm>
            <a:off x="6665976" y="2624327"/>
            <a:ext cx="4626864"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Pain point</a:t>
            </a:r>
          </a:p>
        </p:txBody>
      </p:sp>
      <p:sp>
        <p:nvSpPr>
          <p:cNvPr id="158" name="TextBox 157"/>
          <p:cNvSpPr txBox="1"/>
          <p:nvPr/>
        </p:nvSpPr>
        <p:spPr>
          <a:xfrm>
            <a:off x="6665976" y="3172968"/>
            <a:ext cx="4626864" cy="3776472"/>
          </a:xfrm>
          <a:prstGeom prst="rect">
            <a:avLst/>
          </a:prstGeom>
          <a:noFill/>
        </p:spPr>
        <p:txBody>
          <a:bodyPr wrap="square" anchor="t" lIns="27432" rIns="27432" tIns="27432" bIns="27432">
            <a:spAutoFit/>
          </a:bodyPr>
          <a:lstStyle/>
          <a:p>
            <a:pPr algn="l">
              <a:lnSpc>
                <a:spcPct val="115000"/>
              </a:lnSpc>
              <a:spcAft>
                <a:spcPts val="270"/>
              </a:spcAft>
            </a:pPr>
            <a:r>
              <a:rPr sz="1800" b="0">
                <a:solidFill>
                  <a:srgbClr val="22282E"/>
                </a:solidFill>
                <a:latin typeface="Arial"/>
              </a:rPr>
              <a:t>Khối lượng văn bản lớn làm tăng chi phí nhân lực và thời gian xử lý; nguy cơ sai sót ký tự, nhầm lẫn ngày tháng và khó mở rộng quy mô.</a:t>
            </a:r>
          </a:p>
        </p:txBody>
      </p:sp>
      <p:sp>
        <p:nvSpPr>
          <p:cNvPr id="159" name="Rounded Rectangle 158"/>
          <p:cNvSpPr/>
          <p:nvPr/>
        </p:nvSpPr>
        <p:spPr>
          <a:xfrm>
            <a:off x="11686032" y="1874519"/>
            <a:ext cx="5394960" cy="521208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1887200" y="2020824"/>
            <a:ext cx="4992624"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EE0033"/>
                </a:solidFill>
                <a:latin typeface="Arial"/>
              </a:rPr>
              <a:t>03</a:t>
            </a:r>
          </a:p>
        </p:txBody>
      </p:sp>
      <p:sp>
        <p:nvSpPr>
          <p:cNvPr id="161" name="TextBox 160"/>
          <p:cNvSpPr txBox="1"/>
          <p:nvPr/>
        </p:nvSpPr>
        <p:spPr>
          <a:xfrm>
            <a:off x="11887200" y="2624327"/>
            <a:ext cx="4992624"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Mục tiêu PoC</a:t>
            </a:r>
          </a:p>
        </p:txBody>
      </p:sp>
      <p:sp>
        <p:nvSpPr>
          <p:cNvPr id="162" name="TextBox 161"/>
          <p:cNvSpPr txBox="1"/>
          <p:nvPr/>
        </p:nvSpPr>
        <p:spPr>
          <a:xfrm>
            <a:off x="11887200" y="3172968"/>
            <a:ext cx="4992624" cy="3776472"/>
          </a:xfrm>
          <a:prstGeom prst="rect">
            <a:avLst/>
          </a:prstGeom>
          <a:noFill/>
        </p:spPr>
        <p:txBody>
          <a:bodyPr wrap="square" anchor="t" lIns="27432" rIns="27432" tIns="27432" bIns="27432">
            <a:spAutoFit/>
          </a:bodyPr>
          <a:lstStyle/>
          <a:p>
            <a:pPr algn="l">
              <a:lnSpc>
                <a:spcPct val="115000"/>
              </a:lnSpc>
              <a:spcAft>
                <a:spcPts val="270"/>
              </a:spcAft>
            </a:pPr>
            <a:r>
              <a:rPr sz="1800" b="0">
                <a:solidFill>
                  <a:srgbClr val="22282E"/>
                </a:solidFill>
                <a:latin typeface="Arial"/>
              </a:rPr>
              <a:t>Kiểm chứng giải pháp OCR/KIE nội bộ có khả năng tự động bóc tách cấu trúc 13 trường thông tin, kiểm soát độ chính xác và bảo mật dữ liệu.</a:t>
            </a:r>
          </a:p>
        </p:txBody>
      </p:sp>
      <p:sp>
        <p:nvSpPr>
          <p:cNvPr id="163" name="Rounded Rectangle 162"/>
          <p:cNvSpPr/>
          <p:nvPr/>
        </p:nvSpPr>
        <p:spPr>
          <a:xfrm>
            <a:off x="1243584" y="7452360"/>
            <a:ext cx="15910559" cy="749808"/>
          </a:xfrm>
          <a:prstGeom prst="roundRect">
            <a:avLst/>
          </a:prstGeom>
          <a:solidFill>
            <a:srgbClr val="FDF2F3"/>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463040" y="7562088"/>
            <a:ext cx="15453359" cy="530352"/>
          </a:xfrm>
          <a:prstGeom prst="rect">
            <a:avLst/>
          </a:prstGeom>
          <a:noFill/>
        </p:spPr>
        <p:txBody>
          <a:bodyPr wrap="square" anchor="t" lIns="27432" rIns="27432" tIns="27432" bIns="27432">
            <a:spAutoFit/>
          </a:bodyPr>
          <a:lstStyle/>
          <a:p>
            <a:pPr algn="l">
              <a:lnSpc>
                <a:spcPct val="115000"/>
              </a:lnSpc>
              <a:spcAft>
                <a:spcPts val="292"/>
              </a:spcAft>
            </a:pPr>
            <a:r>
              <a:rPr sz="1950" b="1">
                <a:solidFill>
                  <a:srgbClr val="172235"/>
                </a:solidFill>
                <a:latin typeface="Arial"/>
              </a:rPr>
              <a:t>Đánh giá tính khả thi kỹ thuật &amp; đối chuẩn với giải pháp thương mại trên 100 văn bản thực tế.</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Viettel Agile: học và tối ưu từ dữ liệu thật</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Quy chuẩn benchmark §6, §9 · docs/ocr_pipeline_benchmark_metrics.md</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03</a:t>
            </a:r>
          </a:p>
        </p:txBody>
      </p:sp>
      <p:sp>
        <p:nvSpPr>
          <p:cNvPr id="149" name="Rounded Rectangle 148"/>
          <p:cNvSpPr/>
          <p:nvPr/>
        </p:nvSpPr>
        <p:spPr>
          <a:xfrm>
            <a:off x="1243584" y="1280160"/>
            <a:ext cx="2404872"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313432"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01 · BỐI CẢNH</a:t>
            </a:r>
          </a:p>
        </p:txBody>
      </p:sp>
      <p:sp>
        <p:nvSpPr>
          <p:cNvPr id="151" name="Rounded Rectangle 150"/>
          <p:cNvSpPr/>
          <p:nvPr/>
        </p:nvSpPr>
        <p:spPr>
          <a:xfrm>
            <a:off x="1243584" y="2103120"/>
            <a:ext cx="3017520" cy="269748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444752" y="2304288"/>
            <a:ext cx="2615184" cy="548640"/>
          </a:xfrm>
          <a:prstGeom prst="rect">
            <a:avLst/>
          </a:prstGeom>
          <a:noFill/>
        </p:spPr>
        <p:txBody>
          <a:bodyPr wrap="square" anchor="t" lIns="27432" rIns="27432" tIns="27432" bIns="27432">
            <a:spAutoFit/>
          </a:bodyPr>
          <a:lstStyle/>
          <a:p>
            <a:pPr algn="l">
              <a:lnSpc>
                <a:spcPct val="115000"/>
              </a:lnSpc>
              <a:spcAft>
                <a:spcPts val="300"/>
              </a:spcAft>
            </a:pPr>
            <a:r>
              <a:rPr sz="2000" b="1">
                <a:solidFill>
                  <a:srgbClr val="172235"/>
                </a:solidFill>
                <a:latin typeface="Arial"/>
              </a:rPr>
              <a:t>Aware</a:t>
            </a:r>
          </a:p>
        </p:txBody>
      </p:sp>
      <p:sp>
        <p:nvSpPr>
          <p:cNvPr id="153" name="TextBox 152"/>
          <p:cNvSpPr txBox="1"/>
          <p:nvPr/>
        </p:nvSpPr>
        <p:spPr>
          <a:xfrm>
            <a:off x="1444752" y="2852928"/>
            <a:ext cx="2615184" cy="1810512"/>
          </a:xfrm>
          <a:prstGeom prst="rect">
            <a:avLst/>
          </a:prstGeom>
          <a:noFill/>
        </p:spPr>
        <p:txBody>
          <a:bodyPr wrap="square" anchor="t" lIns="27432" rIns="27432" tIns="27432" bIns="27432">
            <a:spAutoFit/>
          </a:bodyPr>
          <a:lstStyle/>
          <a:p>
            <a:pPr algn="l">
              <a:lnSpc>
                <a:spcPct val="115000"/>
              </a:lnSpc>
              <a:spcAft>
                <a:spcPts val="240"/>
              </a:spcAft>
            </a:pPr>
            <a:r>
              <a:rPr sz="1600" b="0">
                <a:solidFill>
                  <a:srgbClr val="22282E"/>
                </a:solidFill>
                <a:latin typeface="Arial"/>
              </a:rPr>
              <a:t>Nhận diện pain point</a:t>
            </a:r>
          </a:p>
        </p:txBody>
      </p:sp>
      <p:sp>
        <p:nvSpPr>
          <p:cNvPr id="154" name="Rounded Rectangle 153"/>
          <p:cNvSpPr/>
          <p:nvPr/>
        </p:nvSpPr>
        <p:spPr>
          <a:xfrm>
            <a:off x="4471416" y="2103120"/>
            <a:ext cx="3017520" cy="269748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672583" y="2304288"/>
            <a:ext cx="2615184" cy="548640"/>
          </a:xfrm>
          <a:prstGeom prst="rect">
            <a:avLst/>
          </a:prstGeom>
          <a:noFill/>
        </p:spPr>
        <p:txBody>
          <a:bodyPr wrap="square" anchor="t" lIns="27432" rIns="27432" tIns="27432" bIns="27432">
            <a:spAutoFit/>
          </a:bodyPr>
          <a:lstStyle/>
          <a:p>
            <a:pPr algn="l">
              <a:lnSpc>
                <a:spcPct val="115000"/>
              </a:lnSpc>
              <a:spcAft>
                <a:spcPts val="300"/>
              </a:spcAft>
            </a:pPr>
            <a:r>
              <a:rPr sz="2000" b="1">
                <a:solidFill>
                  <a:srgbClr val="172235"/>
                </a:solidFill>
                <a:latin typeface="Arial"/>
              </a:rPr>
              <a:t>Go Through</a:t>
            </a:r>
          </a:p>
        </p:txBody>
      </p:sp>
      <p:sp>
        <p:nvSpPr>
          <p:cNvPr id="156" name="TextBox 155"/>
          <p:cNvSpPr txBox="1"/>
          <p:nvPr/>
        </p:nvSpPr>
        <p:spPr>
          <a:xfrm>
            <a:off x="4672583" y="2852928"/>
            <a:ext cx="2615184" cy="1810512"/>
          </a:xfrm>
          <a:prstGeom prst="rect">
            <a:avLst/>
          </a:prstGeom>
          <a:noFill/>
        </p:spPr>
        <p:txBody>
          <a:bodyPr wrap="square" anchor="t" lIns="27432" rIns="27432" tIns="27432" bIns="27432">
            <a:spAutoFit/>
          </a:bodyPr>
          <a:lstStyle/>
          <a:p>
            <a:pPr algn="l">
              <a:lnSpc>
                <a:spcPct val="115000"/>
              </a:lnSpc>
              <a:spcAft>
                <a:spcPts val="240"/>
              </a:spcAft>
            </a:pPr>
            <a:r>
              <a:rPr sz="1600" b="0">
                <a:solidFill>
                  <a:srgbClr val="22282E"/>
                </a:solidFill>
                <a:latin typeface="Arial"/>
              </a:rPr>
              <a:t>Khảo sát nghiệp vụ</a:t>
            </a:r>
          </a:p>
        </p:txBody>
      </p:sp>
      <p:sp>
        <p:nvSpPr>
          <p:cNvPr id="157" name="Rounded Rectangle 156"/>
          <p:cNvSpPr/>
          <p:nvPr/>
        </p:nvSpPr>
        <p:spPr>
          <a:xfrm>
            <a:off x="7699248" y="2103120"/>
            <a:ext cx="3017520" cy="269748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7900416" y="2304288"/>
            <a:ext cx="2615184" cy="548640"/>
          </a:xfrm>
          <a:prstGeom prst="rect">
            <a:avLst/>
          </a:prstGeom>
          <a:noFill/>
        </p:spPr>
        <p:txBody>
          <a:bodyPr wrap="square" anchor="t" lIns="27432" rIns="27432" tIns="27432" bIns="27432">
            <a:spAutoFit/>
          </a:bodyPr>
          <a:lstStyle/>
          <a:p>
            <a:pPr algn="l">
              <a:lnSpc>
                <a:spcPct val="115000"/>
              </a:lnSpc>
              <a:spcAft>
                <a:spcPts val="300"/>
              </a:spcAft>
            </a:pPr>
            <a:r>
              <a:rPr sz="2000" b="1">
                <a:solidFill>
                  <a:srgbClr val="172235"/>
                </a:solidFill>
                <a:latin typeface="Arial"/>
              </a:rPr>
              <a:t>Implement</a:t>
            </a:r>
          </a:p>
        </p:txBody>
      </p:sp>
      <p:sp>
        <p:nvSpPr>
          <p:cNvPr id="159" name="TextBox 158"/>
          <p:cNvSpPr txBox="1"/>
          <p:nvPr/>
        </p:nvSpPr>
        <p:spPr>
          <a:xfrm>
            <a:off x="7900416" y="2852928"/>
            <a:ext cx="2615184" cy="1810512"/>
          </a:xfrm>
          <a:prstGeom prst="rect">
            <a:avLst/>
          </a:prstGeom>
          <a:noFill/>
        </p:spPr>
        <p:txBody>
          <a:bodyPr wrap="square" anchor="t" lIns="27432" rIns="27432" tIns="27432" bIns="27432">
            <a:spAutoFit/>
          </a:bodyPr>
          <a:lstStyle/>
          <a:p>
            <a:pPr algn="l">
              <a:lnSpc>
                <a:spcPct val="115000"/>
              </a:lnSpc>
              <a:spcAft>
                <a:spcPts val="240"/>
              </a:spcAft>
            </a:pPr>
            <a:r>
              <a:rPr sz="1600" b="0">
                <a:solidFill>
                  <a:srgbClr val="22282E"/>
                </a:solidFill>
                <a:latin typeface="Arial"/>
              </a:rPr>
              <a:t>Xây pipeline KIE</a:t>
            </a:r>
          </a:p>
        </p:txBody>
      </p:sp>
      <p:sp>
        <p:nvSpPr>
          <p:cNvPr id="160" name="Rounded Rectangle 159"/>
          <p:cNvSpPr/>
          <p:nvPr/>
        </p:nvSpPr>
        <p:spPr>
          <a:xfrm>
            <a:off x="10927080" y="2103120"/>
            <a:ext cx="3017520" cy="2697480"/>
          </a:xfrm>
          <a:prstGeom prst="roundRect">
            <a:avLst/>
          </a:prstGeom>
          <a:solidFill>
            <a:srgbClr val="FDF2F3"/>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1128248" y="2304288"/>
            <a:ext cx="2615184" cy="548640"/>
          </a:xfrm>
          <a:prstGeom prst="rect">
            <a:avLst/>
          </a:prstGeom>
          <a:noFill/>
        </p:spPr>
        <p:txBody>
          <a:bodyPr wrap="square" anchor="t" lIns="27432" rIns="27432" tIns="27432" bIns="27432">
            <a:spAutoFit/>
          </a:bodyPr>
          <a:lstStyle/>
          <a:p>
            <a:pPr algn="l">
              <a:lnSpc>
                <a:spcPct val="115000"/>
              </a:lnSpc>
              <a:spcAft>
                <a:spcPts val="300"/>
              </a:spcAft>
            </a:pPr>
            <a:r>
              <a:rPr sz="2000" b="1">
                <a:solidFill>
                  <a:srgbClr val="172235"/>
                </a:solidFill>
                <a:latin typeface="Arial"/>
              </a:rPr>
              <a:t>Learn</a:t>
            </a:r>
          </a:p>
        </p:txBody>
      </p:sp>
      <p:sp>
        <p:nvSpPr>
          <p:cNvPr id="162" name="TextBox 161"/>
          <p:cNvSpPr txBox="1"/>
          <p:nvPr/>
        </p:nvSpPr>
        <p:spPr>
          <a:xfrm>
            <a:off x="11128248" y="2852928"/>
            <a:ext cx="2615184" cy="1810512"/>
          </a:xfrm>
          <a:prstGeom prst="rect">
            <a:avLst/>
          </a:prstGeom>
          <a:noFill/>
        </p:spPr>
        <p:txBody>
          <a:bodyPr wrap="square" anchor="t" lIns="27432" rIns="27432" tIns="27432" bIns="27432">
            <a:spAutoFit/>
          </a:bodyPr>
          <a:lstStyle/>
          <a:p>
            <a:pPr algn="l">
              <a:lnSpc>
                <a:spcPct val="115000"/>
              </a:lnSpc>
              <a:spcAft>
                <a:spcPts val="240"/>
              </a:spcAft>
            </a:pPr>
            <a:r>
              <a:rPr sz="1600" b="0">
                <a:solidFill>
                  <a:srgbClr val="22282E"/>
                </a:solidFill>
                <a:latin typeface="Arial"/>
              </a:rPr>
              <a:t>Benchmark &amp; Đo lỗi</a:t>
            </a:r>
          </a:p>
        </p:txBody>
      </p:sp>
      <p:sp>
        <p:nvSpPr>
          <p:cNvPr id="163" name="Rounded Rectangle 162"/>
          <p:cNvSpPr/>
          <p:nvPr/>
        </p:nvSpPr>
        <p:spPr>
          <a:xfrm>
            <a:off x="14154911" y="2103120"/>
            <a:ext cx="3017520" cy="269748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4356080" y="2304288"/>
            <a:ext cx="2615184" cy="548640"/>
          </a:xfrm>
          <a:prstGeom prst="rect">
            <a:avLst/>
          </a:prstGeom>
          <a:noFill/>
        </p:spPr>
        <p:txBody>
          <a:bodyPr wrap="square" anchor="t" lIns="27432" rIns="27432" tIns="27432" bIns="27432">
            <a:spAutoFit/>
          </a:bodyPr>
          <a:lstStyle/>
          <a:p>
            <a:pPr algn="l">
              <a:lnSpc>
                <a:spcPct val="115000"/>
              </a:lnSpc>
              <a:spcAft>
                <a:spcPts val="300"/>
              </a:spcAft>
            </a:pPr>
            <a:r>
              <a:rPr sz="2000" b="1">
                <a:solidFill>
                  <a:srgbClr val="172235"/>
                </a:solidFill>
                <a:latin typeface="Arial"/>
              </a:rPr>
              <a:t>Enable</a:t>
            </a:r>
          </a:p>
        </p:txBody>
      </p:sp>
      <p:sp>
        <p:nvSpPr>
          <p:cNvPr id="165" name="TextBox 164"/>
          <p:cNvSpPr txBox="1"/>
          <p:nvPr/>
        </p:nvSpPr>
        <p:spPr>
          <a:xfrm>
            <a:off x="14356080" y="2852928"/>
            <a:ext cx="2615184" cy="1810512"/>
          </a:xfrm>
          <a:prstGeom prst="rect">
            <a:avLst/>
          </a:prstGeom>
          <a:noFill/>
        </p:spPr>
        <p:txBody>
          <a:bodyPr wrap="square" anchor="t" lIns="27432" rIns="27432" tIns="27432" bIns="27432">
            <a:spAutoFit/>
          </a:bodyPr>
          <a:lstStyle/>
          <a:p>
            <a:pPr algn="l">
              <a:lnSpc>
                <a:spcPct val="115000"/>
              </a:lnSpc>
              <a:spcAft>
                <a:spcPts val="240"/>
              </a:spcAft>
            </a:pPr>
            <a:r>
              <a:rPr sz="1600" b="0">
                <a:solidFill>
                  <a:srgbClr val="22282E"/>
                </a:solidFill>
                <a:latin typeface="Arial"/>
              </a:rPr>
              <a:t>Thử nghiệm UAT</a:t>
            </a:r>
          </a:p>
        </p:txBody>
      </p:sp>
      <p:sp>
        <p:nvSpPr>
          <p:cNvPr id="166" name="Rounded Rectangle 165"/>
          <p:cNvSpPr/>
          <p:nvPr/>
        </p:nvSpPr>
        <p:spPr>
          <a:xfrm>
            <a:off x="1243584" y="5212080"/>
            <a:ext cx="7726679" cy="3090672"/>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444752" y="5413248"/>
            <a:ext cx="7324344"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Nhu cầu khách hàng là điểm xuất phát</a:t>
            </a:r>
          </a:p>
        </p:txBody>
      </p:sp>
      <p:sp>
        <p:nvSpPr>
          <p:cNvPr id="168" name="TextBox 167"/>
          <p:cNvSpPr txBox="1"/>
          <p:nvPr/>
        </p:nvSpPr>
        <p:spPr>
          <a:xfrm>
            <a:off x="1444752" y="5961888"/>
            <a:ext cx="7324344" cy="2203704"/>
          </a:xfrm>
          <a:prstGeom prst="rect">
            <a:avLst/>
          </a:prstGeom>
          <a:noFill/>
        </p:spPr>
        <p:txBody>
          <a:bodyPr wrap="square" anchor="t" lIns="27432" rIns="27432" tIns="27432" bIns="27432">
            <a:spAutoFit/>
          </a:bodyPr>
          <a:lstStyle/>
          <a:p>
            <a:pPr algn="l">
              <a:lnSpc>
                <a:spcPct val="115000"/>
              </a:lnSpc>
              <a:spcAft>
                <a:spcPts val="270"/>
              </a:spcAft>
            </a:pPr>
            <a:r>
              <a:rPr sz="1800" b="0">
                <a:solidFill>
                  <a:srgbClr val="22282E"/>
                </a:solidFill>
                <a:latin typeface="Arial"/>
              </a:rPr>
              <a:t>Đối chiếu biểu mẫu với BA để phân biệt rõ: trường nào OCR đọc từ PDF, trường nào người dùng nhập, trường nào hệ thống tự điền mặc định.</a:t>
            </a:r>
          </a:p>
        </p:txBody>
      </p:sp>
      <p:sp>
        <p:nvSpPr>
          <p:cNvPr id="169" name="Rounded Rectangle 168"/>
          <p:cNvSpPr/>
          <p:nvPr/>
        </p:nvSpPr>
        <p:spPr>
          <a:xfrm>
            <a:off x="9235440" y="5212080"/>
            <a:ext cx="7927848" cy="3090672"/>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9436608" y="5413248"/>
            <a:ext cx="7525512"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Tối ưu dựa trên dữ liệu &amp; bằng chứng</a:t>
            </a:r>
          </a:p>
        </p:txBody>
      </p:sp>
      <p:sp>
        <p:nvSpPr>
          <p:cNvPr id="171" name="TextBox 170"/>
          <p:cNvSpPr txBox="1"/>
          <p:nvPr/>
        </p:nvSpPr>
        <p:spPr>
          <a:xfrm>
            <a:off x="9436608" y="5961888"/>
            <a:ext cx="7525512" cy="2203704"/>
          </a:xfrm>
          <a:prstGeom prst="rect">
            <a:avLst/>
          </a:prstGeom>
          <a:noFill/>
        </p:spPr>
        <p:txBody>
          <a:bodyPr wrap="square" anchor="t" lIns="27432" rIns="27432" tIns="27432" bIns="27432">
            <a:spAutoFit/>
          </a:bodyPr>
          <a:lstStyle/>
          <a:p>
            <a:pPr algn="l">
              <a:lnSpc>
                <a:spcPct val="115000"/>
              </a:lnSpc>
              <a:spcAft>
                <a:spcPts val="270"/>
              </a:spcAft>
            </a:pPr>
            <a:r>
              <a:rPr sz="1800" b="0">
                <a:solidFill>
                  <a:srgbClr val="22282E"/>
                </a:solidFill>
                <a:latin typeface="Arial"/>
              </a:rPr>
              <a:t>Mọi điều chỉnh thuật toán phải dựa trên Ground Truth (GT), benchmark định lượng, trace vị trí và regression test; không sửa luật theo cảm tính.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Phạm vi dữ liệu thực tế — 100 văn bản hành chính</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full inference manifest.json + predictions.jsonl · 100 PDF benchmark</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04</a:t>
            </a:r>
          </a:p>
        </p:txBody>
      </p:sp>
      <p:sp>
        <p:nvSpPr>
          <p:cNvPr id="149" name="Rounded Rectangle 148"/>
          <p:cNvSpPr/>
          <p:nvPr/>
        </p:nvSpPr>
        <p:spPr>
          <a:xfrm>
            <a:off x="1243584" y="1280160"/>
            <a:ext cx="2304288"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212848"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02 · DỮ LIỆU</a:t>
            </a:r>
          </a:p>
        </p:txBody>
      </p:sp>
      <p:sp>
        <p:nvSpPr>
          <p:cNvPr id="151" name="Rounded Rectangle 150"/>
          <p:cNvSpPr/>
          <p:nvPr/>
        </p:nvSpPr>
        <p:spPr>
          <a:xfrm>
            <a:off x="1243584" y="1847088"/>
            <a:ext cx="3776472" cy="306324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444752" y="1993392"/>
            <a:ext cx="3374136"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EE0033"/>
                </a:solidFill>
                <a:latin typeface="Arial"/>
              </a:rPr>
              <a:t>100</a:t>
            </a:r>
          </a:p>
        </p:txBody>
      </p:sp>
      <p:sp>
        <p:nvSpPr>
          <p:cNvPr id="153" name="TextBox 152"/>
          <p:cNvSpPr txBox="1"/>
          <p:nvPr/>
        </p:nvSpPr>
        <p:spPr>
          <a:xfrm>
            <a:off x="1444752" y="2596896"/>
            <a:ext cx="3374136" cy="548640"/>
          </a:xfrm>
          <a:prstGeom prst="rect">
            <a:avLst/>
          </a:prstGeom>
          <a:noFill/>
        </p:spPr>
        <p:txBody>
          <a:bodyPr wrap="square" anchor="t" lIns="27432" rIns="27432" tIns="27432" bIns="27432">
            <a:spAutoFit/>
          </a:bodyPr>
          <a:lstStyle/>
          <a:p>
            <a:pPr algn="l">
              <a:lnSpc>
                <a:spcPct val="115000"/>
              </a:lnSpc>
              <a:spcAft>
                <a:spcPts val="300"/>
              </a:spcAft>
            </a:pPr>
            <a:r>
              <a:rPr sz="2000" b="1">
                <a:solidFill>
                  <a:srgbClr val="172235"/>
                </a:solidFill>
                <a:latin typeface="Arial"/>
              </a:rPr>
              <a:t>văn bản</a:t>
            </a:r>
          </a:p>
        </p:txBody>
      </p:sp>
      <p:sp>
        <p:nvSpPr>
          <p:cNvPr id="154" name="TextBox 153"/>
          <p:cNvSpPr txBox="1"/>
          <p:nvPr/>
        </p:nvSpPr>
        <p:spPr>
          <a:xfrm>
            <a:off x="1444752" y="3145536"/>
            <a:ext cx="3374136" cy="1627632"/>
          </a:xfrm>
          <a:prstGeom prst="rect">
            <a:avLst/>
          </a:prstGeom>
          <a:noFill/>
        </p:spPr>
        <p:txBody>
          <a:bodyPr wrap="square" anchor="t" lIns="27432" rIns="27432" tIns="27432" bIns="27432">
            <a:spAutoFit/>
          </a:bodyPr>
          <a:lstStyle/>
          <a:p>
            <a:pPr algn="l">
              <a:lnSpc>
                <a:spcPct val="115000"/>
              </a:lnSpc>
              <a:spcAft>
                <a:spcPts val="240"/>
              </a:spcAft>
            </a:pPr>
            <a:r>
              <a:rPr sz="1600" b="0">
                <a:solidFill>
                  <a:srgbClr val="22282E"/>
                </a:solidFill>
                <a:latin typeface="Arial"/>
              </a:rPr>
              <a:t>Có Ground Truth (GT) chuẩn hóa</a:t>
            </a:r>
          </a:p>
        </p:txBody>
      </p:sp>
      <p:sp>
        <p:nvSpPr>
          <p:cNvPr id="155" name="Rounded Rectangle 154"/>
          <p:cNvSpPr/>
          <p:nvPr/>
        </p:nvSpPr>
        <p:spPr>
          <a:xfrm>
            <a:off x="5285232" y="1847088"/>
            <a:ext cx="3776472" cy="306324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5486400" y="1993392"/>
            <a:ext cx="3374136"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EE0033"/>
                </a:solidFill>
                <a:latin typeface="Arial"/>
              </a:rPr>
              <a:t>2.249</a:t>
            </a:r>
          </a:p>
        </p:txBody>
      </p:sp>
      <p:sp>
        <p:nvSpPr>
          <p:cNvPr id="157" name="TextBox 156"/>
          <p:cNvSpPr txBox="1"/>
          <p:nvPr/>
        </p:nvSpPr>
        <p:spPr>
          <a:xfrm>
            <a:off x="5486400" y="2596896"/>
            <a:ext cx="3374136" cy="548640"/>
          </a:xfrm>
          <a:prstGeom prst="rect">
            <a:avLst/>
          </a:prstGeom>
          <a:noFill/>
        </p:spPr>
        <p:txBody>
          <a:bodyPr wrap="square" anchor="t" lIns="27432" rIns="27432" tIns="27432" bIns="27432">
            <a:spAutoFit/>
          </a:bodyPr>
          <a:lstStyle/>
          <a:p>
            <a:pPr algn="l">
              <a:lnSpc>
                <a:spcPct val="115000"/>
              </a:lnSpc>
              <a:spcAft>
                <a:spcPts val="300"/>
              </a:spcAft>
            </a:pPr>
            <a:r>
              <a:rPr sz="2000" b="1">
                <a:solidFill>
                  <a:srgbClr val="172235"/>
                </a:solidFill>
                <a:latin typeface="Arial"/>
              </a:rPr>
              <a:t>trang PDF</a:t>
            </a:r>
          </a:p>
        </p:txBody>
      </p:sp>
      <p:sp>
        <p:nvSpPr>
          <p:cNvPr id="158" name="TextBox 157"/>
          <p:cNvSpPr txBox="1"/>
          <p:nvPr/>
        </p:nvSpPr>
        <p:spPr>
          <a:xfrm>
            <a:off x="5486400" y="3145536"/>
            <a:ext cx="3374136" cy="1627632"/>
          </a:xfrm>
          <a:prstGeom prst="rect">
            <a:avLst/>
          </a:prstGeom>
          <a:noFill/>
        </p:spPr>
        <p:txBody>
          <a:bodyPr wrap="square" anchor="t" lIns="27432" rIns="27432" tIns="27432" bIns="27432">
            <a:spAutoFit/>
          </a:bodyPr>
          <a:lstStyle/>
          <a:p>
            <a:pPr algn="l">
              <a:lnSpc>
                <a:spcPct val="115000"/>
              </a:lnSpc>
              <a:spcAft>
                <a:spcPts val="240"/>
              </a:spcAft>
            </a:pPr>
            <a:r>
              <a:rPr sz="1600" b="0">
                <a:solidFill>
                  <a:srgbClr val="22282E"/>
                </a:solidFill>
                <a:latin typeface="Arial"/>
              </a:rPr>
              <a:t>Độ dài từ 1 đến 353 trang / file</a:t>
            </a:r>
          </a:p>
        </p:txBody>
      </p:sp>
      <p:sp>
        <p:nvSpPr>
          <p:cNvPr id="159" name="Rounded Rectangle 158"/>
          <p:cNvSpPr/>
          <p:nvPr/>
        </p:nvSpPr>
        <p:spPr>
          <a:xfrm>
            <a:off x="9326880" y="1847088"/>
            <a:ext cx="3776472" cy="306324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9528048" y="1993392"/>
            <a:ext cx="3374136"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EE0033"/>
                </a:solidFill>
                <a:latin typeface="Arial"/>
              </a:rPr>
              <a:t>69</a:t>
            </a:r>
          </a:p>
        </p:txBody>
      </p:sp>
      <p:sp>
        <p:nvSpPr>
          <p:cNvPr id="161" name="TextBox 160"/>
          <p:cNvSpPr txBox="1"/>
          <p:nvPr/>
        </p:nvSpPr>
        <p:spPr>
          <a:xfrm>
            <a:off x="9528048" y="2596896"/>
            <a:ext cx="3374136" cy="548640"/>
          </a:xfrm>
          <a:prstGeom prst="rect">
            <a:avLst/>
          </a:prstGeom>
          <a:noFill/>
        </p:spPr>
        <p:txBody>
          <a:bodyPr wrap="square" anchor="t" lIns="27432" rIns="27432" tIns="27432" bIns="27432">
            <a:spAutoFit/>
          </a:bodyPr>
          <a:lstStyle/>
          <a:p>
            <a:pPr algn="l">
              <a:lnSpc>
                <a:spcPct val="115000"/>
              </a:lnSpc>
              <a:spcAft>
                <a:spcPts val="300"/>
              </a:spcAft>
            </a:pPr>
            <a:r>
              <a:rPr sz="2000" b="1">
                <a:solidFill>
                  <a:srgbClr val="172235"/>
                </a:solidFill>
                <a:latin typeface="Arial"/>
              </a:rPr>
              <a:t>bản Scan</a:t>
            </a:r>
          </a:p>
        </p:txBody>
      </p:sp>
      <p:sp>
        <p:nvSpPr>
          <p:cNvPr id="162" name="TextBox 161"/>
          <p:cNvSpPr txBox="1"/>
          <p:nvPr/>
        </p:nvSpPr>
        <p:spPr>
          <a:xfrm>
            <a:off x="9528048" y="3145536"/>
            <a:ext cx="3374136" cy="1627632"/>
          </a:xfrm>
          <a:prstGeom prst="rect">
            <a:avLst/>
          </a:prstGeom>
          <a:noFill/>
        </p:spPr>
        <p:txBody>
          <a:bodyPr wrap="square" anchor="t" lIns="27432" rIns="27432" tIns="27432" bIns="27432">
            <a:spAutoFit/>
          </a:bodyPr>
          <a:lstStyle/>
          <a:p>
            <a:pPr algn="l">
              <a:lnSpc>
                <a:spcPct val="115000"/>
              </a:lnSpc>
              <a:spcAft>
                <a:spcPts val="240"/>
              </a:spcAft>
            </a:pPr>
            <a:r>
              <a:rPr sz="1600" b="0">
                <a:solidFill>
                  <a:srgbClr val="22282E"/>
                </a:solidFill>
                <a:latin typeface="Arial"/>
              </a:rPr>
              <a:t>Chất lượng mờ, nghiêng, dấu đỏ</a:t>
            </a:r>
          </a:p>
        </p:txBody>
      </p:sp>
      <p:sp>
        <p:nvSpPr>
          <p:cNvPr id="163" name="Rounded Rectangle 162"/>
          <p:cNvSpPr/>
          <p:nvPr/>
        </p:nvSpPr>
        <p:spPr>
          <a:xfrm>
            <a:off x="13368528" y="1847088"/>
            <a:ext cx="3776472" cy="306324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3569696" y="1993392"/>
            <a:ext cx="3374136"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EE0033"/>
                </a:solidFill>
                <a:latin typeface="Arial"/>
              </a:rPr>
              <a:t>31</a:t>
            </a:r>
          </a:p>
        </p:txBody>
      </p:sp>
      <p:sp>
        <p:nvSpPr>
          <p:cNvPr id="165" name="TextBox 164"/>
          <p:cNvSpPr txBox="1"/>
          <p:nvPr/>
        </p:nvSpPr>
        <p:spPr>
          <a:xfrm>
            <a:off x="13569696" y="2596896"/>
            <a:ext cx="3374136" cy="548640"/>
          </a:xfrm>
          <a:prstGeom prst="rect">
            <a:avLst/>
          </a:prstGeom>
          <a:noFill/>
        </p:spPr>
        <p:txBody>
          <a:bodyPr wrap="square" anchor="t" lIns="27432" rIns="27432" tIns="27432" bIns="27432">
            <a:spAutoFit/>
          </a:bodyPr>
          <a:lstStyle/>
          <a:p>
            <a:pPr algn="l">
              <a:lnSpc>
                <a:spcPct val="115000"/>
              </a:lnSpc>
              <a:spcAft>
                <a:spcPts val="300"/>
              </a:spcAft>
            </a:pPr>
            <a:r>
              <a:rPr sz="2000" b="1">
                <a:solidFill>
                  <a:srgbClr val="172235"/>
                </a:solidFill>
                <a:latin typeface="Arial"/>
              </a:rPr>
              <a:t>Điện tử</a:t>
            </a:r>
          </a:p>
        </p:txBody>
      </p:sp>
      <p:sp>
        <p:nvSpPr>
          <p:cNvPr id="166" name="TextBox 165"/>
          <p:cNvSpPr txBox="1"/>
          <p:nvPr/>
        </p:nvSpPr>
        <p:spPr>
          <a:xfrm>
            <a:off x="13569696" y="3145536"/>
            <a:ext cx="3374136" cy="1627632"/>
          </a:xfrm>
          <a:prstGeom prst="rect">
            <a:avLst/>
          </a:prstGeom>
          <a:noFill/>
        </p:spPr>
        <p:txBody>
          <a:bodyPr wrap="square" anchor="t" lIns="27432" rIns="27432" tIns="27432" bIns="27432">
            <a:spAutoFit/>
          </a:bodyPr>
          <a:lstStyle/>
          <a:p>
            <a:pPr algn="l">
              <a:lnSpc>
                <a:spcPct val="115000"/>
              </a:lnSpc>
              <a:spcAft>
                <a:spcPts val="240"/>
              </a:spcAft>
            </a:pPr>
            <a:r>
              <a:rPr sz="1600" b="0">
                <a:solidFill>
                  <a:srgbClr val="22282E"/>
                </a:solidFill>
                <a:latin typeface="Arial"/>
              </a:rPr>
              <a:t>Bản in PDF digital rõ nét</a:t>
            </a:r>
          </a:p>
        </p:txBody>
      </p:sp>
      <p:sp>
        <p:nvSpPr>
          <p:cNvPr id="167" name="Rounded Rectangle 166"/>
          <p:cNvSpPr/>
          <p:nvPr/>
        </p:nvSpPr>
        <p:spPr>
          <a:xfrm>
            <a:off x="1243584" y="5349240"/>
            <a:ext cx="7726679" cy="3090672"/>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1444752" y="5550407"/>
            <a:ext cx="7324344"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Phân bổ thể loại văn bản</a:t>
            </a:r>
          </a:p>
        </p:txBody>
      </p:sp>
      <p:sp>
        <p:nvSpPr>
          <p:cNvPr id="169" name="TextBox 168"/>
          <p:cNvSpPr txBox="1"/>
          <p:nvPr/>
        </p:nvSpPr>
        <p:spPr>
          <a:xfrm>
            <a:off x="1444752" y="6099047"/>
            <a:ext cx="7324344" cy="2203704"/>
          </a:xfrm>
          <a:prstGeom prst="rect">
            <a:avLst/>
          </a:prstGeom>
          <a:noFill/>
        </p:spPr>
        <p:txBody>
          <a:bodyPr wrap="square" anchor="t" lIns="27432" rIns="27432" tIns="27432" bIns="27432">
            <a:spAutoFit/>
          </a:bodyPr>
          <a:lstStyle/>
          <a:p>
            <a:pPr algn="l">
              <a:lnSpc>
                <a:spcPct val="115000"/>
              </a:lnSpc>
              <a:spcAft>
                <a:spcPts val="270"/>
              </a:spcAft>
            </a:pPr>
            <a:r>
              <a:rPr sz="1800" b="0">
                <a:solidFill>
                  <a:srgbClr val="22282E"/>
                </a:solidFill>
                <a:latin typeface="Arial"/>
              </a:rPr>
              <a:t>Bao gồm Quyết định (30), Công văn (17), Nghị quyết, Thông báo, Thông tư, Kế hoạch, Báo cáo…</a:t>
            </a:r>
          </a:p>
          <a:p>
            <a:pPr algn="l">
              <a:lnSpc>
                <a:spcPct val="115000"/>
              </a:lnSpc>
              <a:spcAft>
                <a:spcPts val="270"/>
              </a:spcAft>
            </a:pPr>
            <a:r>
              <a:rPr sz="1800" b="0">
                <a:solidFill>
                  <a:srgbClr val="22282E"/>
                </a:solidFill>
                <a:latin typeface="Arial"/>
              </a:rPr>
              <a:t>Bố cục trang bìa, header và phần ký đa dạng.</a:t>
            </a:r>
          </a:p>
        </p:txBody>
      </p:sp>
      <p:sp>
        <p:nvSpPr>
          <p:cNvPr id="170" name="Rounded Rectangle 169"/>
          <p:cNvSpPr/>
          <p:nvPr/>
        </p:nvSpPr>
        <p:spPr>
          <a:xfrm>
            <a:off x="9235440" y="5349240"/>
            <a:ext cx="7927848" cy="3090672"/>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9436608" y="5550407"/>
            <a:ext cx="7525512"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Nguồn gốc &amp; Đặc điểm phức tạp</a:t>
            </a:r>
          </a:p>
        </p:txBody>
      </p:sp>
      <p:sp>
        <p:nvSpPr>
          <p:cNvPr id="172" name="TextBox 171"/>
          <p:cNvSpPr txBox="1"/>
          <p:nvPr/>
        </p:nvSpPr>
        <p:spPr>
          <a:xfrm>
            <a:off x="9436608" y="6099047"/>
            <a:ext cx="7525512" cy="2203704"/>
          </a:xfrm>
          <a:prstGeom prst="rect">
            <a:avLst/>
          </a:prstGeom>
          <a:noFill/>
        </p:spPr>
        <p:txBody>
          <a:bodyPr wrap="square" anchor="t" lIns="27432" rIns="27432" tIns="27432" bIns="27432">
            <a:spAutoFit/>
          </a:bodyPr>
          <a:lstStyle/>
          <a:p>
            <a:pPr algn="l">
              <a:lnSpc>
                <a:spcPct val="115000"/>
              </a:lnSpc>
              <a:spcAft>
                <a:spcPts val="270"/>
              </a:spcAft>
            </a:pPr>
            <a:r>
              <a:rPr sz="1800" b="0">
                <a:solidFill>
                  <a:srgbClr val="22282E"/>
                </a:solidFill>
                <a:latin typeface="Arial"/>
              </a:rPr>
              <a:t>Cơ quan Chính phủ, Bộ/Ngành, UBND các tỉnh, Sở Giao dịch Chứng khoán, Doanh nghiệp…</a:t>
            </a:r>
          </a:p>
          <a:p>
            <a:pPr algn="l">
              <a:lnSpc>
                <a:spcPct val="115000"/>
              </a:lnSpc>
              <a:spcAft>
                <a:spcPts val="270"/>
              </a:spcAft>
            </a:pPr>
            <a:r>
              <a:rPr sz="1800" b="0">
                <a:solidFill>
                  <a:srgbClr val="22282E"/>
                </a:solidFill>
                <a:latin typeface="Arial"/>
              </a:rPr>
              <a:t>Chứa nhiều yếu tố gây nhiễu: con dấu đỏ đè chữ, chữ ký tươi, chữ viết tay.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Định nghĩa đầu ra &amp; 2 chỉ số bao quát</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docs/ocr_pipeline_benchmark_metrics.md · §1, §5</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05</a:t>
            </a:r>
          </a:p>
        </p:txBody>
      </p:sp>
      <p:sp>
        <p:nvSpPr>
          <p:cNvPr id="149" name="Rounded Rectangle 148"/>
          <p:cNvSpPr/>
          <p:nvPr/>
        </p:nvSpPr>
        <p:spPr>
          <a:xfrm>
            <a:off x="1243584" y="1280160"/>
            <a:ext cx="2404872"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313432"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02 · TIÊU CHÍ</a:t>
            </a:r>
          </a:p>
        </p:txBody>
      </p:sp>
      <p:sp>
        <p:nvSpPr>
          <p:cNvPr id="151" name="Rounded Rectangle 150"/>
          <p:cNvSpPr/>
          <p:nvPr/>
        </p:nvSpPr>
        <p:spPr>
          <a:xfrm>
            <a:off x="1243584" y="1856231"/>
            <a:ext cx="7726679" cy="5175504"/>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444752" y="2057400"/>
            <a:ext cx="7324344"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7 trường Bắt buộc &amp; 5 trường Tùy chọn</a:t>
            </a:r>
          </a:p>
        </p:txBody>
      </p:sp>
      <p:sp>
        <p:nvSpPr>
          <p:cNvPr id="153" name="TextBox 152"/>
          <p:cNvSpPr txBox="1"/>
          <p:nvPr/>
        </p:nvSpPr>
        <p:spPr>
          <a:xfrm>
            <a:off x="1444752" y="2606040"/>
            <a:ext cx="7324344" cy="4288536"/>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 7 trường Bắt buộc (Required):</a:t>
            </a:r>
          </a:p>
          <a:p>
            <a:pPr algn="l">
              <a:lnSpc>
                <a:spcPct val="115000"/>
              </a:lnSpc>
              <a:spcAft>
                <a:spcPts val="254"/>
              </a:spcAft>
            </a:pPr>
            <a:r>
              <a:rPr sz="1700" b="0">
                <a:solidFill>
                  <a:srgbClr val="22282E"/>
                </a:solidFill>
                <a:latin typeface="Arial"/>
              </a:rPr>
              <a:t>type · title · code · documentDate · officeSender · priority_level · security_level</a:t>
            </a:r>
          </a:p>
          <a:p>
            <a:pPr algn="l">
              <a:lnSpc>
                <a:spcPct val="115000"/>
              </a:lnSpc>
              <a:spcAft>
                <a:spcPts val="254"/>
              </a:spcAft>
            </a:pPr>
          </a:p>
          <a:p>
            <a:pPr algn="l">
              <a:lnSpc>
                <a:spcPct val="115000"/>
              </a:lnSpc>
              <a:spcAft>
                <a:spcPts val="254"/>
              </a:spcAft>
            </a:pPr>
            <a:r>
              <a:rPr sz="1700" b="0">
                <a:solidFill>
                  <a:srgbClr val="22282E"/>
                </a:solidFill>
                <a:latin typeface="Arial"/>
              </a:rPr>
              <a:t>• 5 trường Tùy chọn (Optional) được chấm:</a:t>
            </a:r>
          </a:p>
          <a:p>
            <a:pPr algn="l">
              <a:lnSpc>
                <a:spcPct val="115000"/>
              </a:lnSpc>
              <a:spcAft>
                <a:spcPts val="254"/>
              </a:spcAft>
            </a:pPr>
            <a:r>
              <a:rPr sz="1700" b="0">
                <a:solidFill>
                  <a:srgbClr val="22282E"/>
                </a:solidFill>
                <a:latin typeface="Arial"/>
              </a:rPr>
              <a:t>recipients · signer · first_recipients · signer_title · province</a:t>
            </a:r>
          </a:p>
          <a:p>
            <a:pPr algn="l">
              <a:lnSpc>
                <a:spcPct val="115000"/>
              </a:lnSpc>
              <a:spcAft>
                <a:spcPts val="254"/>
              </a:spcAft>
            </a:pPr>
          </a:p>
          <a:p>
            <a:pPr algn="l">
              <a:lnSpc>
                <a:spcPct val="115000"/>
              </a:lnSpc>
              <a:spcAft>
                <a:spcPts val="254"/>
              </a:spcAft>
            </a:pPr>
            <a:r>
              <a:rPr sz="1700" b="0">
                <a:solidFill>
                  <a:srgbClr val="22282E"/>
                </a:solidFill>
                <a:latin typeface="Arial"/>
              </a:rPr>
              <a:t>• 1 trường Ngoài phạm vi (Out of scope):</a:t>
            </a:r>
          </a:p>
          <a:p>
            <a:pPr algn="l">
              <a:lnSpc>
                <a:spcPct val="115000"/>
              </a:lnSpc>
              <a:spcAft>
                <a:spcPts val="254"/>
              </a:spcAft>
            </a:pPr>
            <a:r>
              <a:rPr sz="1700" b="0">
                <a:solidFill>
                  <a:srgbClr val="22282E"/>
                </a:solidFill>
                <a:latin typeface="Arial"/>
              </a:rPr>
              <a:t>receiverDate (luôn trả "" để giữ ổn định API schema).</a:t>
            </a:r>
          </a:p>
        </p:txBody>
      </p:sp>
      <p:sp>
        <p:nvSpPr>
          <p:cNvPr id="154" name="Rounded Rectangle 153"/>
          <p:cNvSpPr/>
          <p:nvPr/>
        </p:nvSpPr>
        <p:spPr>
          <a:xfrm>
            <a:off x="9235440" y="1856231"/>
            <a:ext cx="7927848" cy="5175504"/>
          </a:xfrm>
          <a:prstGeom prst="roundRect">
            <a:avLst/>
          </a:prstGeom>
          <a:solidFill>
            <a:srgbClr val="FDF2F3"/>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436608" y="2057400"/>
            <a:ext cx="7525512"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Hai chỉ số đánh giá bao quát</a:t>
            </a:r>
          </a:p>
        </p:txBody>
      </p:sp>
      <p:sp>
        <p:nvSpPr>
          <p:cNvPr id="156" name="TextBox 155"/>
          <p:cNvSpPr txBox="1"/>
          <p:nvPr/>
        </p:nvSpPr>
        <p:spPr>
          <a:xfrm>
            <a:off x="9436608" y="2606040"/>
            <a:ext cx="7525512" cy="4288536"/>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 Document Success@5% (Chỉ số mục tiêu chính):</a:t>
            </a:r>
          </a:p>
          <a:p>
            <a:pPr algn="l">
              <a:lnSpc>
                <a:spcPct val="115000"/>
              </a:lnSpc>
              <a:spcAft>
                <a:spcPts val="254"/>
              </a:spcAft>
            </a:pPr>
            <a:r>
              <a:rPr sz="1700" b="0">
                <a:solidFill>
                  <a:srgbClr val="22282E"/>
                </a:solidFill>
                <a:latin typeface="Arial"/>
              </a:rPr>
              <a:t>Văn bản chỉ đạt khi TẤT CẢ 7 trường bắt buộc có trong GT đều đúng (NCER ≤ 5%). Một trường sai → toàn bộ văn bản FAIL.</a:t>
            </a:r>
          </a:p>
          <a:p>
            <a:pPr algn="l">
              <a:lnSpc>
                <a:spcPct val="115000"/>
              </a:lnSpc>
              <a:spcAft>
                <a:spcPts val="254"/>
              </a:spcAft>
            </a:pPr>
          </a:p>
          <a:p>
            <a:pPr algn="l">
              <a:lnSpc>
                <a:spcPct val="115000"/>
              </a:lnSpc>
              <a:spcAft>
                <a:spcPts val="254"/>
              </a:spcAft>
            </a:pPr>
            <a:r>
              <a:rPr sz="1700" b="0">
                <a:solidFill>
                  <a:srgbClr val="22282E"/>
                </a:solidFill>
                <a:latin typeface="Arial"/>
              </a:rPr>
              <a:t>📊 VAI-style Accuracy (Chỉ số tham chiếu đối chuẩn):</a:t>
            </a:r>
          </a:p>
          <a:p>
            <a:pPr algn="l">
              <a:lnSpc>
                <a:spcPct val="115000"/>
              </a:lnSpc>
              <a:spcAft>
                <a:spcPts val="254"/>
              </a:spcAft>
            </a:pPr>
            <a:r>
              <a:rPr sz="1700" b="0">
                <a:solidFill>
                  <a:srgbClr val="22282E"/>
                </a:solidFill>
                <a:latin typeface="Arial"/>
              </a:rPr>
              <a:t>Đo độ chính xác ký tự trung bình trên toàn bộ các trường theo chuẩn thương mại của Viettel AI.</a:t>
            </a:r>
          </a:p>
        </p:txBody>
      </p:sp>
      <p:sp>
        <p:nvSpPr>
          <p:cNvPr id="157" name="Rounded Rectangle 156"/>
          <p:cNvSpPr/>
          <p:nvPr/>
        </p:nvSpPr>
        <p:spPr>
          <a:xfrm>
            <a:off x="1243584" y="7333488"/>
            <a:ext cx="15910559" cy="749808"/>
          </a:xfrm>
          <a:prstGeom prst="roundRect">
            <a:avLst/>
          </a:prstGeom>
          <a:solidFill>
            <a:srgbClr val="FDF2F3"/>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463040" y="7443215"/>
            <a:ext cx="15453359" cy="530352"/>
          </a:xfrm>
          <a:prstGeom prst="rect">
            <a:avLst/>
          </a:prstGeom>
          <a:noFill/>
        </p:spPr>
        <p:txBody>
          <a:bodyPr wrap="square" anchor="t" lIns="27432" rIns="27432" tIns="27432" bIns="27432">
            <a:spAutoFit/>
          </a:bodyPr>
          <a:lstStyle/>
          <a:p>
            <a:pPr algn="l">
              <a:lnSpc>
                <a:spcPct val="115000"/>
              </a:lnSpc>
              <a:spcAft>
                <a:spcPts val="300"/>
              </a:spcAft>
            </a:pPr>
            <a:r>
              <a:rPr sz="2000" b="1">
                <a:solidFill>
                  <a:srgbClr val="172235"/>
                </a:solidFill>
                <a:latin typeface="Arial"/>
              </a:rPr>
              <a:t>Target cam kết: F1/Precision/Recall ≥ 85%; Tỷ lệ khớp tuyệt đối NEM ≥ 75%.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Danh mục 13 trường API &amp; Tiêu chí đánh giá</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docs/ocr_pipeline_benchmark_metrics.md · §1, §5</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06</a:t>
            </a:r>
          </a:p>
        </p:txBody>
      </p:sp>
      <p:sp>
        <p:nvSpPr>
          <p:cNvPr id="149" name="Rounded Rectangle 148"/>
          <p:cNvSpPr/>
          <p:nvPr/>
        </p:nvSpPr>
        <p:spPr>
          <a:xfrm>
            <a:off x="1243584" y="1280160"/>
            <a:ext cx="2404872"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313432"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02 · TIÊU CHÍ</a:t>
            </a:r>
          </a:p>
        </p:txBody>
      </p:sp>
      <p:graphicFrame>
        <p:nvGraphicFramePr>
          <p:cNvPr id="151" name="Table 150"/>
          <p:cNvGraphicFramePr>
            <a:graphicFrameLocks noGrp="1"/>
          </p:cNvGraphicFramePr>
          <p:nvPr/>
        </p:nvGraphicFramePr>
        <p:xfrm>
          <a:off x="1243584" y="1874519"/>
          <a:ext cx="15910560" cy="7132320"/>
        </p:xfrm>
        <a:graphic>
          <a:graphicData uri="http://schemas.openxmlformats.org/drawingml/2006/table">
            <a:tbl>
              <a:tblPr firstRow="1" bandRow="1">
                <a:tableStyleId>{5C22544A-7EE6-4342-B048-85BDC9FD1C3A}</a:tableStyleId>
              </a:tblPr>
              <a:tblGrid>
                <a:gridCol w="3291840"/>
                <a:gridCol w="2011680"/>
                <a:gridCol w="2011680"/>
                <a:gridCol w="4754880"/>
                <a:gridCol w="3840480"/>
              </a:tblGrid>
              <a:tr h="509451">
                <a:tc>
                  <a:txBody>
                    <a:bodyPr/>
                    <a:lstStyle/>
                    <a:p>
                      <a:pPr algn="l"/>
                      <a:r>
                        <a:rPr sz="1200" b="1">
                          <a:solidFill>
                            <a:srgbClr val="FFFFFF"/>
                          </a:solidFill>
                          <a:latin typeface="Arial"/>
                        </a:rPr>
                        <a:t>Tên trường (Tiếng Việt)</a:t>
                      </a:r>
                    </a:p>
                  </a:txBody>
                  <a:tcPr anchor="ctr" marL="82296" marR="82296" marT="36576" marB="36576">
                    <a:solidFill>
                      <a:srgbClr val="172235"/>
                    </a:solidFill>
                  </a:tcPr>
                </a:tc>
                <a:tc>
                  <a:txBody>
                    <a:bodyPr/>
                    <a:lstStyle/>
                    <a:p>
                      <a:pPr algn="l"/>
                      <a:r>
                        <a:rPr sz="1200" b="1">
                          <a:solidFill>
                            <a:srgbClr val="FFFFFF"/>
                          </a:solidFill>
                          <a:latin typeface="Arial"/>
                        </a:rPr>
                        <a:t>Key API</a:t>
                      </a:r>
                    </a:p>
                  </a:txBody>
                  <a:tcPr anchor="ctr" marL="82296" marR="82296" marT="36576" marB="36576">
                    <a:solidFill>
                      <a:srgbClr val="172235"/>
                    </a:solidFill>
                  </a:tcPr>
                </a:tc>
                <a:tc>
                  <a:txBody>
                    <a:bodyPr/>
                    <a:lstStyle/>
                    <a:p>
                      <a:pPr algn="l"/>
                      <a:r>
                        <a:rPr sz="1200" b="1">
                          <a:solidFill>
                            <a:srgbClr val="FFFFFF"/>
                          </a:solidFill>
                          <a:latin typeface="Arial"/>
                        </a:rPr>
                        <a:t>Nhóm trường</a:t>
                      </a:r>
                    </a:p>
                  </a:txBody>
                  <a:tcPr anchor="ctr" marL="82296" marR="82296" marT="36576" marB="36576">
                    <a:solidFill>
                      <a:srgbClr val="172235"/>
                    </a:solidFill>
                  </a:tcPr>
                </a:tc>
                <a:tc>
                  <a:txBody>
                    <a:bodyPr/>
                    <a:lstStyle/>
                    <a:p>
                      <a:pPr algn="l"/>
                      <a:r>
                        <a:rPr sz="1200" b="1">
                          <a:solidFill>
                            <a:srgbClr val="FFFFFF"/>
                          </a:solidFill>
                          <a:latin typeface="Arial"/>
                        </a:rPr>
                        <a:t>Metric đánh giá chính</a:t>
                      </a:r>
                    </a:p>
                  </a:txBody>
                  <a:tcPr anchor="ctr" marL="82296" marR="82296" marT="36576" marB="36576">
                    <a:solidFill>
                      <a:srgbClr val="172235"/>
                    </a:solidFill>
                  </a:tcPr>
                </a:tc>
                <a:tc>
                  <a:txBody>
                    <a:bodyPr/>
                    <a:lstStyle/>
                    <a:p>
                      <a:pPr algn="l"/>
                      <a:r>
                        <a:rPr sz="1200" b="1">
                          <a:solidFill>
                            <a:srgbClr val="FFFFFF"/>
                          </a:solidFill>
                          <a:latin typeface="Arial"/>
                        </a:rPr>
                        <a:t>Target đánh giá</a:t>
                      </a:r>
                    </a:p>
                  </a:txBody>
                  <a:tcPr anchor="ctr" marL="82296" marR="82296" marT="36576" marB="36576">
                    <a:solidFill>
                      <a:srgbClr val="172235"/>
                    </a:solidFill>
                  </a:tcPr>
                </a:tc>
              </a:tr>
              <a:tr h="509451">
                <a:tc>
                  <a:txBody>
                    <a:bodyPr/>
                    <a:lstStyle/>
                    <a:p>
                      <a:pPr algn="l"/>
                      <a:r>
                        <a:rPr sz="1100" b="1">
                          <a:solidFill>
                            <a:srgbClr val="EE0033"/>
                          </a:solidFill>
                          <a:latin typeface="Arial"/>
                        </a:rPr>
                        <a:t>Loại văn bản</a:t>
                      </a:r>
                    </a:p>
                  </a:txBody>
                  <a:tcPr anchor="ctr" marL="82296" marR="82296" marT="27432" marB="27432">
                    <a:solidFill>
                      <a:srgbClr val="FFFFFF"/>
                    </a:solidFill>
                  </a:tcPr>
                </a:tc>
                <a:tc>
                  <a:txBody>
                    <a:bodyPr/>
                    <a:lstStyle/>
                    <a:p>
                      <a:pPr algn="l"/>
                      <a:r>
                        <a:rPr sz="1050">
                          <a:solidFill>
                            <a:srgbClr val="22282E"/>
                          </a:solidFill>
                          <a:latin typeface="Consolas"/>
                        </a:rPr>
                        <a:t>type</a:t>
                      </a:r>
                    </a:p>
                  </a:txBody>
                  <a:tcPr anchor="ctr" marL="82296" marR="82296" marT="27432" marB="27432">
                    <a:solidFill>
                      <a:srgbClr val="FFFFFF"/>
                    </a:solidFill>
                  </a:tcPr>
                </a:tc>
                <a:tc>
                  <a:txBody>
                    <a:bodyPr/>
                    <a:lstStyle/>
                    <a:p>
                      <a:pPr algn="l"/>
                      <a:r>
                        <a:rPr sz="1100">
                          <a:solidFill>
                            <a:srgbClr val="22282E"/>
                          </a:solidFill>
                          <a:latin typeface="Arial"/>
                        </a:rPr>
                        <a:t>Bắt buộc</a:t>
                      </a:r>
                    </a:p>
                  </a:txBody>
                  <a:tcPr anchor="ctr" marL="82296" marR="82296" marT="27432" marB="27432">
                    <a:solidFill>
                      <a:srgbClr val="FFFFFF"/>
                    </a:solidFill>
                  </a:tcPr>
                </a:tc>
                <a:tc>
                  <a:txBody>
                    <a:bodyPr/>
                    <a:lstStyle/>
                    <a:p>
                      <a:pPr algn="l"/>
                      <a:r>
                        <a:rPr sz="1100">
                          <a:solidFill>
                            <a:srgbClr val="22282E"/>
                          </a:solidFill>
                          <a:latin typeface="Arial"/>
                        </a:rPr>
                        <a:t>Độ chính xác tuyệt đối (F1 Exact)</a:t>
                      </a:r>
                    </a:p>
                  </a:txBody>
                  <a:tcPr anchor="ctr" marL="82296" marR="82296" marT="27432" marB="27432">
                    <a:solidFill>
                      <a:srgbClr val="FFFFFF"/>
                    </a:solidFill>
                  </a:tcPr>
                </a:tc>
                <a:tc>
                  <a:txBody>
                    <a:bodyPr/>
                    <a:lstStyle/>
                    <a:p>
                      <a:pPr algn="l"/>
                      <a:r>
                        <a:rPr sz="1100">
                          <a:solidFill>
                            <a:srgbClr val="22282E"/>
                          </a:solidFill>
                          <a:latin typeface="Arial"/>
                        </a:rPr>
                        <a:t>F1 ≥ 85%, NEM ≥ 75%</a:t>
                      </a:r>
                    </a:p>
                  </a:txBody>
                  <a:tcPr anchor="ctr" marL="82296" marR="82296" marT="27432" marB="27432">
                    <a:solidFill>
                      <a:srgbClr val="FFFFFF"/>
                    </a:solidFill>
                  </a:tcPr>
                </a:tc>
              </a:tr>
              <a:tr h="509451">
                <a:tc>
                  <a:txBody>
                    <a:bodyPr/>
                    <a:lstStyle/>
                    <a:p>
                      <a:pPr algn="l"/>
                      <a:r>
                        <a:rPr sz="1100" b="1">
                          <a:solidFill>
                            <a:srgbClr val="EE0033"/>
                          </a:solidFill>
                          <a:latin typeface="Arial"/>
                        </a:rPr>
                        <a:t>Trích yếu / Tiêu đề</a:t>
                      </a:r>
                    </a:p>
                  </a:txBody>
                  <a:tcPr anchor="ctr" marL="82296" marR="82296" marT="27432" marB="27432">
                    <a:solidFill>
                      <a:srgbClr val="F8FAFC"/>
                    </a:solidFill>
                  </a:tcPr>
                </a:tc>
                <a:tc>
                  <a:txBody>
                    <a:bodyPr/>
                    <a:lstStyle/>
                    <a:p>
                      <a:pPr algn="l"/>
                      <a:r>
                        <a:rPr sz="1050">
                          <a:solidFill>
                            <a:srgbClr val="22282E"/>
                          </a:solidFill>
                          <a:latin typeface="Consolas"/>
                        </a:rPr>
                        <a:t>title</a:t>
                      </a:r>
                    </a:p>
                  </a:txBody>
                  <a:tcPr anchor="ctr" marL="82296" marR="82296" marT="27432" marB="27432">
                    <a:solidFill>
                      <a:srgbClr val="F8FAFC"/>
                    </a:solidFill>
                  </a:tcPr>
                </a:tc>
                <a:tc>
                  <a:txBody>
                    <a:bodyPr/>
                    <a:lstStyle/>
                    <a:p>
                      <a:pPr algn="l"/>
                      <a:r>
                        <a:rPr sz="1100">
                          <a:solidFill>
                            <a:srgbClr val="22282E"/>
                          </a:solidFill>
                          <a:latin typeface="Arial"/>
                        </a:rPr>
                        <a:t>Bắt buộc</a:t>
                      </a:r>
                    </a:p>
                  </a:txBody>
                  <a:tcPr anchor="ctr" marL="82296" marR="82296" marT="27432" marB="27432">
                    <a:solidFill>
                      <a:srgbClr val="F8FAFC"/>
                    </a:solidFill>
                  </a:tcPr>
                </a:tc>
                <a:tc>
                  <a:txBody>
                    <a:bodyPr/>
                    <a:lstStyle/>
                    <a:p>
                      <a:pPr algn="l"/>
                      <a:r>
                        <a:rPr sz="1100">
                          <a:solidFill>
                            <a:srgbClr val="22282E"/>
                          </a:solidFill>
                          <a:latin typeface="Arial"/>
                        </a:rPr>
                        <a:t>Độ chính xác xấp xỉ (F1@5%, sai ≤ 5/100 ký tự)</a:t>
                      </a:r>
                    </a:p>
                  </a:txBody>
                  <a:tcPr anchor="ctr" marL="82296" marR="82296" marT="27432" marB="27432">
                    <a:solidFill>
                      <a:srgbClr val="F8FAFC"/>
                    </a:solidFill>
                  </a:tcPr>
                </a:tc>
                <a:tc>
                  <a:txBody>
                    <a:bodyPr/>
                    <a:lstStyle/>
                    <a:p>
                      <a:pPr algn="l"/>
                      <a:r>
                        <a:rPr sz="1100">
                          <a:solidFill>
                            <a:srgbClr val="22282E"/>
                          </a:solidFill>
                          <a:latin typeface="Arial"/>
                        </a:rPr>
                        <a:t>F1 ≥ 85%, NEM ≥ 75%</a:t>
                      </a:r>
                    </a:p>
                  </a:txBody>
                  <a:tcPr anchor="ctr" marL="82296" marR="82296" marT="27432" marB="27432">
                    <a:solidFill>
                      <a:srgbClr val="F8FAFC"/>
                    </a:solidFill>
                  </a:tcPr>
                </a:tc>
              </a:tr>
              <a:tr h="509451">
                <a:tc>
                  <a:txBody>
                    <a:bodyPr/>
                    <a:lstStyle/>
                    <a:p>
                      <a:pPr algn="l"/>
                      <a:r>
                        <a:rPr sz="1100" b="1">
                          <a:solidFill>
                            <a:srgbClr val="EE0033"/>
                          </a:solidFill>
                          <a:latin typeface="Arial"/>
                        </a:rPr>
                        <a:t>Số, ký hiệu văn bản</a:t>
                      </a:r>
                    </a:p>
                  </a:txBody>
                  <a:tcPr anchor="ctr" marL="82296" marR="82296" marT="27432" marB="27432">
                    <a:solidFill>
                      <a:srgbClr val="FFFFFF"/>
                    </a:solidFill>
                  </a:tcPr>
                </a:tc>
                <a:tc>
                  <a:txBody>
                    <a:bodyPr/>
                    <a:lstStyle/>
                    <a:p>
                      <a:pPr algn="l"/>
                      <a:r>
                        <a:rPr sz="1050">
                          <a:solidFill>
                            <a:srgbClr val="22282E"/>
                          </a:solidFill>
                          <a:latin typeface="Consolas"/>
                        </a:rPr>
                        <a:t>code</a:t>
                      </a:r>
                    </a:p>
                  </a:txBody>
                  <a:tcPr anchor="ctr" marL="82296" marR="82296" marT="27432" marB="27432">
                    <a:solidFill>
                      <a:srgbClr val="FFFFFF"/>
                    </a:solidFill>
                  </a:tcPr>
                </a:tc>
                <a:tc>
                  <a:txBody>
                    <a:bodyPr/>
                    <a:lstStyle/>
                    <a:p>
                      <a:pPr algn="l"/>
                      <a:r>
                        <a:rPr sz="1100">
                          <a:solidFill>
                            <a:srgbClr val="22282E"/>
                          </a:solidFill>
                          <a:latin typeface="Arial"/>
                        </a:rPr>
                        <a:t>Bắt buộc</a:t>
                      </a:r>
                    </a:p>
                  </a:txBody>
                  <a:tcPr anchor="ctr" marL="82296" marR="82296" marT="27432" marB="27432">
                    <a:solidFill>
                      <a:srgbClr val="FFFFFF"/>
                    </a:solidFill>
                  </a:tcPr>
                </a:tc>
                <a:tc>
                  <a:txBody>
                    <a:bodyPr/>
                    <a:lstStyle/>
                    <a:p>
                      <a:pPr algn="l"/>
                      <a:r>
                        <a:rPr sz="1100">
                          <a:solidFill>
                            <a:srgbClr val="22282E"/>
                          </a:solidFill>
                          <a:latin typeface="Arial"/>
                        </a:rPr>
                        <a:t>Độ chính xác tuyệt đối (F1 Exact)</a:t>
                      </a:r>
                    </a:p>
                  </a:txBody>
                  <a:tcPr anchor="ctr" marL="82296" marR="82296" marT="27432" marB="27432">
                    <a:solidFill>
                      <a:srgbClr val="FFFFFF"/>
                    </a:solidFill>
                  </a:tcPr>
                </a:tc>
                <a:tc>
                  <a:txBody>
                    <a:bodyPr/>
                    <a:lstStyle/>
                    <a:p>
                      <a:pPr algn="l"/>
                      <a:r>
                        <a:rPr sz="1100">
                          <a:solidFill>
                            <a:srgbClr val="22282E"/>
                          </a:solidFill>
                          <a:latin typeface="Arial"/>
                        </a:rPr>
                        <a:t>F1 ≥ 85%, NEM ≥ 75%</a:t>
                      </a:r>
                    </a:p>
                  </a:txBody>
                  <a:tcPr anchor="ctr" marL="82296" marR="82296" marT="27432" marB="27432">
                    <a:solidFill>
                      <a:srgbClr val="FFFFFF"/>
                    </a:solidFill>
                  </a:tcPr>
                </a:tc>
              </a:tr>
              <a:tr h="509451">
                <a:tc>
                  <a:txBody>
                    <a:bodyPr/>
                    <a:lstStyle/>
                    <a:p>
                      <a:pPr algn="l"/>
                      <a:r>
                        <a:rPr sz="1100" b="1">
                          <a:solidFill>
                            <a:srgbClr val="EE0033"/>
                          </a:solidFill>
                          <a:latin typeface="Arial"/>
                        </a:rPr>
                        <a:t>Ngày ban hành</a:t>
                      </a:r>
                    </a:p>
                  </a:txBody>
                  <a:tcPr anchor="ctr" marL="82296" marR="82296" marT="27432" marB="27432">
                    <a:solidFill>
                      <a:srgbClr val="F8FAFC"/>
                    </a:solidFill>
                  </a:tcPr>
                </a:tc>
                <a:tc>
                  <a:txBody>
                    <a:bodyPr/>
                    <a:lstStyle/>
                    <a:p>
                      <a:pPr algn="l"/>
                      <a:r>
                        <a:rPr sz="1050">
                          <a:solidFill>
                            <a:srgbClr val="22282E"/>
                          </a:solidFill>
                          <a:latin typeface="Consolas"/>
                        </a:rPr>
                        <a:t>documentDate</a:t>
                      </a:r>
                    </a:p>
                  </a:txBody>
                  <a:tcPr anchor="ctr" marL="82296" marR="82296" marT="27432" marB="27432">
                    <a:solidFill>
                      <a:srgbClr val="F8FAFC"/>
                    </a:solidFill>
                  </a:tcPr>
                </a:tc>
                <a:tc>
                  <a:txBody>
                    <a:bodyPr/>
                    <a:lstStyle/>
                    <a:p>
                      <a:pPr algn="l"/>
                      <a:r>
                        <a:rPr sz="1100">
                          <a:solidFill>
                            <a:srgbClr val="22282E"/>
                          </a:solidFill>
                          <a:latin typeface="Arial"/>
                        </a:rPr>
                        <a:t>Bắt buộc</a:t>
                      </a:r>
                    </a:p>
                  </a:txBody>
                  <a:tcPr anchor="ctr" marL="82296" marR="82296" marT="27432" marB="27432">
                    <a:solidFill>
                      <a:srgbClr val="F8FAFC"/>
                    </a:solidFill>
                  </a:tcPr>
                </a:tc>
                <a:tc>
                  <a:txBody>
                    <a:bodyPr/>
                    <a:lstStyle/>
                    <a:p>
                      <a:pPr algn="l"/>
                      <a:r>
                        <a:rPr sz="1100">
                          <a:solidFill>
                            <a:srgbClr val="22282E"/>
                          </a:solidFill>
                          <a:latin typeface="Arial"/>
                        </a:rPr>
                        <a:t>Độ chính xác tuyệt đối (F1 Exact)</a:t>
                      </a:r>
                    </a:p>
                  </a:txBody>
                  <a:tcPr anchor="ctr" marL="82296" marR="82296" marT="27432" marB="27432">
                    <a:solidFill>
                      <a:srgbClr val="F8FAFC"/>
                    </a:solidFill>
                  </a:tcPr>
                </a:tc>
                <a:tc>
                  <a:txBody>
                    <a:bodyPr/>
                    <a:lstStyle/>
                    <a:p>
                      <a:pPr algn="l"/>
                      <a:r>
                        <a:rPr sz="1100">
                          <a:solidFill>
                            <a:srgbClr val="22282E"/>
                          </a:solidFill>
                          <a:latin typeface="Arial"/>
                        </a:rPr>
                        <a:t>F1 ≥ 85%, NEM ≥ 75%</a:t>
                      </a:r>
                    </a:p>
                  </a:txBody>
                  <a:tcPr anchor="ctr" marL="82296" marR="82296" marT="27432" marB="27432">
                    <a:solidFill>
                      <a:srgbClr val="F8FAFC"/>
                    </a:solidFill>
                  </a:tcPr>
                </a:tc>
              </a:tr>
              <a:tr h="509451">
                <a:tc>
                  <a:txBody>
                    <a:bodyPr/>
                    <a:lstStyle/>
                    <a:p>
                      <a:pPr algn="l"/>
                      <a:r>
                        <a:rPr sz="1100" b="1">
                          <a:solidFill>
                            <a:srgbClr val="EE0033"/>
                          </a:solidFill>
                          <a:latin typeface="Arial"/>
                        </a:rPr>
                        <a:t>Cơ quan ban hành</a:t>
                      </a:r>
                    </a:p>
                  </a:txBody>
                  <a:tcPr anchor="ctr" marL="82296" marR="82296" marT="27432" marB="27432">
                    <a:solidFill>
                      <a:srgbClr val="FFFFFF"/>
                    </a:solidFill>
                  </a:tcPr>
                </a:tc>
                <a:tc>
                  <a:txBody>
                    <a:bodyPr/>
                    <a:lstStyle/>
                    <a:p>
                      <a:pPr algn="l"/>
                      <a:r>
                        <a:rPr sz="1050">
                          <a:solidFill>
                            <a:srgbClr val="22282E"/>
                          </a:solidFill>
                          <a:latin typeface="Consolas"/>
                        </a:rPr>
                        <a:t>officeSender</a:t>
                      </a:r>
                    </a:p>
                  </a:txBody>
                  <a:tcPr anchor="ctr" marL="82296" marR="82296" marT="27432" marB="27432">
                    <a:solidFill>
                      <a:srgbClr val="FFFFFF"/>
                    </a:solidFill>
                  </a:tcPr>
                </a:tc>
                <a:tc>
                  <a:txBody>
                    <a:bodyPr/>
                    <a:lstStyle/>
                    <a:p>
                      <a:pPr algn="l"/>
                      <a:r>
                        <a:rPr sz="1100">
                          <a:solidFill>
                            <a:srgbClr val="22282E"/>
                          </a:solidFill>
                          <a:latin typeface="Arial"/>
                        </a:rPr>
                        <a:t>Bắt buộc</a:t>
                      </a:r>
                    </a:p>
                  </a:txBody>
                  <a:tcPr anchor="ctr" marL="82296" marR="82296" marT="27432" marB="27432">
                    <a:solidFill>
                      <a:srgbClr val="FFFFFF"/>
                    </a:solidFill>
                  </a:tcPr>
                </a:tc>
                <a:tc>
                  <a:txBody>
                    <a:bodyPr/>
                    <a:lstStyle/>
                    <a:p>
                      <a:pPr algn="l"/>
                      <a:r>
                        <a:rPr sz="1100">
                          <a:solidFill>
                            <a:srgbClr val="22282E"/>
                          </a:solidFill>
                          <a:latin typeface="Arial"/>
                        </a:rPr>
                        <a:t>Độ chính xác xấp xỉ (F1@5%, sai ≤ 5/100 ký tự)</a:t>
                      </a:r>
                    </a:p>
                  </a:txBody>
                  <a:tcPr anchor="ctr" marL="82296" marR="82296" marT="27432" marB="27432">
                    <a:solidFill>
                      <a:srgbClr val="FFFFFF"/>
                    </a:solidFill>
                  </a:tcPr>
                </a:tc>
                <a:tc>
                  <a:txBody>
                    <a:bodyPr/>
                    <a:lstStyle/>
                    <a:p>
                      <a:pPr algn="l"/>
                      <a:r>
                        <a:rPr sz="1100">
                          <a:solidFill>
                            <a:srgbClr val="22282E"/>
                          </a:solidFill>
                          <a:latin typeface="Arial"/>
                        </a:rPr>
                        <a:t>F1 ≥ 85%, NEM ≥ 75%</a:t>
                      </a:r>
                    </a:p>
                  </a:txBody>
                  <a:tcPr anchor="ctr" marL="82296" marR="82296" marT="27432" marB="27432">
                    <a:solidFill>
                      <a:srgbClr val="FFFFFF"/>
                    </a:solidFill>
                  </a:tcPr>
                </a:tc>
              </a:tr>
              <a:tr h="509451">
                <a:tc>
                  <a:txBody>
                    <a:bodyPr/>
                    <a:lstStyle/>
                    <a:p>
                      <a:pPr algn="l"/>
                      <a:r>
                        <a:rPr sz="1100" b="1">
                          <a:solidFill>
                            <a:srgbClr val="EE0033"/>
                          </a:solidFill>
                          <a:latin typeface="Arial"/>
                        </a:rPr>
                        <a:t>Độ khẩn</a:t>
                      </a:r>
                    </a:p>
                  </a:txBody>
                  <a:tcPr anchor="ctr" marL="82296" marR="82296" marT="27432" marB="27432">
                    <a:solidFill>
                      <a:srgbClr val="F8FAFC"/>
                    </a:solidFill>
                  </a:tcPr>
                </a:tc>
                <a:tc>
                  <a:txBody>
                    <a:bodyPr/>
                    <a:lstStyle/>
                    <a:p>
                      <a:pPr algn="l"/>
                      <a:r>
                        <a:rPr sz="1050">
                          <a:solidFill>
                            <a:srgbClr val="22282E"/>
                          </a:solidFill>
                          <a:latin typeface="Consolas"/>
                        </a:rPr>
                        <a:t>priority_level</a:t>
                      </a:r>
                    </a:p>
                  </a:txBody>
                  <a:tcPr anchor="ctr" marL="82296" marR="82296" marT="27432" marB="27432">
                    <a:solidFill>
                      <a:srgbClr val="F8FAFC"/>
                    </a:solidFill>
                  </a:tcPr>
                </a:tc>
                <a:tc>
                  <a:txBody>
                    <a:bodyPr/>
                    <a:lstStyle/>
                    <a:p>
                      <a:pPr algn="l"/>
                      <a:r>
                        <a:rPr sz="1100">
                          <a:solidFill>
                            <a:srgbClr val="22282E"/>
                          </a:solidFill>
                          <a:latin typeface="Arial"/>
                        </a:rPr>
                        <a:t>Bắt buộc</a:t>
                      </a:r>
                    </a:p>
                  </a:txBody>
                  <a:tcPr anchor="ctr" marL="82296" marR="82296" marT="27432" marB="27432">
                    <a:solidFill>
                      <a:srgbClr val="F8FAFC"/>
                    </a:solidFill>
                  </a:tcPr>
                </a:tc>
                <a:tc>
                  <a:txBody>
                    <a:bodyPr/>
                    <a:lstStyle/>
                    <a:p>
                      <a:pPr algn="l"/>
                      <a:r>
                        <a:rPr sz="1100">
                          <a:solidFill>
                            <a:srgbClr val="22282E"/>
                          </a:solidFill>
                          <a:latin typeface="Arial"/>
                        </a:rPr>
                        <a:t>Độ chính xác tuyệt đối (F1 Exact)</a:t>
                      </a:r>
                    </a:p>
                  </a:txBody>
                  <a:tcPr anchor="ctr" marL="82296" marR="82296" marT="27432" marB="27432">
                    <a:solidFill>
                      <a:srgbClr val="F8FAFC"/>
                    </a:solidFill>
                  </a:tcPr>
                </a:tc>
                <a:tc>
                  <a:txBody>
                    <a:bodyPr/>
                    <a:lstStyle/>
                    <a:p>
                      <a:pPr algn="l"/>
                      <a:r>
                        <a:rPr sz="1100">
                          <a:solidFill>
                            <a:srgbClr val="22282E"/>
                          </a:solidFill>
                          <a:latin typeface="Arial"/>
                        </a:rPr>
                        <a:t>F1 ≥ 85%, NEM ≥ 75%</a:t>
                      </a:r>
                    </a:p>
                  </a:txBody>
                  <a:tcPr anchor="ctr" marL="82296" marR="82296" marT="27432" marB="27432">
                    <a:solidFill>
                      <a:srgbClr val="F8FAFC"/>
                    </a:solidFill>
                  </a:tcPr>
                </a:tc>
              </a:tr>
              <a:tr h="509451">
                <a:tc>
                  <a:txBody>
                    <a:bodyPr/>
                    <a:lstStyle/>
                    <a:p>
                      <a:pPr algn="l"/>
                      <a:r>
                        <a:rPr sz="1100" b="1">
                          <a:solidFill>
                            <a:srgbClr val="EE0033"/>
                          </a:solidFill>
                          <a:latin typeface="Arial"/>
                        </a:rPr>
                        <a:t>Độ mật</a:t>
                      </a:r>
                    </a:p>
                  </a:txBody>
                  <a:tcPr anchor="ctr" marL="82296" marR="82296" marT="27432" marB="27432">
                    <a:solidFill>
                      <a:srgbClr val="FFFFFF"/>
                    </a:solidFill>
                  </a:tcPr>
                </a:tc>
                <a:tc>
                  <a:txBody>
                    <a:bodyPr/>
                    <a:lstStyle/>
                    <a:p>
                      <a:pPr algn="l"/>
                      <a:r>
                        <a:rPr sz="1050">
                          <a:solidFill>
                            <a:srgbClr val="22282E"/>
                          </a:solidFill>
                          <a:latin typeface="Consolas"/>
                        </a:rPr>
                        <a:t>security_level</a:t>
                      </a:r>
                    </a:p>
                  </a:txBody>
                  <a:tcPr anchor="ctr" marL="82296" marR="82296" marT="27432" marB="27432">
                    <a:solidFill>
                      <a:srgbClr val="FFFFFF"/>
                    </a:solidFill>
                  </a:tcPr>
                </a:tc>
                <a:tc>
                  <a:txBody>
                    <a:bodyPr/>
                    <a:lstStyle/>
                    <a:p>
                      <a:pPr algn="l"/>
                      <a:r>
                        <a:rPr sz="1100">
                          <a:solidFill>
                            <a:srgbClr val="22282E"/>
                          </a:solidFill>
                          <a:latin typeface="Arial"/>
                        </a:rPr>
                        <a:t>Bắt buộc</a:t>
                      </a:r>
                    </a:p>
                  </a:txBody>
                  <a:tcPr anchor="ctr" marL="82296" marR="82296" marT="27432" marB="27432">
                    <a:solidFill>
                      <a:srgbClr val="FFFFFF"/>
                    </a:solidFill>
                  </a:tcPr>
                </a:tc>
                <a:tc>
                  <a:txBody>
                    <a:bodyPr/>
                    <a:lstStyle/>
                    <a:p>
                      <a:pPr algn="l"/>
                      <a:r>
                        <a:rPr sz="1100">
                          <a:solidFill>
                            <a:srgbClr val="22282E"/>
                          </a:solidFill>
                          <a:latin typeface="Arial"/>
                        </a:rPr>
                        <a:t>Độ chính xác tuyệt đối (F1 Exact)</a:t>
                      </a:r>
                    </a:p>
                  </a:txBody>
                  <a:tcPr anchor="ctr" marL="82296" marR="82296" marT="27432" marB="27432">
                    <a:solidFill>
                      <a:srgbClr val="FFFFFF"/>
                    </a:solidFill>
                  </a:tcPr>
                </a:tc>
                <a:tc>
                  <a:txBody>
                    <a:bodyPr/>
                    <a:lstStyle/>
                    <a:p>
                      <a:pPr algn="l"/>
                      <a:r>
                        <a:rPr sz="1100">
                          <a:solidFill>
                            <a:srgbClr val="22282E"/>
                          </a:solidFill>
                          <a:latin typeface="Arial"/>
                        </a:rPr>
                        <a:t>F1 ≥ 85%, NEM ≥ 75%</a:t>
                      </a:r>
                    </a:p>
                  </a:txBody>
                  <a:tcPr anchor="ctr" marL="82296" marR="82296" marT="27432" marB="27432">
                    <a:solidFill>
                      <a:srgbClr val="FFFFFF"/>
                    </a:solidFill>
                  </a:tcPr>
                </a:tc>
              </a:tr>
              <a:tr h="509451">
                <a:tc>
                  <a:txBody>
                    <a:bodyPr/>
                    <a:lstStyle/>
                    <a:p>
                      <a:pPr algn="l"/>
                      <a:r>
                        <a:rPr sz="1100" b="1">
                          <a:solidFill>
                            <a:srgbClr val="22282E"/>
                          </a:solidFill>
                          <a:latin typeface="Arial"/>
                        </a:rPr>
                        <a:t>Nơi nhận cuối VB</a:t>
                      </a:r>
                    </a:p>
                  </a:txBody>
                  <a:tcPr anchor="ctr" marL="82296" marR="82296" marT="27432" marB="27432">
                    <a:solidFill>
                      <a:srgbClr val="F8FAFC"/>
                    </a:solidFill>
                  </a:tcPr>
                </a:tc>
                <a:tc>
                  <a:txBody>
                    <a:bodyPr/>
                    <a:lstStyle/>
                    <a:p>
                      <a:pPr algn="l"/>
                      <a:r>
                        <a:rPr sz="1050">
                          <a:solidFill>
                            <a:srgbClr val="22282E"/>
                          </a:solidFill>
                          <a:latin typeface="Consolas"/>
                        </a:rPr>
                        <a:t>recipients</a:t>
                      </a:r>
                    </a:p>
                  </a:txBody>
                  <a:tcPr anchor="ctr" marL="82296" marR="82296" marT="27432" marB="27432">
                    <a:solidFill>
                      <a:srgbClr val="F8FAFC"/>
                    </a:solidFill>
                  </a:tcPr>
                </a:tc>
                <a:tc>
                  <a:txBody>
                    <a:bodyPr/>
                    <a:lstStyle/>
                    <a:p>
                      <a:pPr algn="l"/>
                      <a:r>
                        <a:rPr sz="1100">
                          <a:solidFill>
                            <a:srgbClr val="22282E"/>
                          </a:solidFill>
                          <a:latin typeface="Arial"/>
                        </a:rPr>
                        <a:t>Quan trọng</a:t>
                      </a:r>
                    </a:p>
                  </a:txBody>
                  <a:tcPr anchor="ctr" marL="82296" marR="82296" marT="27432" marB="27432">
                    <a:solidFill>
                      <a:srgbClr val="F8FAFC"/>
                    </a:solidFill>
                  </a:tcPr>
                </a:tc>
                <a:tc>
                  <a:txBody>
                    <a:bodyPr/>
                    <a:lstStyle/>
                    <a:p>
                      <a:pPr algn="l"/>
                      <a:r>
                        <a:rPr sz="1100">
                          <a:solidFill>
                            <a:srgbClr val="22282E"/>
                          </a:solidFill>
                          <a:latin typeface="Arial"/>
                        </a:rPr>
                        <a:t>Độ chính xác xấp xỉ (F1@5%, sai ≤ 5/100 ký tự)</a:t>
                      </a:r>
                    </a:p>
                  </a:txBody>
                  <a:tcPr anchor="ctr" marL="82296" marR="82296" marT="27432" marB="27432">
                    <a:solidFill>
                      <a:srgbClr val="F8FAFC"/>
                    </a:solidFill>
                  </a:tcPr>
                </a:tc>
                <a:tc>
                  <a:txBody>
                    <a:bodyPr/>
                    <a:lstStyle/>
                    <a:p>
                      <a:pPr algn="l"/>
                      <a:r>
                        <a:rPr sz="1100">
                          <a:solidFill>
                            <a:srgbClr val="22282E"/>
                          </a:solidFill>
                          <a:latin typeface="Arial"/>
                        </a:rPr>
                        <a:t>F1 ≥ 85%, NEM ≥ 75%</a:t>
                      </a:r>
                    </a:p>
                  </a:txBody>
                  <a:tcPr anchor="ctr" marL="82296" marR="82296" marT="27432" marB="27432">
                    <a:solidFill>
                      <a:srgbClr val="F8FAFC"/>
                    </a:solidFill>
                  </a:tcPr>
                </a:tc>
              </a:tr>
              <a:tr h="509451">
                <a:tc>
                  <a:txBody>
                    <a:bodyPr/>
                    <a:lstStyle/>
                    <a:p>
                      <a:pPr algn="l"/>
                      <a:r>
                        <a:rPr sz="1100" b="1">
                          <a:solidFill>
                            <a:srgbClr val="22282E"/>
                          </a:solidFill>
                          <a:latin typeface="Arial"/>
                        </a:rPr>
                        <a:t>Họ tên người ký</a:t>
                      </a:r>
                    </a:p>
                  </a:txBody>
                  <a:tcPr anchor="ctr" marL="82296" marR="82296" marT="27432" marB="27432">
                    <a:solidFill>
                      <a:srgbClr val="FFFFFF"/>
                    </a:solidFill>
                  </a:tcPr>
                </a:tc>
                <a:tc>
                  <a:txBody>
                    <a:bodyPr/>
                    <a:lstStyle/>
                    <a:p>
                      <a:pPr algn="l"/>
                      <a:r>
                        <a:rPr sz="1050">
                          <a:solidFill>
                            <a:srgbClr val="22282E"/>
                          </a:solidFill>
                          <a:latin typeface="Consolas"/>
                        </a:rPr>
                        <a:t>signer</a:t>
                      </a:r>
                    </a:p>
                  </a:txBody>
                  <a:tcPr anchor="ctr" marL="82296" marR="82296" marT="27432" marB="27432">
                    <a:solidFill>
                      <a:srgbClr val="FFFFFF"/>
                    </a:solidFill>
                  </a:tcPr>
                </a:tc>
                <a:tc>
                  <a:txBody>
                    <a:bodyPr/>
                    <a:lstStyle/>
                    <a:p>
                      <a:pPr algn="l"/>
                      <a:r>
                        <a:rPr sz="1100">
                          <a:solidFill>
                            <a:srgbClr val="22282E"/>
                          </a:solidFill>
                          <a:latin typeface="Arial"/>
                        </a:rPr>
                        <a:t>Quan trọng</a:t>
                      </a:r>
                    </a:p>
                  </a:txBody>
                  <a:tcPr anchor="ctr" marL="82296" marR="82296" marT="27432" marB="27432">
                    <a:solidFill>
                      <a:srgbClr val="FFFFFF"/>
                    </a:solidFill>
                  </a:tcPr>
                </a:tc>
                <a:tc>
                  <a:txBody>
                    <a:bodyPr/>
                    <a:lstStyle/>
                    <a:p>
                      <a:pPr algn="l"/>
                      <a:r>
                        <a:rPr sz="1100">
                          <a:solidFill>
                            <a:srgbClr val="22282E"/>
                          </a:solidFill>
                          <a:latin typeface="Arial"/>
                        </a:rPr>
                        <a:t>Độ chính xác tuyệt đối (F1 Exact)</a:t>
                      </a:r>
                    </a:p>
                  </a:txBody>
                  <a:tcPr anchor="ctr" marL="82296" marR="82296" marT="27432" marB="27432">
                    <a:solidFill>
                      <a:srgbClr val="FFFFFF"/>
                    </a:solidFill>
                  </a:tcPr>
                </a:tc>
                <a:tc>
                  <a:txBody>
                    <a:bodyPr/>
                    <a:lstStyle/>
                    <a:p>
                      <a:pPr algn="l"/>
                      <a:r>
                        <a:rPr sz="1100">
                          <a:solidFill>
                            <a:srgbClr val="22282E"/>
                          </a:solidFill>
                          <a:latin typeface="Arial"/>
                        </a:rPr>
                        <a:t>F1 ≥ 85%, NEM ≥ 75%</a:t>
                      </a:r>
                    </a:p>
                  </a:txBody>
                  <a:tcPr anchor="ctr" marL="82296" marR="82296" marT="27432" marB="27432">
                    <a:solidFill>
                      <a:srgbClr val="FFFFFF"/>
                    </a:solidFill>
                  </a:tcPr>
                </a:tc>
              </a:tr>
              <a:tr h="509451">
                <a:tc>
                  <a:txBody>
                    <a:bodyPr/>
                    <a:lstStyle/>
                    <a:p>
                      <a:pPr algn="l"/>
                      <a:r>
                        <a:rPr sz="1100" b="1">
                          <a:solidFill>
                            <a:srgbClr val="22282E"/>
                          </a:solidFill>
                          <a:latin typeface="Arial"/>
                        </a:rPr>
                        <a:t>Kính gửi đầu VB</a:t>
                      </a:r>
                    </a:p>
                  </a:txBody>
                  <a:tcPr anchor="ctr" marL="82296" marR="82296" marT="27432" marB="27432">
                    <a:solidFill>
                      <a:srgbClr val="F8FAFC"/>
                    </a:solidFill>
                  </a:tcPr>
                </a:tc>
                <a:tc>
                  <a:txBody>
                    <a:bodyPr/>
                    <a:lstStyle/>
                    <a:p>
                      <a:pPr algn="l"/>
                      <a:r>
                        <a:rPr sz="1050">
                          <a:solidFill>
                            <a:srgbClr val="22282E"/>
                          </a:solidFill>
                          <a:latin typeface="Consolas"/>
                        </a:rPr>
                        <a:t>first_recipients</a:t>
                      </a:r>
                    </a:p>
                  </a:txBody>
                  <a:tcPr anchor="ctr" marL="82296" marR="82296" marT="27432" marB="27432">
                    <a:solidFill>
                      <a:srgbClr val="F8FAFC"/>
                    </a:solidFill>
                  </a:tcPr>
                </a:tc>
                <a:tc>
                  <a:txBody>
                    <a:bodyPr/>
                    <a:lstStyle/>
                    <a:p>
                      <a:pPr algn="l"/>
                      <a:r>
                        <a:rPr sz="1100">
                          <a:solidFill>
                            <a:srgbClr val="22282E"/>
                          </a:solidFill>
                          <a:latin typeface="Arial"/>
                        </a:rPr>
                        <a:t>Quan trọng</a:t>
                      </a:r>
                    </a:p>
                  </a:txBody>
                  <a:tcPr anchor="ctr" marL="82296" marR="82296" marT="27432" marB="27432">
                    <a:solidFill>
                      <a:srgbClr val="F8FAFC"/>
                    </a:solidFill>
                  </a:tcPr>
                </a:tc>
                <a:tc>
                  <a:txBody>
                    <a:bodyPr/>
                    <a:lstStyle/>
                    <a:p>
                      <a:pPr algn="l"/>
                      <a:r>
                        <a:rPr sz="1100">
                          <a:solidFill>
                            <a:srgbClr val="22282E"/>
                          </a:solidFill>
                          <a:latin typeface="Arial"/>
                        </a:rPr>
                        <a:t>Độ chính xác xấp xỉ (F1@5%, sai ≤ 5/100 ký tự)</a:t>
                      </a:r>
                    </a:p>
                  </a:txBody>
                  <a:tcPr anchor="ctr" marL="82296" marR="82296" marT="27432" marB="27432">
                    <a:solidFill>
                      <a:srgbClr val="F8FAFC"/>
                    </a:solidFill>
                  </a:tcPr>
                </a:tc>
                <a:tc>
                  <a:txBody>
                    <a:bodyPr/>
                    <a:lstStyle/>
                    <a:p>
                      <a:pPr algn="l"/>
                      <a:r>
                        <a:rPr sz="1100">
                          <a:solidFill>
                            <a:srgbClr val="22282E"/>
                          </a:solidFill>
                          <a:latin typeface="Arial"/>
                        </a:rPr>
                        <a:t>F1 ≥ 85%, NEM ≥ 75%</a:t>
                      </a:r>
                    </a:p>
                  </a:txBody>
                  <a:tcPr anchor="ctr" marL="82296" marR="82296" marT="27432" marB="27432">
                    <a:solidFill>
                      <a:srgbClr val="F8FAFC"/>
                    </a:solidFill>
                  </a:tcPr>
                </a:tc>
              </a:tr>
              <a:tr h="509451">
                <a:tc>
                  <a:txBody>
                    <a:bodyPr/>
                    <a:lstStyle/>
                    <a:p>
                      <a:pPr algn="l"/>
                      <a:r>
                        <a:rPr sz="1100" b="1">
                          <a:solidFill>
                            <a:srgbClr val="22282E"/>
                          </a:solidFill>
                          <a:latin typeface="Arial"/>
                        </a:rPr>
                        <a:t>Chức danh người ký</a:t>
                      </a:r>
                    </a:p>
                  </a:txBody>
                  <a:tcPr anchor="ctr" marL="82296" marR="82296" marT="27432" marB="27432">
                    <a:solidFill>
                      <a:srgbClr val="FFFFFF"/>
                    </a:solidFill>
                  </a:tcPr>
                </a:tc>
                <a:tc>
                  <a:txBody>
                    <a:bodyPr/>
                    <a:lstStyle/>
                    <a:p>
                      <a:pPr algn="l"/>
                      <a:r>
                        <a:rPr sz="1050">
                          <a:solidFill>
                            <a:srgbClr val="22282E"/>
                          </a:solidFill>
                          <a:latin typeface="Consolas"/>
                        </a:rPr>
                        <a:t>signer_title</a:t>
                      </a:r>
                    </a:p>
                  </a:txBody>
                  <a:tcPr anchor="ctr" marL="82296" marR="82296" marT="27432" marB="27432">
                    <a:solidFill>
                      <a:srgbClr val="FFFFFF"/>
                    </a:solidFill>
                  </a:tcPr>
                </a:tc>
                <a:tc>
                  <a:txBody>
                    <a:bodyPr/>
                    <a:lstStyle/>
                    <a:p>
                      <a:pPr algn="l"/>
                      <a:r>
                        <a:rPr sz="1100">
                          <a:solidFill>
                            <a:srgbClr val="22282E"/>
                          </a:solidFill>
                          <a:latin typeface="Arial"/>
                        </a:rPr>
                        <a:t>Quan trọng</a:t>
                      </a:r>
                    </a:p>
                  </a:txBody>
                  <a:tcPr anchor="ctr" marL="82296" marR="82296" marT="27432" marB="27432">
                    <a:solidFill>
                      <a:srgbClr val="FFFFFF"/>
                    </a:solidFill>
                  </a:tcPr>
                </a:tc>
                <a:tc>
                  <a:txBody>
                    <a:bodyPr/>
                    <a:lstStyle/>
                    <a:p>
                      <a:pPr algn="l"/>
                      <a:r>
                        <a:rPr sz="1100">
                          <a:solidFill>
                            <a:srgbClr val="22282E"/>
                          </a:solidFill>
                          <a:latin typeface="Arial"/>
                        </a:rPr>
                        <a:t>Độ chính xác xấp xỉ (F1@5%, sai ≤ 5/100 ký tự)</a:t>
                      </a:r>
                    </a:p>
                  </a:txBody>
                  <a:tcPr anchor="ctr" marL="82296" marR="82296" marT="27432" marB="27432">
                    <a:solidFill>
                      <a:srgbClr val="FFFFFF"/>
                    </a:solidFill>
                  </a:tcPr>
                </a:tc>
                <a:tc>
                  <a:txBody>
                    <a:bodyPr/>
                    <a:lstStyle/>
                    <a:p>
                      <a:pPr algn="l"/>
                      <a:r>
                        <a:rPr sz="1100">
                          <a:solidFill>
                            <a:srgbClr val="22282E"/>
                          </a:solidFill>
                          <a:latin typeface="Arial"/>
                        </a:rPr>
                        <a:t>F1 ≥ 85%, NEM ≥ 75%</a:t>
                      </a:r>
                    </a:p>
                  </a:txBody>
                  <a:tcPr anchor="ctr" marL="82296" marR="82296" marT="27432" marB="27432">
                    <a:solidFill>
                      <a:srgbClr val="FFFFFF"/>
                    </a:solidFill>
                  </a:tcPr>
                </a:tc>
              </a:tr>
              <a:tr h="509451">
                <a:tc>
                  <a:txBody>
                    <a:bodyPr/>
                    <a:lstStyle/>
                    <a:p>
                      <a:pPr algn="l"/>
                      <a:r>
                        <a:rPr sz="1100" b="1">
                          <a:solidFill>
                            <a:srgbClr val="22282E"/>
                          </a:solidFill>
                          <a:latin typeface="Arial"/>
                        </a:rPr>
                        <a:t>Địa danh ban hành</a:t>
                      </a:r>
                    </a:p>
                  </a:txBody>
                  <a:tcPr anchor="ctr" marL="82296" marR="82296" marT="27432" marB="27432">
                    <a:solidFill>
                      <a:srgbClr val="F8FAFC"/>
                    </a:solidFill>
                  </a:tcPr>
                </a:tc>
                <a:tc>
                  <a:txBody>
                    <a:bodyPr/>
                    <a:lstStyle/>
                    <a:p>
                      <a:pPr algn="l"/>
                      <a:r>
                        <a:rPr sz="1050">
                          <a:solidFill>
                            <a:srgbClr val="22282E"/>
                          </a:solidFill>
                          <a:latin typeface="Consolas"/>
                        </a:rPr>
                        <a:t>province</a:t>
                      </a:r>
                    </a:p>
                  </a:txBody>
                  <a:tcPr anchor="ctr" marL="82296" marR="82296" marT="27432" marB="27432">
                    <a:solidFill>
                      <a:srgbClr val="F8FAFC"/>
                    </a:solidFill>
                  </a:tcPr>
                </a:tc>
                <a:tc>
                  <a:txBody>
                    <a:bodyPr/>
                    <a:lstStyle/>
                    <a:p>
                      <a:pPr algn="l"/>
                      <a:r>
                        <a:rPr sz="1100">
                          <a:solidFill>
                            <a:srgbClr val="22282E"/>
                          </a:solidFill>
                          <a:latin typeface="Arial"/>
                        </a:rPr>
                        <a:t>Tùy chọn</a:t>
                      </a:r>
                    </a:p>
                  </a:txBody>
                  <a:tcPr anchor="ctr" marL="82296" marR="82296" marT="27432" marB="27432">
                    <a:solidFill>
                      <a:srgbClr val="F8FAFC"/>
                    </a:solidFill>
                  </a:tcPr>
                </a:tc>
                <a:tc>
                  <a:txBody>
                    <a:bodyPr/>
                    <a:lstStyle/>
                    <a:p>
                      <a:pPr algn="l"/>
                      <a:r>
                        <a:rPr sz="1100">
                          <a:solidFill>
                            <a:srgbClr val="22282E"/>
                          </a:solidFill>
                          <a:latin typeface="Arial"/>
                        </a:rPr>
                        <a:t>Độ chính xác tuyệt đối (F1 Exact)</a:t>
                      </a:r>
                    </a:p>
                  </a:txBody>
                  <a:tcPr anchor="ctr" marL="82296" marR="82296" marT="27432" marB="27432">
                    <a:solidFill>
                      <a:srgbClr val="F8FAFC"/>
                    </a:solidFill>
                  </a:tcPr>
                </a:tc>
                <a:tc>
                  <a:txBody>
                    <a:bodyPr/>
                    <a:lstStyle/>
                    <a:p>
                      <a:pPr algn="l"/>
                      <a:r>
                        <a:rPr sz="1100">
                          <a:solidFill>
                            <a:srgbClr val="22282E"/>
                          </a:solidFill>
                          <a:latin typeface="Arial"/>
                        </a:rPr>
                        <a:t>F1 ≥ 85%, NEM ≥ 75%</a:t>
                      </a:r>
                    </a:p>
                  </a:txBody>
                  <a:tcPr anchor="ctr" marL="82296" marR="82296" marT="27432" marB="27432">
                    <a:solidFill>
                      <a:srgbClr val="F8FAFC"/>
                    </a:solidFill>
                  </a:tcPr>
                </a:tc>
              </a:tr>
              <a:tr h="509457">
                <a:tc>
                  <a:txBody>
                    <a:bodyPr/>
                    <a:lstStyle/>
                    <a:p>
                      <a:pPr algn="l"/>
                      <a:r>
                        <a:rPr sz="1100" b="1">
                          <a:solidFill>
                            <a:srgbClr val="22282E"/>
                          </a:solidFill>
                          <a:latin typeface="Arial"/>
                        </a:rPr>
                        <a:t>Ngày tiếp nhận</a:t>
                      </a:r>
                    </a:p>
                  </a:txBody>
                  <a:tcPr anchor="ctr" marL="82296" marR="82296" marT="27432" marB="27432">
                    <a:solidFill>
                      <a:srgbClr val="FDFAFA"/>
                    </a:solidFill>
                  </a:tcPr>
                </a:tc>
                <a:tc>
                  <a:txBody>
                    <a:bodyPr/>
                    <a:lstStyle/>
                    <a:p>
                      <a:pPr algn="l"/>
                      <a:r>
                        <a:rPr sz="1050">
                          <a:solidFill>
                            <a:srgbClr val="22282E"/>
                          </a:solidFill>
                          <a:latin typeface="Consolas"/>
                        </a:rPr>
                        <a:t>receiverDate</a:t>
                      </a:r>
                    </a:p>
                  </a:txBody>
                  <a:tcPr anchor="ctr" marL="82296" marR="82296" marT="27432" marB="27432">
                    <a:solidFill>
                      <a:srgbClr val="FDFAFA"/>
                    </a:solidFill>
                  </a:tcPr>
                </a:tc>
                <a:tc>
                  <a:txBody>
                    <a:bodyPr/>
                    <a:lstStyle/>
                    <a:p>
                      <a:pPr algn="l"/>
                      <a:r>
                        <a:rPr sz="1100">
                          <a:solidFill>
                            <a:srgbClr val="22282E"/>
                          </a:solidFill>
                          <a:latin typeface="Arial"/>
                        </a:rPr>
                        <a:t>Ngoài phạm vi</a:t>
                      </a:r>
                    </a:p>
                  </a:txBody>
                  <a:tcPr anchor="ctr" marL="82296" marR="82296" marT="27432" marB="27432">
                    <a:solidFill>
                      <a:srgbClr val="FDFAFA"/>
                    </a:solidFill>
                  </a:tcPr>
                </a:tc>
                <a:tc>
                  <a:txBody>
                    <a:bodyPr/>
                    <a:lstStyle/>
                    <a:p>
                      <a:pPr algn="l"/>
                      <a:r>
                        <a:rPr sz="1100">
                          <a:solidFill>
                            <a:srgbClr val="22282E"/>
                          </a:solidFill>
                          <a:latin typeface="Arial"/>
                        </a:rPr>
                        <a:t>Không chấm (luôn trả "")</a:t>
                      </a:r>
                    </a:p>
                  </a:txBody>
                  <a:tcPr anchor="ctr" marL="82296" marR="82296" marT="27432" marB="27432">
                    <a:solidFill>
                      <a:srgbClr val="FDFAFA"/>
                    </a:solidFill>
                  </a:tcPr>
                </a:tc>
                <a:tc>
                  <a:txBody>
                    <a:bodyPr/>
                    <a:lstStyle/>
                    <a:p>
                      <a:pPr algn="l"/>
                      <a:r>
                        <a:rPr sz="1100">
                          <a:solidFill>
                            <a:srgbClr val="22282E"/>
                          </a:solidFill>
                          <a:latin typeface="Arial"/>
                        </a:rPr>
                        <a:t>— (Ngoài phạm vi)</a:t>
                      </a:r>
                    </a:p>
                  </a:txBody>
                  <a:tcPr anchor="ctr" marL="82296" marR="82296" marT="27432" marB="27432">
                    <a:solidFill>
                      <a:srgbClr val="FDFAFA"/>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Ý nghĩa 4 Metric cốt lõi trong đánh giá OCR</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docs/ocr_pipeline_benchmark_metrics.md · §5</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07</a:t>
            </a:r>
          </a:p>
        </p:txBody>
      </p:sp>
      <p:sp>
        <p:nvSpPr>
          <p:cNvPr id="149" name="Rounded Rectangle 148"/>
          <p:cNvSpPr/>
          <p:nvPr/>
        </p:nvSpPr>
        <p:spPr>
          <a:xfrm>
            <a:off x="1243584" y="1280160"/>
            <a:ext cx="3108960"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3017520"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03 · SUCCESS METRICS</a:t>
            </a:r>
          </a:p>
        </p:txBody>
      </p:sp>
      <p:sp>
        <p:nvSpPr>
          <p:cNvPr id="151" name="Rounded Rectangle 150"/>
          <p:cNvSpPr/>
          <p:nvPr/>
        </p:nvSpPr>
        <p:spPr>
          <a:xfrm>
            <a:off x="1243584" y="1874519"/>
            <a:ext cx="3794760" cy="530352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444752" y="2020824"/>
            <a:ext cx="3392424"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EE0033"/>
                </a:solidFill>
                <a:latin typeface="Arial"/>
              </a:rPr>
              <a:t>Nghiệp vụ</a:t>
            </a:r>
          </a:p>
        </p:txBody>
      </p:sp>
      <p:sp>
        <p:nvSpPr>
          <p:cNvPr id="153" name="TextBox 152"/>
          <p:cNvSpPr txBox="1"/>
          <p:nvPr/>
        </p:nvSpPr>
        <p:spPr>
          <a:xfrm>
            <a:off x="1444752" y="2624327"/>
            <a:ext cx="3392424" cy="548640"/>
          </a:xfrm>
          <a:prstGeom prst="rect">
            <a:avLst/>
          </a:prstGeom>
          <a:noFill/>
        </p:spPr>
        <p:txBody>
          <a:bodyPr wrap="square" anchor="t" lIns="27432" rIns="27432" tIns="27432" bIns="27432">
            <a:spAutoFit/>
          </a:bodyPr>
          <a:lstStyle/>
          <a:p>
            <a:pPr algn="l">
              <a:lnSpc>
                <a:spcPct val="115000"/>
              </a:lnSpc>
              <a:spcAft>
                <a:spcPts val="247"/>
              </a:spcAft>
            </a:pPr>
            <a:r>
              <a:rPr sz="1650" b="1">
                <a:solidFill>
                  <a:srgbClr val="172235"/>
                </a:solidFill>
                <a:latin typeface="Arial"/>
              </a:rPr>
              <a:t>1. Document Success@5%</a:t>
            </a:r>
          </a:p>
        </p:txBody>
      </p:sp>
      <p:sp>
        <p:nvSpPr>
          <p:cNvPr id="154" name="TextBox 153"/>
          <p:cNvSpPr txBox="1"/>
          <p:nvPr/>
        </p:nvSpPr>
        <p:spPr>
          <a:xfrm>
            <a:off x="1444752" y="3172968"/>
            <a:ext cx="3392424" cy="3867912"/>
          </a:xfrm>
          <a:prstGeom prst="rect">
            <a:avLst/>
          </a:prstGeom>
          <a:noFill/>
        </p:spPr>
        <p:txBody>
          <a:bodyPr wrap="square" anchor="t" lIns="27432" rIns="27432" tIns="27432" bIns="27432">
            <a:spAutoFit/>
          </a:bodyPr>
          <a:lstStyle/>
          <a:p>
            <a:pPr algn="l">
              <a:lnSpc>
                <a:spcPct val="115000"/>
              </a:lnSpc>
              <a:spcAft>
                <a:spcPts val="225"/>
              </a:spcAft>
            </a:pPr>
            <a:r>
              <a:rPr sz="1500" b="0">
                <a:solidFill>
                  <a:srgbClr val="22282E"/>
                </a:solidFill>
                <a:latin typeface="Arial"/>
              </a:rPr>
              <a:t>🎯 Tỷ lệ văn bản đạt trọn vẹn:</a:t>
            </a:r>
          </a:p>
          <a:p>
            <a:pPr algn="l">
              <a:lnSpc>
                <a:spcPct val="115000"/>
              </a:lnSpc>
              <a:spcAft>
                <a:spcPts val="225"/>
              </a:spcAft>
            </a:pPr>
          </a:p>
          <a:p>
            <a:pPr algn="l">
              <a:lnSpc>
                <a:spcPct val="115000"/>
              </a:lnSpc>
              <a:spcAft>
                <a:spcPts val="225"/>
              </a:spcAft>
            </a:pPr>
            <a:r>
              <a:rPr sz="1500" b="0">
                <a:solidFill>
                  <a:srgbClr val="22282E"/>
                </a:solidFill>
                <a:latin typeface="Arial"/>
              </a:rPr>
              <a:t>• Ý nghĩa: Đo lường tỷ lệ văn bản nạp thẳng được vào hệ thống VPS mà không cần con người sửa lại.</a:t>
            </a:r>
          </a:p>
          <a:p>
            <a:pPr algn="l">
              <a:lnSpc>
                <a:spcPct val="115000"/>
              </a:lnSpc>
              <a:spcAft>
                <a:spcPts val="225"/>
              </a:spcAft>
            </a:pPr>
          </a:p>
          <a:p>
            <a:pPr algn="l">
              <a:lnSpc>
                <a:spcPct val="115000"/>
              </a:lnSpc>
              <a:spcAft>
                <a:spcPts val="225"/>
              </a:spcAft>
            </a:pPr>
            <a:r>
              <a:rPr sz="1500" b="0">
                <a:solidFill>
                  <a:srgbClr val="22282E"/>
                </a:solidFill>
                <a:latin typeface="Arial"/>
              </a:rPr>
              <a:t>• Nguyên tắc: Đạt khi TẤT CẢ 7 trường bắt buộc đều đúng (sai số ký tự ≤ 5%).</a:t>
            </a:r>
          </a:p>
          <a:p>
            <a:pPr algn="l">
              <a:lnSpc>
                <a:spcPct val="115000"/>
              </a:lnSpc>
              <a:spcAft>
                <a:spcPts val="225"/>
              </a:spcAft>
            </a:pPr>
          </a:p>
          <a:p>
            <a:pPr algn="l">
              <a:lnSpc>
                <a:spcPct val="115000"/>
              </a:lnSpc>
              <a:spcAft>
                <a:spcPts val="225"/>
              </a:spcAft>
            </a:pPr>
            <a:r>
              <a:rPr sz="1500" b="0">
                <a:solidFill>
                  <a:srgbClr val="22282E"/>
                </a:solidFill>
                <a:latin typeface="Arial"/>
              </a:rPr>
              <a:t>• Tính nghiêm ngặt: Sai 1 trường bắt buộc → Cả văn bản KHÔNG ĐẠT.</a:t>
            </a:r>
          </a:p>
        </p:txBody>
      </p:sp>
      <p:sp>
        <p:nvSpPr>
          <p:cNvPr id="155" name="Rounded Rectangle 154"/>
          <p:cNvSpPr/>
          <p:nvPr/>
        </p:nvSpPr>
        <p:spPr>
          <a:xfrm>
            <a:off x="5285232" y="1874519"/>
            <a:ext cx="3794760" cy="530352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5486400" y="2020824"/>
            <a:ext cx="3392424"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172235"/>
                </a:solidFill>
                <a:latin typeface="Arial"/>
              </a:rPr>
              <a:t>Từng trường</a:t>
            </a:r>
          </a:p>
        </p:txBody>
      </p:sp>
      <p:sp>
        <p:nvSpPr>
          <p:cNvPr id="157" name="TextBox 156"/>
          <p:cNvSpPr txBox="1"/>
          <p:nvPr/>
        </p:nvSpPr>
        <p:spPr>
          <a:xfrm>
            <a:off x="5486400" y="2624327"/>
            <a:ext cx="3392424" cy="548640"/>
          </a:xfrm>
          <a:prstGeom prst="rect">
            <a:avLst/>
          </a:prstGeom>
          <a:noFill/>
        </p:spPr>
        <p:txBody>
          <a:bodyPr wrap="square" anchor="t" lIns="27432" rIns="27432" tIns="27432" bIns="27432">
            <a:spAutoFit/>
          </a:bodyPr>
          <a:lstStyle/>
          <a:p>
            <a:pPr algn="l">
              <a:lnSpc>
                <a:spcPct val="115000"/>
              </a:lnSpc>
              <a:spcAft>
                <a:spcPts val="247"/>
              </a:spcAft>
            </a:pPr>
            <a:r>
              <a:rPr sz="1650" b="1">
                <a:solidFill>
                  <a:srgbClr val="172235"/>
                </a:solidFill>
                <a:latin typeface="Arial"/>
              </a:rPr>
              <a:t>2. F1-Score (F1 Exact &amp; F1@5%)</a:t>
            </a:r>
          </a:p>
        </p:txBody>
      </p:sp>
      <p:sp>
        <p:nvSpPr>
          <p:cNvPr id="158" name="TextBox 157"/>
          <p:cNvSpPr txBox="1"/>
          <p:nvPr/>
        </p:nvSpPr>
        <p:spPr>
          <a:xfrm>
            <a:off x="5486400" y="3172968"/>
            <a:ext cx="3392424" cy="3867912"/>
          </a:xfrm>
          <a:prstGeom prst="rect">
            <a:avLst/>
          </a:prstGeom>
          <a:noFill/>
        </p:spPr>
        <p:txBody>
          <a:bodyPr wrap="square" anchor="t" lIns="27432" rIns="27432" tIns="27432" bIns="27432">
            <a:spAutoFit/>
          </a:bodyPr>
          <a:lstStyle/>
          <a:p>
            <a:pPr algn="l">
              <a:lnSpc>
                <a:spcPct val="115000"/>
              </a:lnSpc>
              <a:spcAft>
                <a:spcPts val="225"/>
              </a:spcAft>
            </a:pPr>
            <a:r>
              <a:rPr sz="1500" b="0">
                <a:solidFill>
                  <a:srgbClr val="22282E"/>
                </a:solidFill>
                <a:latin typeface="Arial"/>
              </a:rPr>
              <a:t>⚖ Cân bằng Bắt đúng &amp; Bỏ sót:</a:t>
            </a:r>
          </a:p>
          <a:p>
            <a:pPr algn="l">
              <a:lnSpc>
                <a:spcPct val="115000"/>
              </a:lnSpc>
              <a:spcAft>
                <a:spcPts val="225"/>
              </a:spcAft>
            </a:pPr>
          </a:p>
          <a:p>
            <a:pPr algn="l">
              <a:lnSpc>
                <a:spcPct val="115000"/>
              </a:lnSpc>
              <a:spcAft>
                <a:spcPts val="225"/>
              </a:spcAft>
            </a:pPr>
            <a:r>
              <a:rPr sz="1500" b="0">
                <a:solidFill>
                  <a:srgbClr val="22282E"/>
                </a:solidFill>
                <a:latin typeface="Arial"/>
              </a:rPr>
              <a:t>• Ý nghĩa: Đánh giá chất lượng của từng trường thông tin riêng biệt.</a:t>
            </a:r>
          </a:p>
          <a:p>
            <a:pPr algn="l">
              <a:lnSpc>
                <a:spcPct val="115000"/>
              </a:lnSpc>
              <a:spcAft>
                <a:spcPts val="225"/>
              </a:spcAft>
            </a:pPr>
          </a:p>
          <a:p>
            <a:pPr algn="l">
              <a:lnSpc>
                <a:spcPct val="115000"/>
              </a:lnSpc>
              <a:spcAft>
                <a:spcPts val="225"/>
              </a:spcAft>
            </a:pPr>
            <a:r>
              <a:rPr sz="1500" b="0">
                <a:solidFill>
                  <a:srgbClr val="22282E"/>
                </a:solidFill>
                <a:latin typeface="Arial"/>
              </a:rPr>
              <a:t>• F1 Exact: Khớp chính xác 100% từng ký tự (dùng cho Ngày, Số hiệu, Tên người ký...).</a:t>
            </a:r>
          </a:p>
          <a:p>
            <a:pPr algn="l">
              <a:lnSpc>
                <a:spcPct val="115000"/>
              </a:lnSpc>
              <a:spcAft>
                <a:spcPts val="225"/>
              </a:spcAft>
            </a:pPr>
          </a:p>
          <a:p>
            <a:pPr algn="l">
              <a:lnSpc>
                <a:spcPct val="115000"/>
              </a:lnSpc>
              <a:spcAft>
                <a:spcPts val="225"/>
              </a:spcAft>
            </a:pPr>
            <a:r>
              <a:rPr sz="1500" b="0">
                <a:solidFill>
                  <a:srgbClr val="22282E"/>
                </a:solidFill>
                <a:latin typeface="Arial"/>
              </a:rPr>
              <a:t>• F1@5%: Cho phép sai lệch nhỏ (CER ≤ 5%) đối với các đoạn văn dài (Trích yếu, Cơ quan...).</a:t>
            </a:r>
          </a:p>
        </p:txBody>
      </p:sp>
      <p:sp>
        <p:nvSpPr>
          <p:cNvPr id="159" name="Rounded Rectangle 158"/>
          <p:cNvSpPr/>
          <p:nvPr/>
        </p:nvSpPr>
        <p:spPr>
          <a:xfrm>
            <a:off x="9326880" y="1874519"/>
            <a:ext cx="3794760" cy="530352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9528048" y="2020824"/>
            <a:ext cx="3392424"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60666D"/>
                </a:solidFill>
                <a:latin typeface="Arial"/>
              </a:rPr>
              <a:t>Ký tự</a:t>
            </a:r>
          </a:p>
        </p:txBody>
      </p:sp>
      <p:sp>
        <p:nvSpPr>
          <p:cNvPr id="161" name="TextBox 160"/>
          <p:cNvSpPr txBox="1"/>
          <p:nvPr/>
        </p:nvSpPr>
        <p:spPr>
          <a:xfrm>
            <a:off x="9528048" y="2624327"/>
            <a:ext cx="3392424" cy="548640"/>
          </a:xfrm>
          <a:prstGeom prst="rect">
            <a:avLst/>
          </a:prstGeom>
          <a:noFill/>
        </p:spPr>
        <p:txBody>
          <a:bodyPr wrap="square" anchor="t" lIns="27432" rIns="27432" tIns="27432" bIns="27432">
            <a:spAutoFit/>
          </a:bodyPr>
          <a:lstStyle/>
          <a:p>
            <a:pPr algn="l">
              <a:lnSpc>
                <a:spcPct val="115000"/>
              </a:lnSpc>
              <a:spcAft>
                <a:spcPts val="247"/>
              </a:spcAft>
            </a:pPr>
            <a:r>
              <a:rPr sz="1650" b="1">
                <a:solidFill>
                  <a:srgbClr val="172235"/>
                </a:solidFill>
                <a:latin typeface="Arial"/>
              </a:rPr>
              <a:t>3. CER (Character Error Rate)</a:t>
            </a:r>
          </a:p>
        </p:txBody>
      </p:sp>
      <p:sp>
        <p:nvSpPr>
          <p:cNvPr id="162" name="TextBox 161"/>
          <p:cNvSpPr txBox="1"/>
          <p:nvPr/>
        </p:nvSpPr>
        <p:spPr>
          <a:xfrm>
            <a:off x="9528048" y="3172968"/>
            <a:ext cx="3392424" cy="3867912"/>
          </a:xfrm>
          <a:prstGeom prst="rect">
            <a:avLst/>
          </a:prstGeom>
          <a:noFill/>
        </p:spPr>
        <p:txBody>
          <a:bodyPr wrap="square" anchor="t" lIns="27432" rIns="27432" tIns="27432" bIns="27432">
            <a:spAutoFit/>
          </a:bodyPr>
          <a:lstStyle/>
          <a:p>
            <a:pPr algn="l">
              <a:lnSpc>
                <a:spcPct val="115000"/>
              </a:lnSpc>
              <a:spcAft>
                <a:spcPts val="225"/>
              </a:spcAft>
            </a:pPr>
            <a:r>
              <a:rPr sz="1500" b="0">
                <a:solidFill>
                  <a:srgbClr val="22282E"/>
                </a:solidFill>
                <a:latin typeface="Arial"/>
              </a:rPr>
              <a:t>🔍 Tỷ lệ sai sót ký tự:</a:t>
            </a:r>
          </a:p>
          <a:p>
            <a:pPr algn="l">
              <a:lnSpc>
                <a:spcPct val="115000"/>
              </a:lnSpc>
              <a:spcAft>
                <a:spcPts val="225"/>
              </a:spcAft>
            </a:pPr>
          </a:p>
          <a:p>
            <a:pPr algn="l">
              <a:lnSpc>
                <a:spcPct val="115000"/>
              </a:lnSpc>
              <a:spcAft>
                <a:spcPts val="225"/>
              </a:spcAft>
            </a:pPr>
            <a:r>
              <a:rPr sz="1500" b="0">
                <a:solidFill>
                  <a:srgbClr val="22282E"/>
                </a:solidFill>
                <a:latin typeface="Arial"/>
              </a:rPr>
              <a:t>• Ý nghĩa: Đo lường tỷ lệ ký tự bị nhận dạng Sai (S), Bỏ sót (D) hoặc Thừa (I) trên độ dài văn bản gốc.</a:t>
            </a:r>
          </a:p>
          <a:p>
            <a:pPr algn="l">
              <a:lnSpc>
                <a:spcPct val="115000"/>
              </a:lnSpc>
              <a:spcAft>
                <a:spcPts val="225"/>
              </a:spcAft>
            </a:pPr>
          </a:p>
          <a:p>
            <a:pPr algn="l">
              <a:lnSpc>
                <a:spcPct val="115000"/>
              </a:lnSpc>
              <a:spcAft>
                <a:spcPts val="225"/>
              </a:spcAft>
            </a:pPr>
            <a:r>
              <a:rPr sz="1500" b="0">
                <a:solidFill>
                  <a:srgbClr val="22282E"/>
                </a:solidFill>
                <a:latin typeface="Arial"/>
              </a:rPr>
              <a:t>• Công thức: CER = (S + D + I) / Tổng ký tự GT.</a:t>
            </a:r>
          </a:p>
          <a:p>
            <a:pPr algn="l">
              <a:lnSpc>
                <a:spcPct val="115000"/>
              </a:lnSpc>
              <a:spcAft>
                <a:spcPts val="225"/>
              </a:spcAft>
            </a:pPr>
          </a:p>
          <a:p>
            <a:pPr algn="l">
              <a:lnSpc>
                <a:spcPct val="115000"/>
              </a:lnSpc>
              <a:spcAft>
                <a:spcPts val="225"/>
              </a:spcAft>
            </a:pPr>
            <a:r>
              <a:rPr sz="1500" b="0">
                <a:solidFill>
                  <a:srgbClr val="22282E"/>
                </a:solidFill>
                <a:latin typeface="Arial"/>
              </a:rPr>
              <a:t>• Chuẩn @5%: Sai không quá 5 trên 100 ký tự thì vẫn được tính là Đạt (Acceptable).</a:t>
            </a:r>
          </a:p>
        </p:txBody>
      </p:sp>
      <p:sp>
        <p:nvSpPr>
          <p:cNvPr id="163" name="Rounded Rectangle 162"/>
          <p:cNvSpPr/>
          <p:nvPr/>
        </p:nvSpPr>
        <p:spPr>
          <a:xfrm>
            <a:off x="13368528" y="1874519"/>
            <a:ext cx="3794760" cy="530352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3569696" y="2020824"/>
            <a:ext cx="3392424"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1A7F50"/>
                </a:solidFill>
                <a:latin typeface="Arial"/>
              </a:rPr>
              <a:t>Đối chuẩn</a:t>
            </a:r>
          </a:p>
        </p:txBody>
      </p:sp>
      <p:sp>
        <p:nvSpPr>
          <p:cNvPr id="165" name="TextBox 164"/>
          <p:cNvSpPr txBox="1"/>
          <p:nvPr/>
        </p:nvSpPr>
        <p:spPr>
          <a:xfrm>
            <a:off x="13569696" y="2624327"/>
            <a:ext cx="3392424" cy="548640"/>
          </a:xfrm>
          <a:prstGeom prst="rect">
            <a:avLst/>
          </a:prstGeom>
          <a:noFill/>
        </p:spPr>
        <p:txBody>
          <a:bodyPr wrap="square" anchor="t" lIns="27432" rIns="27432" tIns="27432" bIns="27432">
            <a:spAutoFit/>
          </a:bodyPr>
          <a:lstStyle/>
          <a:p>
            <a:pPr algn="l">
              <a:lnSpc>
                <a:spcPct val="115000"/>
              </a:lnSpc>
              <a:spcAft>
                <a:spcPts val="247"/>
              </a:spcAft>
            </a:pPr>
            <a:r>
              <a:rPr sz="1650" b="1">
                <a:solidFill>
                  <a:srgbClr val="172235"/>
                </a:solidFill>
                <a:latin typeface="Arial"/>
              </a:rPr>
              <a:t>4. VAI-style Accuracy</a:t>
            </a:r>
          </a:p>
        </p:txBody>
      </p:sp>
      <p:sp>
        <p:nvSpPr>
          <p:cNvPr id="166" name="TextBox 165"/>
          <p:cNvSpPr txBox="1"/>
          <p:nvPr/>
        </p:nvSpPr>
        <p:spPr>
          <a:xfrm>
            <a:off x="13569696" y="3172968"/>
            <a:ext cx="3392424" cy="3867912"/>
          </a:xfrm>
          <a:prstGeom prst="rect">
            <a:avLst/>
          </a:prstGeom>
          <a:noFill/>
        </p:spPr>
        <p:txBody>
          <a:bodyPr wrap="square" anchor="t" lIns="27432" rIns="27432" tIns="27432" bIns="27432">
            <a:spAutoFit/>
          </a:bodyPr>
          <a:lstStyle/>
          <a:p>
            <a:pPr algn="l">
              <a:lnSpc>
                <a:spcPct val="115000"/>
              </a:lnSpc>
              <a:spcAft>
                <a:spcPts val="225"/>
              </a:spcAft>
            </a:pPr>
            <a:r>
              <a:rPr sz="1500" b="0">
                <a:solidFill>
                  <a:srgbClr val="22282E"/>
                </a:solidFill>
                <a:latin typeface="Arial"/>
              </a:rPr>
              <a:t>📊 Thước đo đối chuẩn thương mại:</a:t>
            </a:r>
          </a:p>
          <a:p>
            <a:pPr algn="l">
              <a:lnSpc>
                <a:spcPct val="115000"/>
              </a:lnSpc>
              <a:spcAft>
                <a:spcPts val="225"/>
              </a:spcAft>
            </a:pPr>
          </a:p>
          <a:p>
            <a:pPr algn="l">
              <a:lnSpc>
                <a:spcPct val="115000"/>
              </a:lnSpc>
              <a:spcAft>
                <a:spcPts val="225"/>
              </a:spcAft>
            </a:pPr>
            <a:r>
              <a:rPr sz="1500" b="0">
                <a:solidFill>
                  <a:srgbClr val="22282E"/>
                </a:solidFill>
                <a:latin typeface="Arial"/>
              </a:rPr>
              <a:t>• Ý nghĩa: Độ chính xác ký tự trung bình trên toàn bộ văn bản theo công thức của Viettel AI.</a:t>
            </a:r>
          </a:p>
          <a:p>
            <a:pPr algn="l">
              <a:lnSpc>
                <a:spcPct val="115000"/>
              </a:lnSpc>
              <a:spcAft>
                <a:spcPts val="225"/>
              </a:spcAft>
            </a:pPr>
          </a:p>
          <a:p>
            <a:pPr algn="l">
              <a:lnSpc>
                <a:spcPct val="115000"/>
              </a:lnSpc>
              <a:spcAft>
                <a:spcPts val="225"/>
              </a:spcAft>
            </a:pPr>
            <a:r>
              <a:rPr sz="1500" b="0">
                <a:solidFill>
                  <a:srgbClr val="22282E"/>
                </a:solidFill>
                <a:latin typeface="Arial"/>
              </a:rPr>
              <a:t>• Công thức: AoC = 1 - Số lỗi / Max(độ dài GT, độ dài AI).</a:t>
            </a:r>
          </a:p>
          <a:p>
            <a:pPr algn="l">
              <a:lnSpc>
                <a:spcPct val="115000"/>
              </a:lnSpc>
              <a:spcAft>
                <a:spcPts val="225"/>
              </a:spcAft>
            </a:pPr>
          </a:p>
          <a:p>
            <a:pPr algn="l">
              <a:lnSpc>
                <a:spcPct val="115000"/>
              </a:lnSpc>
              <a:spcAft>
                <a:spcPts val="225"/>
              </a:spcAft>
            </a:pPr>
            <a:r>
              <a:rPr sz="1500" b="0">
                <a:solidFill>
                  <a:srgbClr val="22282E"/>
                </a:solidFill>
                <a:latin typeface="Arial"/>
              </a:rPr>
              <a:t>• Mục đích: So sánh khách quan và công bằng với các giải pháp thương mại lớn trên thị trường.</a:t>
            </a:r>
          </a:p>
        </p:txBody>
      </p:sp>
      <p:sp>
        <p:nvSpPr>
          <p:cNvPr id="167" name="Rounded Rectangle 166"/>
          <p:cNvSpPr/>
          <p:nvPr/>
        </p:nvSpPr>
        <p:spPr>
          <a:xfrm>
            <a:off x="1243584" y="7452360"/>
            <a:ext cx="15910559" cy="749808"/>
          </a:xfrm>
          <a:prstGeom prst="roundRect">
            <a:avLst/>
          </a:prstGeom>
          <a:solidFill>
            <a:srgbClr val="FDF2F3"/>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1463040" y="7562088"/>
            <a:ext cx="15453359" cy="530352"/>
          </a:xfrm>
          <a:prstGeom prst="rect">
            <a:avLst/>
          </a:prstGeom>
          <a:noFill/>
        </p:spPr>
        <p:txBody>
          <a:bodyPr wrap="square" anchor="t" lIns="27432" rIns="27432" tIns="27432" bIns="27432">
            <a:spAutoFit/>
          </a:bodyPr>
          <a:lstStyle/>
          <a:p>
            <a:pPr algn="l">
              <a:lnSpc>
                <a:spcPct val="115000"/>
              </a:lnSpc>
              <a:spcAft>
                <a:spcPts val="292"/>
              </a:spcAft>
            </a:pPr>
            <a:r>
              <a:rPr sz="1950" b="1">
                <a:solidFill>
                  <a:srgbClr val="172235"/>
                </a:solidFill>
                <a:latin typeface="Arial"/>
              </a:rPr>
              <a:t>Document Success đại diện cho ứng dụng nghiệp vụ; F1/CER đo chất lượng từng trường; VAI ACC đo năng lực OCR thô.</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Kiến trúc Pipeline xử lý tự động end-to-end</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module/extract/vbhc_rules.py · Pipeline 01</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08</a:t>
            </a:r>
          </a:p>
        </p:txBody>
      </p:sp>
      <p:sp>
        <p:nvSpPr>
          <p:cNvPr id="149" name="Rounded Rectangle 148"/>
          <p:cNvSpPr/>
          <p:nvPr/>
        </p:nvSpPr>
        <p:spPr>
          <a:xfrm>
            <a:off x="1243584" y="1280160"/>
            <a:ext cx="2505456"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414016"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03 · KIẾN TRÚC</a:t>
            </a:r>
          </a:p>
        </p:txBody>
      </p:sp>
      <p:sp>
        <p:nvSpPr>
          <p:cNvPr id="151" name="Rounded Rectangle 150"/>
          <p:cNvSpPr/>
          <p:nvPr/>
        </p:nvSpPr>
        <p:spPr>
          <a:xfrm>
            <a:off x="1243584" y="2066543"/>
            <a:ext cx="2990088" cy="132588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408176" y="2423160"/>
            <a:ext cx="2679192" cy="594360"/>
          </a:xfrm>
          <a:prstGeom prst="rect">
            <a:avLst/>
          </a:prstGeom>
          <a:noFill/>
        </p:spPr>
        <p:txBody>
          <a:bodyPr wrap="square" anchor="t" lIns="27432" rIns="27432" tIns="27432" bIns="27432">
            <a:spAutoFit/>
          </a:bodyPr>
          <a:lstStyle/>
          <a:p>
            <a:pPr algn="ctr">
              <a:lnSpc>
                <a:spcPct val="115000"/>
              </a:lnSpc>
              <a:spcAft>
                <a:spcPts val="285"/>
              </a:spcAft>
            </a:pPr>
            <a:r>
              <a:rPr sz="1900" b="1">
                <a:solidFill>
                  <a:srgbClr val="172235"/>
                </a:solidFill>
                <a:latin typeface="Arial"/>
              </a:rPr>
              <a:t>PDF Đầu vào</a:t>
            </a:r>
          </a:p>
        </p:txBody>
      </p:sp>
      <p:sp>
        <p:nvSpPr>
          <p:cNvPr id="153" name="Rounded Rectangle 152"/>
          <p:cNvSpPr/>
          <p:nvPr/>
        </p:nvSpPr>
        <p:spPr>
          <a:xfrm>
            <a:off x="4462272" y="2066543"/>
            <a:ext cx="2990088" cy="132588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4626864" y="2423160"/>
            <a:ext cx="2679192" cy="594360"/>
          </a:xfrm>
          <a:prstGeom prst="rect">
            <a:avLst/>
          </a:prstGeom>
          <a:noFill/>
        </p:spPr>
        <p:txBody>
          <a:bodyPr wrap="square" anchor="t" lIns="27432" rIns="27432" tIns="27432" bIns="27432">
            <a:spAutoFit/>
          </a:bodyPr>
          <a:lstStyle/>
          <a:p>
            <a:pPr algn="ctr">
              <a:lnSpc>
                <a:spcPct val="115000"/>
              </a:lnSpc>
              <a:spcAft>
                <a:spcPts val="285"/>
              </a:spcAft>
            </a:pPr>
            <a:r>
              <a:rPr sz="1900" b="1">
                <a:solidFill>
                  <a:srgbClr val="172235"/>
                </a:solidFill>
                <a:latin typeface="Arial"/>
              </a:rPr>
              <a:t>Layout + Line OCR</a:t>
            </a:r>
          </a:p>
        </p:txBody>
      </p:sp>
      <p:sp>
        <p:nvSpPr>
          <p:cNvPr id="155" name="Rounded Rectangle 154"/>
          <p:cNvSpPr/>
          <p:nvPr/>
        </p:nvSpPr>
        <p:spPr>
          <a:xfrm>
            <a:off x="7680960" y="2066543"/>
            <a:ext cx="2990088" cy="132588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7845552" y="2423160"/>
            <a:ext cx="2679192" cy="594360"/>
          </a:xfrm>
          <a:prstGeom prst="rect">
            <a:avLst/>
          </a:prstGeom>
          <a:noFill/>
        </p:spPr>
        <p:txBody>
          <a:bodyPr wrap="square" anchor="t" lIns="27432" rIns="27432" tIns="27432" bIns="27432">
            <a:spAutoFit/>
          </a:bodyPr>
          <a:lstStyle/>
          <a:p>
            <a:pPr algn="ctr">
              <a:lnSpc>
                <a:spcPct val="115000"/>
              </a:lnSpc>
              <a:spcAft>
                <a:spcPts val="285"/>
              </a:spcAft>
            </a:pPr>
            <a:r>
              <a:rPr sz="1900" b="1">
                <a:solidFill>
                  <a:srgbClr val="172235"/>
                </a:solidFill>
                <a:latin typeface="Arial"/>
              </a:rPr>
              <a:t>Trích xuất KIE</a:t>
            </a:r>
          </a:p>
        </p:txBody>
      </p:sp>
      <p:sp>
        <p:nvSpPr>
          <p:cNvPr id="157" name="Rounded Rectangle 156"/>
          <p:cNvSpPr/>
          <p:nvPr/>
        </p:nvSpPr>
        <p:spPr>
          <a:xfrm>
            <a:off x="10899648" y="2066543"/>
            <a:ext cx="2990088" cy="132588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1064240" y="2423160"/>
            <a:ext cx="2679192" cy="594360"/>
          </a:xfrm>
          <a:prstGeom prst="rect">
            <a:avLst/>
          </a:prstGeom>
          <a:noFill/>
        </p:spPr>
        <p:txBody>
          <a:bodyPr wrap="square" anchor="t" lIns="27432" rIns="27432" tIns="27432" bIns="27432">
            <a:spAutoFit/>
          </a:bodyPr>
          <a:lstStyle/>
          <a:p>
            <a:pPr algn="ctr">
              <a:lnSpc>
                <a:spcPct val="115000"/>
              </a:lnSpc>
              <a:spcAft>
                <a:spcPts val="285"/>
              </a:spcAft>
            </a:pPr>
            <a:r>
              <a:rPr sz="1900" b="1">
                <a:solidFill>
                  <a:srgbClr val="172235"/>
                </a:solidFill>
                <a:latin typeface="Arial"/>
              </a:rPr>
              <a:t>Chuẩn hóa API</a:t>
            </a:r>
          </a:p>
        </p:txBody>
      </p:sp>
      <p:sp>
        <p:nvSpPr>
          <p:cNvPr id="159" name="Rounded Rectangle 158"/>
          <p:cNvSpPr/>
          <p:nvPr/>
        </p:nvSpPr>
        <p:spPr>
          <a:xfrm>
            <a:off x="14118336" y="2066543"/>
            <a:ext cx="2990088" cy="132588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4282928" y="2423160"/>
            <a:ext cx="2679192" cy="594360"/>
          </a:xfrm>
          <a:prstGeom prst="rect">
            <a:avLst/>
          </a:prstGeom>
          <a:noFill/>
        </p:spPr>
        <p:txBody>
          <a:bodyPr wrap="square" anchor="t" lIns="27432" rIns="27432" tIns="27432" bIns="27432">
            <a:spAutoFit/>
          </a:bodyPr>
          <a:lstStyle/>
          <a:p>
            <a:pPr algn="ctr">
              <a:lnSpc>
                <a:spcPct val="115000"/>
              </a:lnSpc>
              <a:spcAft>
                <a:spcPts val="285"/>
              </a:spcAft>
            </a:pPr>
            <a:r>
              <a:rPr sz="1900" b="1">
                <a:solidFill>
                  <a:srgbClr val="172235"/>
                </a:solidFill>
                <a:latin typeface="Arial"/>
              </a:rPr>
              <a:t>Benchmark &amp; Audit</a:t>
            </a:r>
          </a:p>
        </p:txBody>
      </p:sp>
      <p:sp>
        <p:nvSpPr>
          <p:cNvPr id="161" name="Rounded Rectangle 160"/>
          <p:cNvSpPr/>
          <p:nvPr/>
        </p:nvSpPr>
        <p:spPr>
          <a:xfrm>
            <a:off x="1243584" y="4005072"/>
            <a:ext cx="5074920" cy="320040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444752" y="4206240"/>
            <a:ext cx="4672583"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Chuẩn bị &amp; Tiền xử lý</a:t>
            </a:r>
          </a:p>
        </p:txBody>
      </p:sp>
      <p:sp>
        <p:nvSpPr>
          <p:cNvPr id="163" name="TextBox 162"/>
          <p:cNvSpPr txBox="1"/>
          <p:nvPr/>
        </p:nvSpPr>
        <p:spPr>
          <a:xfrm>
            <a:off x="1444752" y="4754879"/>
            <a:ext cx="4672583" cy="2313432"/>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Phân tích cấu trúc trang PDF, tách dòng văn bản, khử nhiễu và nhận dạng ký tự tiếng Việt với VietOCR.</a:t>
            </a:r>
          </a:p>
        </p:txBody>
      </p:sp>
      <p:sp>
        <p:nvSpPr>
          <p:cNvPr id="164" name="Rounded Rectangle 163"/>
          <p:cNvSpPr/>
          <p:nvPr/>
        </p:nvSpPr>
        <p:spPr>
          <a:xfrm>
            <a:off x="6574536" y="4005072"/>
            <a:ext cx="5074920" cy="320040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6775704" y="4206240"/>
            <a:ext cx="4672583"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Quy tắc KIE &amp; Bóc tách</a:t>
            </a:r>
          </a:p>
        </p:txBody>
      </p:sp>
      <p:sp>
        <p:nvSpPr>
          <p:cNvPr id="166" name="TextBox 165"/>
          <p:cNvSpPr txBox="1"/>
          <p:nvPr/>
        </p:nvSpPr>
        <p:spPr>
          <a:xfrm>
            <a:off x="6775704" y="4754879"/>
            <a:ext cx="4672583" cy="2313432"/>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Áp dụng tập luật hình học, neo vị trí (anchor) và biểu thức chính quy để trích xuất 13 trường nghiệp vụ.</a:t>
            </a:r>
          </a:p>
        </p:txBody>
      </p:sp>
      <p:sp>
        <p:nvSpPr>
          <p:cNvPr id="167" name="Rounded Rectangle 166"/>
          <p:cNvSpPr/>
          <p:nvPr/>
        </p:nvSpPr>
        <p:spPr>
          <a:xfrm>
            <a:off x="11905488" y="4005072"/>
            <a:ext cx="5074920" cy="320040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12106656" y="4206240"/>
            <a:ext cx="4672583"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Đánh giá &amp; Truy vết</a:t>
            </a:r>
          </a:p>
        </p:txBody>
      </p:sp>
      <p:sp>
        <p:nvSpPr>
          <p:cNvPr id="169" name="TextBox 168"/>
          <p:cNvSpPr txBox="1"/>
          <p:nvPr/>
        </p:nvSpPr>
        <p:spPr>
          <a:xfrm>
            <a:off x="12106656" y="4754879"/>
            <a:ext cx="4672583" cy="2313432"/>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Đo đạc tự động Document Success, VAI ACC; lưu trữ trace v2, bbox và OCR gốc để phân tích nguyên nhân lỗi.</a:t>
            </a:r>
          </a:p>
        </p:txBody>
      </p:sp>
      <p:sp>
        <p:nvSpPr>
          <p:cNvPr id="170" name="Rounded Rectangle 169"/>
          <p:cNvSpPr/>
          <p:nvPr/>
        </p:nvSpPr>
        <p:spPr>
          <a:xfrm>
            <a:off x="1243584" y="7589520"/>
            <a:ext cx="15910559" cy="749808"/>
          </a:xfrm>
          <a:prstGeom prst="roundRect">
            <a:avLst/>
          </a:prstGeom>
          <a:solidFill>
            <a:srgbClr val="FDF2F3"/>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1463040" y="7699248"/>
            <a:ext cx="15453359" cy="530352"/>
          </a:xfrm>
          <a:prstGeom prst="rect">
            <a:avLst/>
          </a:prstGeom>
          <a:noFill/>
        </p:spPr>
        <p:txBody>
          <a:bodyPr wrap="square" anchor="t" lIns="27432" rIns="27432" tIns="27432" bIns="27432">
            <a:spAutoFit/>
          </a:bodyPr>
          <a:lstStyle/>
          <a:p>
            <a:pPr algn="l">
              <a:lnSpc>
                <a:spcPct val="115000"/>
              </a:lnSpc>
              <a:spcAft>
                <a:spcPts val="292"/>
              </a:spcAft>
            </a:pPr>
            <a:r>
              <a:rPr sz="1950" b="1">
                <a:solidFill>
                  <a:srgbClr val="172235"/>
                </a:solidFill>
                <a:latin typeface="Arial"/>
              </a:rPr>
              <a:t>Mô hình vận hành hoàn toàn độc lập, đảm bảo bảo mật dữ liệu và tự chủ về tài nguyên tính toán.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Kết quả tổng thể — So sánh OCR Nội bộ vs VAI OCR</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ocr-collab/reports/vai_acc_v1_20261002/ · Đánh giá trên cùng 100 PDF &amp; GT chuẩn</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09</a:t>
            </a:r>
          </a:p>
        </p:txBody>
      </p:sp>
      <p:sp>
        <p:nvSpPr>
          <p:cNvPr id="149" name="Rounded Rectangle 148"/>
          <p:cNvSpPr/>
          <p:nvPr/>
        </p:nvSpPr>
        <p:spPr>
          <a:xfrm>
            <a:off x="1243584" y="1280160"/>
            <a:ext cx="2304288"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212848"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04 · KẾT QUẢ</a:t>
            </a:r>
          </a:p>
        </p:txBody>
      </p:sp>
      <p:sp>
        <p:nvSpPr>
          <p:cNvPr id="151" name="Rounded Rectangle 150"/>
          <p:cNvSpPr/>
          <p:nvPr/>
        </p:nvSpPr>
        <p:spPr>
          <a:xfrm>
            <a:off x="1243584" y="1874519"/>
            <a:ext cx="5074920" cy="301752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444752" y="2020824"/>
            <a:ext cx="4672583"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EE0033"/>
                </a:solidFill>
                <a:latin typeface="Arial"/>
              </a:rPr>
              <a:t>36% vs 59%</a:t>
            </a:r>
          </a:p>
        </p:txBody>
      </p:sp>
      <p:sp>
        <p:nvSpPr>
          <p:cNvPr id="153" name="TextBox 152"/>
          <p:cNvSpPr txBox="1"/>
          <p:nvPr/>
        </p:nvSpPr>
        <p:spPr>
          <a:xfrm>
            <a:off x="1444752" y="2624327"/>
            <a:ext cx="4672583"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Document Success@5%</a:t>
            </a:r>
          </a:p>
        </p:txBody>
      </p:sp>
      <p:sp>
        <p:nvSpPr>
          <p:cNvPr id="154" name="TextBox 153"/>
          <p:cNvSpPr txBox="1"/>
          <p:nvPr/>
        </p:nvSpPr>
        <p:spPr>
          <a:xfrm>
            <a:off x="1444752" y="3172968"/>
            <a:ext cx="4672583" cy="1581912"/>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Nội bộ: 36 / 100 văn bản (36%)</a:t>
            </a:r>
          </a:p>
          <a:p>
            <a:pPr algn="l">
              <a:lnSpc>
                <a:spcPct val="115000"/>
              </a:lnSpc>
              <a:spcAft>
                <a:spcPts val="254"/>
              </a:spcAft>
            </a:pPr>
            <a:r>
              <a:rPr sz="1700" b="0">
                <a:solidFill>
                  <a:srgbClr val="22282E"/>
                </a:solidFill>
                <a:latin typeface="Arial"/>
              </a:rPr>
              <a:t>VAI OCR: 59 / 100 văn bản (59%)</a:t>
            </a:r>
          </a:p>
          <a:p>
            <a:pPr algn="l">
              <a:lnSpc>
                <a:spcPct val="115000"/>
              </a:lnSpc>
              <a:spcAft>
                <a:spcPts val="254"/>
              </a:spcAft>
            </a:pPr>
            <a:r>
              <a:rPr sz="1700" b="0">
                <a:solidFill>
                  <a:srgbClr val="22282E"/>
                </a:solidFill>
                <a:latin typeface="Arial"/>
              </a:rPr>
              <a:t>Mục tiêu PoC: ≥ 80% (80 văn bản)</a:t>
            </a:r>
          </a:p>
        </p:txBody>
      </p:sp>
      <p:sp>
        <p:nvSpPr>
          <p:cNvPr id="155" name="Rounded Rectangle 154"/>
          <p:cNvSpPr/>
          <p:nvPr/>
        </p:nvSpPr>
        <p:spPr>
          <a:xfrm>
            <a:off x="6519672" y="1874519"/>
            <a:ext cx="5074920" cy="301752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720840" y="2020824"/>
            <a:ext cx="4672583"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EE0033"/>
                </a:solidFill>
                <a:latin typeface="Arial"/>
              </a:rPr>
              <a:t>89,0% vs 92,4%</a:t>
            </a:r>
          </a:p>
        </p:txBody>
      </p:sp>
      <p:sp>
        <p:nvSpPr>
          <p:cNvPr id="157" name="TextBox 156"/>
          <p:cNvSpPr txBox="1"/>
          <p:nvPr/>
        </p:nvSpPr>
        <p:spPr>
          <a:xfrm>
            <a:off x="6720840" y="2624327"/>
            <a:ext cx="4672583"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Độ chính xác ký tự (12 trường)</a:t>
            </a:r>
          </a:p>
        </p:txBody>
      </p:sp>
      <p:sp>
        <p:nvSpPr>
          <p:cNvPr id="158" name="TextBox 157"/>
          <p:cNvSpPr txBox="1"/>
          <p:nvPr/>
        </p:nvSpPr>
        <p:spPr>
          <a:xfrm>
            <a:off x="6720840" y="3172968"/>
            <a:ext cx="4672583" cy="1581912"/>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Nội bộ: 89,03% ACC</a:t>
            </a:r>
          </a:p>
          <a:p>
            <a:pPr algn="l">
              <a:lnSpc>
                <a:spcPct val="115000"/>
              </a:lnSpc>
              <a:spcAft>
                <a:spcPts val="254"/>
              </a:spcAft>
            </a:pPr>
            <a:r>
              <a:rPr sz="1700" b="0">
                <a:solidFill>
                  <a:srgbClr val="22282E"/>
                </a:solidFill>
                <a:latin typeface="Arial"/>
              </a:rPr>
              <a:t>VAI OCR: 92,38% ACC</a:t>
            </a:r>
          </a:p>
          <a:p>
            <a:pPr algn="l">
              <a:lnSpc>
                <a:spcPct val="115000"/>
              </a:lnSpc>
              <a:spcAft>
                <a:spcPts val="254"/>
              </a:spcAft>
            </a:pPr>
            <a:r>
              <a:rPr sz="1700" b="0">
                <a:solidFill>
                  <a:srgbClr val="22282E"/>
                </a:solidFill>
                <a:latin typeface="Arial"/>
              </a:rPr>
              <a:t>Khoảng cách chênh lệch: ~3,35%</a:t>
            </a:r>
          </a:p>
        </p:txBody>
      </p:sp>
      <p:sp>
        <p:nvSpPr>
          <p:cNvPr id="159" name="Rounded Rectangle 158"/>
          <p:cNvSpPr/>
          <p:nvPr/>
        </p:nvSpPr>
        <p:spPr>
          <a:xfrm>
            <a:off x="11795760" y="1874519"/>
            <a:ext cx="5376672" cy="301752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1996928" y="2020824"/>
            <a:ext cx="4974336"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EE0033"/>
                </a:solidFill>
                <a:latin typeface="Arial"/>
              </a:rPr>
              <a:t>91,5% vs 94,0%</a:t>
            </a:r>
          </a:p>
        </p:txBody>
      </p:sp>
      <p:sp>
        <p:nvSpPr>
          <p:cNvPr id="161" name="TextBox 160"/>
          <p:cNvSpPr txBox="1"/>
          <p:nvPr/>
        </p:nvSpPr>
        <p:spPr>
          <a:xfrm>
            <a:off x="11996928" y="2624327"/>
            <a:ext cx="4974336"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Độ chính xác (6 trường chung)</a:t>
            </a:r>
          </a:p>
        </p:txBody>
      </p:sp>
      <p:sp>
        <p:nvSpPr>
          <p:cNvPr id="162" name="TextBox 161"/>
          <p:cNvSpPr txBox="1"/>
          <p:nvPr/>
        </p:nvSpPr>
        <p:spPr>
          <a:xfrm>
            <a:off x="11996928" y="3172968"/>
            <a:ext cx="4974336" cy="1581912"/>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Nội bộ: 91,45% ACC</a:t>
            </a:r>
          </a:p>
          <a:p>
            <a:pPr algn="l">
              <a:lnSpc>
                <a:spcPct val="115000"/>
              </a:lnSpc>
              <a:spcAft>
                <a:spcPts val="254"/>
              </a:spcAft>
            </a:pPr>
            <a:r>
              <a:rPr sz="1700" b="0">
                <a:solidFill>
                  <a:srgbClr val="22282E"/>
                </a:solidFill>
                <a:latin typeface="Arial"/>
              </a:rPr>
              <a:t>VAI OCR: 94,04% ACC</a:t>
            </a:r>
          </a:p>
          <a:p>
            <a:pPr algn="l">
              <a:lnSpc>
                <a:spcPct val="115000"/>
              </a:lnSpc>
              <a:spcAft>
                <a:spcPts val="254"/>
              </a:spcAft>
            </a:pPr>
            <a:r>
              <a:rPr sz="1700" b="0">
                <a:solidFill>
                  <a:srgbClr val="22282E"/>
                </a:solidFill>
                <a:latin typeface="Arial"/>
              </a:rPr>
              <a:t>(Gồm: code, date, sender, type, signer, title)</a:t>
            </a:r>
          </a:p>
        </p:txBody>
      </p:sp>
      <p:sp>
        <p:nvSpPr>
          <p:cNvPr id="163" name="Rounded Rectangle 162"/>
          <p:cNvSpPr/>
          <p:nvPr/>
        </p:nvSpPr>
        <p:spPr>
          <a:xfrm>
            <a:off x="1243584" y="5166360"/>
            <a:ext cx="15910559" cy="2103120"/>
          </a:xfrm>
          <a:prstGeom prst="roundRect">
            <a:avLst/>
          </a:prstGeom>
          <a:solidFill>
            <a:srgbClr val="FDF2F3"/>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444752" y="5367528"/>
            <a:ext cx="15508223"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Nhận định tổng quan từ Ban Dự án</a:t>
            </a:r>
          </a:p>
        </p:txBody>
      </p:sp>
      <p:sp>
        <p:nvSpPr>
          <p:cNvPr id="165" name="TextBox 164"/>
          <p:cNvSpPr txBox="1"/>
          <p:nvPr/>
        </p:nvSpPr>
        <p:spPr>
          <a:xfrm>
            <a:off x="1444752" y="5916168"/>
            <a:ext cx="15508223" cy="1216152"/>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 Độ chính xác ở mức độ ký tự của cả 2 hệ thống đều đạt mức khá cao (xấp xỉ 90% - 94%), cho thấy năng lực nhận diện chữ tiếng Việt tốt.</a:t>
            </a:r>
          </a:p>
          <a:p>
            <a:pPr algn="l">
              <a:lnSpc>
                <a:spcPct val="115000"/>
              </a:lnSpc>
              <a:spcAft>
                <a:spcPts val="254"/>
              </a:spcAft>
            </a:pPr>
            <a:r>
              <a:rPr sz="1700" b="0">
                <a:solidFill>
                  <a:srgbClr val="22282E"/>
                </a:solidFill>
                <a:latin typeface="Arial"/>
              </a:rPr>
              <a:t>• Tuy nhiên, tỷ lệ văn bản đạt hoàn hảo 7 trường bắt buộc (Document Success) còn thấp (36% và 59%), cả 2 đều chưa đạt mốc PoC 80%.</a:t>
            </a:r>
          </a:p>
          <a:p>
            <a:pPr algn="l">
              <a:lnSpc>
                <a:spcPct val="115000"/>
              </a:lnSpc>
              <a:spcAft>
                <a:spcPts val="254"/>
              </a:spcAft>
            </a:pPr>
            <a:r>
              <a:rPr sz="1700" b="0">
                <a:solidFill>
                  <a:srgbClr val="22282E"/>
                </a:solidFill>
                <a:latin typeface="Arial"/>
              </a:rPr>
              <a:t>• Nguyên nhân chính: Chỉ cần sai sót 1 ký tự ở trường bắt buộc (như ngày ban hành hoặc số hiệu) là văn bản bị tính không đạt.</a:t>
            </a:r>
          </a:p>
        </p:txBody>
      </p:sp>
      <p:sp>
        <p:nvSpPr>
          <p:cNvPr id="166" name="Rounded Rectangle 165"/>
          <p:cNvSpPr/>
          <p:nvPr/>
        </p:nvSpPr>
        <p:spPr>
          <a:xfrm>
            <a:off x="1243584" y="7543800"/>
            <a:ext cx="15910559" cy="749808"/>
          </a:xfrm>
          <a:prstGeom prst="roundRect">
            <a:avLst/>
          </a:prstGeom>
          <a:solidFill>
            <a:srgbClr val="FDF2F3"/>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463040" y="7653527"/>
            <a:ext cx="15453359" cy="530352"/>
          </a:xfrm>
          <a:prstGeom prst="rect">
            <a:avLst/>
          </a:prstGeom>
          <a:noFill/>
        </p:spPr>
        <p:txBody>
          <a:bodyPr wrap="square" anchor="t" lIns="27432" rIns="27432" tIns="27432" bIns="27432">
            <a:spAutoFit/>
          </a:bodyPr>
          <a:lstStyle/>
          <a:p>
            <a:pPr algn="l">
              <a:lnSpc>
                <a:spcPct val="115000"/>
              </a:lnSpc>
              <a:spcAft>
                <a:spcPts val="292"/>
              </a:spcAft>
            </a:pPr>
            <a:r>
              <a:rPr sz="1950" b="1">
                <a:solidFill>
                  <a:srgbClr val="172235"/>
                </a:solidFill>
                <a:latin typeface="Arial"/>
              </a:rPr>
              <a:t>ACC là chỉ số tham chiếu đối chuẩn; quyết định chất lượng ứng dụng nằm ở Document Success@5%.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Thời gian xử lý &amp; Tài nguyên hệ thống</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docs/ocr_pipeline_benchmark_metrics.md §8 · Benchmark Quadro RTX 5000 (100 PDF, 2.249 trang)</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10</a:t>
            </a:r>
          </a:p>
        </p:txBody>
      </p:sp>
      <p:sp>
        <p:nvSpPr>
          <p:cNvPr id="149" name="Rounded Rectangle 148"/>
          <p:cNvSpPr/>
          <p:nvPr/>
        </p:nvSpPr>
        <p:spPr>
          <a:xfrm>
            <a:off x="1243584" y="1280160"/>
            <a:ext cx="2505456"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414016"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04 · HIỆU NĂNG</a:t>
            </a:r>
          </a:p>
        </p:txBody>
      </p:sp>
      <p:sp>
        <p:nvSpPr>
          <p:cNvPr id="151" name="Rounded Rectangle 150"/>
          <p:cNvSpPr/>
          <p:nvPr/>
        </p:nvSpPr>
        <p:spPr>
          <a:xfrm>
            <a:off x="1243584" y="1874519"/>
            <a:ext cx="3794760" cy="297180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444752" y="2020824"/>
            <a:ext cx="3392424"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EE0033"/>
                </a:solidFill>
                <a:latin typeface="Arial"/>
              </a:rPr>
              <a:t>53,5 s</a:t>
            </a:r>
          </a:p>
        </p:txBody>
      </p:sp>
      <p:sp>
        <p:nvSpPr>
          <p:cNvPr id="153" name="TextBox 152"/>
          <p:cNvSpPr txBox="1"/>
          <p:nvPr/>
        </p:nvSpPr>
        <p:spPr>
          <a:xfrm>
            <a:off x="1444752" y="2624327"/>
            <a:ext cx="3392424"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Thời gian TB / Văn bản</a:t>
            </a:r>
          </a:p>
        </p:txBody>
      </p:sp>
      <p:sp>
        <p:nvSpPr>
          <p:cNvPr id="154" name="TextBox 153"/>
          <p:cNvSpPr txBox="1"/>
          <p:nvPr/>
        </p:nvSpPr>
        <p:spPr>
          <a:xfrm>
            <a:off x="1444752" y="3172968"/>
            <a:ext cx="3392424" cy="1536192"/>
          </a:xfrm>
          <a:prstGeom prst="rect">
            <a:avLst/>
          </a:prstGeom>
          <a:noFill/>
        </p:spPr>
        <p:txBody>
          <a:bodyPr wrap="square" anchor="t" lIns="27432" rIns="27432" tIns="27432" bIns="27432">
            <a:spAutoFit/>
          </a:bodyPr>
          <a:lstStyle/>
          <a:p>
            <a:pPr algn="l">
              <a:lnSpc>
                <a:spcPct val="115000"/>
              </a:lnSpc>
              <a:spcAft>
                <a:spcPts val="232"/>
              </a:spcAft>
            </a:pPr>
            <a:r>
              <a:rPr sz="1550" b="0">
                <a:solidFill>
                  <a:srgbClr val="22282E"/>
                </a:solidFill>
                <a:latin typeface="Arial"/>
              </a:rPr>
              <a:t>• Trung bình: 53,5 s / văn bản</a:t>
            </a:r>
          </a:p>
          <a:p>
            <a:pPr algn="l">
              <a:lnSpc>
                <a:spcPct val="115000"/>
              </a:lnSpc>
              <a:spcAft>
                <a:spcPts val="232"/>
              </a:spcAft>
            </a:pPr>
            <a:r>
              <a:rPr sz="1550" b="0">
                <a:solidFill>
                  <a:srgbClr val="22282E"/>
                </a:solidFill>
                <a:latin typeface="Arial"/>
              </a:rPr>
              <a:t>• Trung bình / trang: 2,69 s / trang</a:t>
            </a:r>
          </a:p>
          <a:p>
            <a:pPr algn="l">
              <a:lnSpc>
                <a:spcPct val="115000"/>
              </a:lnSpc>
              <a:spcAft>
                <a:spcPts val="232"/>
              </a:spcAft>
            </a:pPr>
            <a:r>
              <a:rPr sz="1550" b="0">
                <a:solidFill>
                  <a:srgbClr val="22282E"/>
                </a:solidFill>
                <a:latin typeface="Arial"/>
              </a:rPr>
              <a:t>• Tốc độ xử lý ổn định trên các tệp từ 1 đến 353 trang.</a:t>
            </a:r>
          </a:p>
        </p:txBody>
      </p:sp>
      <p:sp>
        <p:nvSpPr>
          <p:cNvPr id="155" name="Rounded Rectangle 154"/>
          <p:cNvSpPr/>
          <p:nvPr/>
        </p:nvSpPr>
        <p:spPr>
          <a:xfrm>
            <a:off x="5285232" y="1874519"/>
            <a:ext cx="3794760" cy="297180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5486400" y="2020824"/>
            <a:ext cx="3392424"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172235"/>
                </a:solidFill>
                <a:latin typeface="Arial"/>
              </a:rPr>
              <a:t>4,8 / 5,9 GB</a:t>
            </a:r>
          </a:p>
        </p:txBody>
      </p:sp>
      <p:sp>
        <p:nvSpPr>
          <p:cNvPr id="157" name="TextBox 156"/>
          <p:cNvSpPr txBox="1"/>
          <p:nvPr/>
        </p:nvSpPr>
        <p:spPr>
          <a:xfrm>
            <a:off x="5486400" y="2624327"/>
            <a:ext cx="3392424"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RAM Tiến trình (CPU)</a:t>
            </a:r>
          </a:p>
        </p:txBody>
      </p:sp>
      <p:sp>
        <p:nvSpPr>
          <p:cNvPr id="158" name="TextBox 157"/>
          <p:cNvSpPr txBox="1"/>
          <p:nvPr/>
        </p:nvSpPr>
        <p:spPr>
          <a:xfrm>
            <a:off x="5486400" y="3172968"/>
            <a:ext cx="3392424" cy="1536192"/>
          </a:xfrm>
          <a:prstGeom prst="rect">
            <a:avLst/>
          </a:prstGeom>
          <a:noFill/>
        </p:spPr>
        <p:txBody>
          <a:bodyPr wrap="square" anchor="t" lIns="27432" rIns="27432" tIns="27432" bIns="27432">
            <a:spAutoFit/>
          </a:bodyPr>
          <a:lstStyle/>
          <a:p>
            <a:pPr algn="l">
              <a:lnSpc>
                <a:spcPct val="115000"/>
              </a:lnSpc>
              <a:spcAft>
                <a:spcPts val="232"/>
              </a:spcAft>
            </a:pPr>
            <a:r>
              <a:rPr sz="1550" b="0">
                <a:solidFill>
                  <a:srgbClr val="22282E"/>
                </a:solidFill>
                <a:latin typeface="Arial"/>
              </a:rPr>
              <a:t>• RAM Trung bình: 4.835 MB (~4,7 GB)</a:t>
            </a:r>
          </a:p>
          <a:p>
            <a:pPr algn="l">
              <a:lnSpc>
                <a:spcPct val="115000"/>
              </a:lnSpc>
              <a:spcAft>
                <a:spcPts val="232"/>
              </a:spcAft>
            </a:pPr>
            <a:r>
              <a:rPr sz="1550" b="0">
                <a:solidFill>
                  <a:srgbClr val="22282E"/>
                </a:solidFill>
                <a:latin typeface="Arial"/>
              </a:rPr>
              <a:t>• RAM Đỉnh (Peak): 5.858 MB (~5,7 GB)</a:t>
            </a:r>
          </a:p>
          <a:p>
            <a:pPr algn="l">
              <a:lnSpc>
                <a:spcPct val="115000"/>
              </a:lnSpc>
              <a:spcAft>
                <a:spcPts val="232"/>
              </a:spcAft>
            </a:pPr>
            <a:r>
              <a:rPr sz="1550" b="0">
                <a:solidFill>
                  <a:srgbClr val="22282E"/>
                </a:solidFill>
                <a:latin typeface="Arial"/>
              </a:rPr>
              <a:t>• Mức tiêu thụ tối ưu, phù hợp server tiêu chuẩn.</a:t>
            </a:r>
          </a:p>
        </p:txBody>
      </p:sp>
      <p:sp>
        <p:nvSpPr>
          <p:cNvPr id="159" name="Rounded Rectangle 158"/>
          <p:cNvSpPr/>
          <p:nvPr/>
        </p:nvSpPr>
        <p:spPr>
          <a:xfrm>
            <a:off x="9326880" y="1874519"/>
            <a:ext cx="3794760" cy="297180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9528048" y="2020824"/>
            <a:ext cx="3392424"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172235"/>
                </a:solidFill>
                <a:latin typeface="Arial"/>
              </a:rPr>
              <a:t>3,7 / 7,4 GB</a:t>
            </a:r>
          </a:p>
        </p:txBody>
      </p:sp>
      <p:sp>
        <p:nvSpPr>
          <p:cNvPr id="161" name="TextBox 160"/>
          <p:cNvSpPr txBox="1"/>
          <p:nvPr/>
        </p:nvSpPr>
        <p:spPr>
          <a:xfrm>
            <a:off x="9528048" y="2624327"/>
            <a:ext cx="3392424"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VRAM Toàn GPU (Device)</a:t>
            </a:r>
          </a:p>
        </p:txBody>
      </p:sp>
      <p:sp>
        <p:nvSpPr>
          <p:cNvPr id="162" name="TextBox 161"/>
          <p:cNvSpPr txBox="1"/>
          <p:nvPr/>
        </p:nvSpPr>
        <p:spPr>
          <a:xfrm>
            <a:off x="9528048" y="3172968"/>
            <a:ext cx="3392424" cy="1536192"/>
          </a:xfrm>
          <a:prstGeom prst="rect">
            <a:avLst/>
          </a:prstGeom>
          <a:noFill/>
        </p:spPr>
        <p:txBody>
          <a:bodyPr wrap="square" anchor="t" lIns="27432" rIns="27432" tIns="27432" bIns="27432">
            <a:spAutoFit/>
          </a:bodyPr>
          <a:lstStyle/>
          <a:p>
            <a:pPr algn="l">
              <a:lnSpc>
                <a:spcPct val="115000"/>
              </a:lnSpc>
              <a:spcAft>
                <a:spcPts val="232"/>
              </a:spcAft>
            </a:pPr>
            <a:r>
              <a:rPr sz="1550" b="0">
                <a:solidFill>
                  <a:srgbClr val="22282E"/>
                </a:solidFill>
                <a:latin typeface="Arial"/>
              </a:rPr>
              <a:t>• Device VRAM TB: 3.720 MB</a:t>
            </a:r>
          </a:p>
          <a:p>
            <a:pPr algn="l">
              <a:lnSpc>
                <a:spcPct val="115000"/>
              </a:lnSpc>
              <a:spcAft>
                <a:spcPts val="232"/>
              </a:spcAft>
            </a:pPr>
            <a:r>
              <a:rPr sz="1550" b="0">
                <a:solidFill>
                  <a:srgbClr val="22282E"/>
                </a:solidFill>
                <a:latin typeface="Arial"/>
              </a:rPr>
              <a:t>• Device VRAM Đỉnh: 7.370 MB (~7,2 GB)</a:t>
            </a:r>
          </a:p>
          <a:p>
            <a:pPr algn="l">
              <a:lnSpc>
                <a:spcPct val="115000"/>
              </a:lnSpc>
              <a:spcAft>
                <a:spcPts val="232"/>
              </a:spcAft>
            </a:pPr>
            <a:r>
              <a:rPr sz="1550" b="0">
                <a:solidFill>
                  <a:srgbClr val="22282E"/>
                </a:solidFill>
                <a:latin typeface="Arial"/>
              </a:rPr>
              <a:t>• Chạy trên GPU NVIDIA Quadro RTX 5000 16GB.</a:t>
            </a:r>
          </a:p>
        </p:txBody>
      </p:sp>
      <p:sp>
        <p:nvSpPr>
          <p:cNvPr id="163" name="Rounded Rectangle 162"/>
          <p:cNvSpPr/>
          <p:nvPr/>
        </p:nvSpPr>
        <p:spPr>
          <a:xfrm>
            <a:off x="13368528" y="1874519"/>
            <a:ext cx="3794760" cy="297180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3569696" y="2020824"/>
            <a:ext cx="3392424" cy="502920"/>
          </a:xfrm>
          <a:prstGeom prst="rect">
            <a:avLst/>
          </a:prstGeom>
          <a:noFill/>
        </p:spPr>
        <p:txBody>
          <a:bodyPr wrap="square" anchor="t" lIns="27432" rIns="27432" tIns="27432" bIns="27432">
            <a:spAutoFit/>
          </a:bodyPr>
          <a:lstStyle/>
          <a:p>
            <a:pPr algn="l">
              <a:lnSpc>
                <a:spcPct val="115000"/>
              </a:lnSpc>
              <a:spcAft>
                <a:spcPts val="420"/>
              </a:spcAft>
            </a:pPr>
            <a:r>
              <a:rPr sz="2800" b="1">
                <a:solidFill>
                  <a:srgbClr val="1A7F50"/>
                </a:solidFill>
                <a:latin typeface="Arial"/>
              </a:rPr>
              <a:t>PyTorch / Paddle</a:t>
            </a:r>
          </a:p>
        </p:txBody>
      </p:sp>
      <p:sp>
        <p:nvSpPr>
          <p:cNvPr id="165" name="TextBox 164"/>
          <p:cNvSpPr txBox="1"/>
          <p:nvPr/>
        </p:nvSpPr>
        <p:spPr>
          <a:xfrm>
            <a:off x="13569696" y="2624327"/>
            <a:ext cx="3392424"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Framework Allocator</a:t>
            </a:r>
          </a:p>
        </p:txBody>
      </p:sp>
      <p:sp>
        <p:nvSpPr>
          <p:cNvPr id="166" name="TextBox 165"/>
          <p:cNvSpPr txBox="1"/>
          <p:nvPr/>
        </p:nvSpPr>
        <p:spPr>
          <a:xfrm>
            <a:off x="13569696" y="3172968"/>
            <a:ext cx="3392424" cy="1536192"/>
          </a:xfrm>
          <a:prstGeom prst="rect">
            <a:avLst/>
          </a:prstGeom>
          <a:noFill/>
        </p:spPr>
        <p:txBody>
          <a:bodyPr wrap="square" anchor="t" lIns="27432" rIns="27432" tIns="27432" bIns="27432">
            <a:spAutoFit/>
          </a:bodyPr>
          <a:lstStyle/>
          <a:p>
            <a:pPr algn="l">
              <a:lnSpc>
                <a:spcPct val="115000"/>
              </a:lnSpc>
              <a:spcAft>
                <a:spcPts val="232"/>
              </a:spcAft>
            </a:pPr>
            <a:r>
              <a:rPr sz="1550" b="0">
                <a:solidFill>
                  <a:srgbClr val="22282E"/>
                </a:solidFill>
                <a:latin typeface="Arial"/>
              </a:rPr>
              <a:t>• PyTorch (VietOCR): TB 120 MB / Đỉnh 3.446 MB</a:t>
            </a:r>
          </a:p>
          <a:p>
            <a:pPr algn="l">
              <a:lnSpc>
                <a:spcPct val="115000"/>
              </a:lnSpc>
              <a:spcAft>
                <a:spcPts val="232"/>
              </a:spcAft>
            </a:pPr>
            <a:r>
              <a:rPr sz="1550" b="0">
                <a:solidFill>
                  <a:srgbClr val="22282E"/>
                </a:solidFill>
                <a:latin typeface="Arial"/>
              </a:rPr>
              <a:t>• Paddle (Layout): TB 112 MB / Đỉnh 117 MB</a:t>
            </a:r>
          </a:p>
          <a:p>
            <a:pPr algn="l">
              <a:lnSpc>
                <a:spcPct val="115000"/>
              </a:lnSpc>
              <a:spcAft>
                <a:spcPts val="232"/>
              </a:spcAft>
            </a:pPr>
            <a:r>
              <a:rPr sz="1550" b="0">
                <a:solidFill>
                  <a:srgbClr val="22282E"/>
                </a:solidFill>
                <a:latin typeface="Arial"/>
              </a:rPr>
              <a:t>• Không bị rò rỉ bộ nhớ (memory leak).</a:t>
            </a:r>
          </a:p>
        </p:txBody>
      </p:sp>
      <p:graphicFrame>
        <p:nvGraphicFramePr>
          <p:cNvPr id="167" name="Table 166"/>
          <p:cNvGraphicFramePr>
            <a:graphicFrameLocks noGrp="1"/>
          </p:cNvGraphicFramePr>
          <p:nvPr/>
        </p:nvGraphicFramePr>
        <p:xfrm>
          <a:off x="1243584" y="5074920"/>
          <a:ext cx="15910560" cy="2240280"/>
        </p:xfrm>
        <a:graphic>
          <a:graphicData uri="http://schemas.openxmlformats.org/drawingml/2006/table">
            <a:tbl>
              <a:tblPr firstRow="1" bandRow="1">
                <a:tableStyleId>{5C22544A-7EE6-4342-B048-85BDC9FD1C3A}</a:tableStyleId>
              </a:tblPr>
              <a:tblGrid>
                <a:gridCol w="3657600"/>
                <a:gridCol w="2011680"/>
                <a:gridCol w="2011680"/>
                <a:gridCol w="2743200"/>
                <a:gridCol w="2560320"/>
                <a:gridCol w="2926080"/>
              </a:tblGrid>
              <a:tr h="448056">
                <a:tc>
                  <a:txBody>
                    <a:bodyPr/>
                    <a:lstStyle/>
                    <a:p>
                      <a:pPr algn="l"/>
                      <a:r>
                        <a:rPr sz="1200" b="1">
                          <a:solidFill>
                            <a:srgbClr val="FFFFFF"/>
                          </a:solidFill>
                          <a:latin typeface="Arial"/>
                        </a:rPr>
                        <a:t>Nhóm quy mô tài liệu</a:t>
                      </a:r>
                    </a:p>
                  </a:txBody>
                  <a:tcPr anchor="ctr" marL="82296" marR="82296" marT="36576" marB="36576">
                    <a:solidFill>
                      <a:srgbClr val="172235"/>
                    </a:solidFill>
                  </a:tcPr>
                </a:tc>
                <a:tc>
                  <a:txBody>
                    <a:bodyPr/>
                    <a:lstStyle/>
                    <a:p>
                      <a:pPr algn="l"/>
                      <a:r>
                        <a:rPr sz="1200" b="1">
                          <a:solidFill>
                            <a:srgbClr val="FFFFFF"/>
                          </a:solidFill>
                          <a:latin typeface="Arial"/>
                        </a:rPr>
                        <a:t>Số lượng file</a:t>
                      </a:r>
                    </a:p>
                  </a:txBody>
                  <a:tcPr anchor="ctr" marL="82296" marR="82296" marT="36576" marB="36576">
                    <a:solidFill>
                      <a:srgbClr val="172235"/>
                    </a:solidFill>
                  </a:tcPr>
                </a:tc>
                <a:tc>
                  <a:txBody>
                    <a:bodyPr/>
                    <a:lstStyle/>
                    <a:p>
                      <a:pPr algn="l"/>
                      <a:r>
                        <a:rPr sz="1200" b="1">
                          <a:solidFill>
                            <a:srgbClr val="FFFFFF"/>
                          </a:solidFill>
                          <a:latin typeface="Arial"/>
                        </a:rPr>
                        <a:t>Tổng số trang</a:t>
                      </a:r>
                    </a:p>
                  </a:txBody>
                  <a:tcPr anchor="ctr" marL="82296" marR="82296" marT="36576" marB="36576">
                    <a:solidFill>
                      <a:srgbClr val="172235"/>
                    </a:solidFill>
                  </a:tcPr>
                </a:tc>
                <a:tc>
                  <a:txBody>
                    <a:bodyPr/>
                    <a:lstStyle/>
                    <a:p>
                      <a:pPr algn="l"/>
                      <a:r>
                        <a:rPr sz="1200" b="1">
                          <a:solidFill>
                            <a:srgbClr val="FFFFFF"/>
                          </a:solidFill>
                          <a:latin typeface="Arial"/>
                        </a:rPr>
                        <a:t>Thời gian TB / File</a:t>
                      </a:r>
                    </a:p>
                  </a:txBody>
                  <a:tcPr anchor="ctr" marL="82296" marR="82296" marT="36576" marB="36576">
                    <a:solidFill>
                      <a:srgbClr val="172235"/>
                    </a:solidFill>
                  </a:tcPr>
                </a:tc>
                <a:tc>
                  <a:txBody>
                    <a:bodyPr/>
                    <a:lstStyle/>
                    <a:p>
                      <a:pPr algn="l"/>
                      <a:r>
                        <a:rPr sz="1200" b="1">
                          <a:solidFill>
                            <a:srgbClr val="FFFFFF"/>
                          </a:solidFill>
                          <a:latin typeface="Arial"/>
                        </a:rPr>
                        <a:t>Thời gian TB / Trang</a:t>
                      </a:r>
                    </a:p>
                  </a:txBody>
                  <a:tcPr anchor="ctr" marL="82296" marR="82296" marT="36576" marB="36576">
                    <a:solidFill>
                      <a:srgbClr val="172235"/>
                    </a:solidFill>
                  </a:tcPr>
                </a:tc>
                <a:tc>
                  <a:txBody>
                    <a:bodyPr/>
                    <a:lstStyle/>
                    <a:p>
                      <a:pPr algn="l"/>
                      <a:r>
                        <a:rPr sz="1200" b="1">
                          <a:solidFill>
                            <a:srgbClr val="FFFFFF"/>
                          </a:solidFill>
                          <a:latin typeface="Arial"/>
                        </a:rPr>
                        <a:t>Thời gian Min – Max</a:t>
                      </a:r>
                    </a:p>
                  </a:txBody>
                  <a:tcPr anchor="ctr" marL="82296" marR="82296" marT="36576" marB="36576">
                    <a:solidFill>
                      <a:srgbClr val="172235"/>
                    </a:solidFill>
                  </a:tcPr>
                </a:tc>
              </a:tr>
              <a:tr h="448056">
                <a:tc>
                  <a:txBody>
                    <a:bodyPr/>
                    <a:lstStyle/>
                    <a:p>
                      <a:pPr algn="l"/>
                      <a:r>
                        <a:rPr sz="1100" b="1">
                          <a:solidFill>
                            <a:srgbClr val="22282E"/>
                          </a:solidFill>
                          <a:latin typeface="Arial"/>
                        </a:rPr>
                        <a:t>Văn bản ngắn (1 – 10 trang)</a:t>
                      </a:r>
                    </a:p>
                  </a:txBody>
                  <a:tcPr anchor="ctr" marL="82296" marR="82296" marT="27432" marB="27432">
                    <a:solidFill>
                      <a:srgbClr val="FFFFFF"/>
                    </a:solidFill>
                  </a:tcPr>
                </a:tc>
                <a:tc>
                  <a:txBody>
                    <a:bodyPr/>
                    <a:lstStyle/>
                    <a:p>
                      <a:pPr algn="l"/>
                      <a:r>
                        <a:rPr sz="1050">
                          <a:solidFill>
                            <a:srgbClr val="22282E"/>
                          </a:solidFill>
                          <a:latin typeface="Consolas"/>
                        </a:rPr>
                        <a:t>62 văn bản</a:t>
                      </a:r>
                    </a:p>
                  </a:txBody>
                  <a:tcPr anchor="ctr" marL="82296" marR="82296" marT="27432" marB="27432">
                    <a:solidFill>
                      <a:srgbClr val="FFFFFF"/>
                    </a:solidFill>
                  </a:tcPr>
                </a:tc>
                <a:tc>
                  <a:txBody>
                    <a:bodyPr/>
                    <a:lstStyle/>
                    <a:p>
                      <a:pPr algn="l"/>
                      <a:r>
                        <a:rPr sz="1100">
                          <a:solidFill>
                            <a:srgbClr val="22282E"/>
                          </a:solidFill>
                          <a:latin typeface="Arial"/>
                        </a:rPr>
                        <a:t>217 trang</a:t>
                      </a:r>
                    </a:p>
                  </a:txBody>
                  <a:tcPr anchor="ctr" marL="82296" marR="82296" marT="27432" marB="27432">
                    <a:solidFill>
                      <a:srgbClr val="FFFFFF"/>
                    </a:solidFill>
                  </a:tcPr>
                </a:tc>
                <a:tc>
                  <a:txBody>
                    <a:bodyPr/>
                    <a:lstStyle/>
                    <a:p>
                      <a:pPr algn="l"/>
                      <a:r>
                        <a:rPr sz="1100">
                          <a:solidFill>
                            <a:srgbClr val="22282E"/>
                          </a:solidFill>
                          <a:latin typeface="Arial"/>
                        </a:rPr>
                        <a:t>9,8 giây / file</a:t>
                      </a:r>
                    </a:p>
                  </a:txBody>
                  <a:tcPr anchor="ctr" marL="82296" marR="82296" marT="27432" marB="27432">
                    <a:solidFill>
                      <a:srgbClr val="FFFFFF"/>
                    </a:solidFill>
                  </a:tcPr>
                </a:tc>
                <a:tc>
                  <a:txBody>
                    <a:bodyPr/>
                    <a:lstStyle/>
                    <a:p>
                      <a:pPr algn="l"/>
                      <a:r>
                        <a:rPr sz="1100">
                          <a:solidFill>
                            <a:srgbClr val="22282E"/>
                          </a:solidFill>
                          <a:latin typeface="Arial"/>
                        </a:rPr>
                        <a:t>2,87 s / trang</a:t>
                      </a:r>
                    </a:p>
                  </a:txBody>
                  <a:tcPr anchor="ctr" marL="82296" marR="82296" marT="27432" marB="27432">
                    <a:solidFill>
                      <a:srgbClr val="FFFFFF"/>
                    </a:solidFill>
                  </a:tcPr>
                </a:tc>
                <a:tc>
                  <a:txBody>
                    <a:bodyPr/>
                    <a:lstStyle/>
                    <a:p>
                      <a:pPr algn="l"/>
                      <a:r>
                        <a:rPr sz="1100">
                          <a:solidFill>
                            <a:srgbClr val="22282E"/>
                          </a:solidFill>
                          <a:latin typeface="Arial"/>
                        </a:rPr>
                        <a:t>2,64 s – 34,71 s</a:t>
                      </a:r>
                    </a:p>
                  </a:txBody>
                  <a:tcPr anchor="ctr" marL="82296" marR="82296" marT="27432" marB="27432">
                    <a:solidFill>
                      <a:srgbClr val="FFFFFF"/>
                    </a:solidFill>
                  </a:tcPr>
                </a:tc>
              </a:tr>
              <a:tr h="448056">
                <a:tc>
                  <a:txBody>
                    <a:bodyPr/>
                    <a:lstStyle/>
                    <a:p>
                      <a:pPr algn="l"/>
                      <a:r>
                        <a:rPr sz="1100" b="1">
                          <a:solidFill>
                            <a:srgbClr val="22282E"/>
                          </a:solidFill>
                          <a:latin typeface="Arial"/>
                        </a:rPr>
                        <a:t>Văn bản vừa (11 – 30 trang)</a:t>
                      </a:r>
                    </a:p>
                  </a:txBody>
                  <a:tcPr anchor="ctr" marL="82296" marR="82296" marT="27432" marB="27432">
                    <a:solidFill>
                      <a:srgbClr val="F8FAFC"/>
                    </a:solidFill>
                  </a:tcPr>
                </a:tc>
                <a:tc>
                  <a:txBody>
                    <a:bodyPr/>
                    <a:lstStyle/>
                    <a:p>
                      <a:pPr algn="l"/>
                      <a:r>
                        <a:rPr sz="1050">
                          <a:solidFill>
                            <a:srgbClr val="22282E"/>
                          </a:solidFill>
                          <a:latin typeface="Consolas"/>
                        </a:rPr>
                        <a:t>20 văn bản</a:t>
                      </a:r>
                    </a:p>
                  </a:txBody>
                  <a:tcPr anchor="ctr" marL="82296" marR="82296" marT="27432" marB="27432">
                    <a:solidFill>
                      <a:srgbClr val="F8FAFC"/>
                    </a:solidFill>
                  </a:tcPr>
                </a:tc>
                <a:tc>
                  <a:txBody>
                    <a:bodyPr/>
                    <a:lstStyle/>
                    <a:p>
                      <a:pPr algn="l"/>
                      <a:r>
                        <a:rPr sz="1100">
                          <a:solidFill>
                            <a:srgbClr val="22282E"/>
                          </a:solidFill>
                          <a:latin typeface="Arial"/>
                        </a:rPr>
                        <a:t>330 trang</a:t>
                      </a:r>
                    </a:p>
                  </a:txBody>
                  <a:tcPr anchor="ctr" marL="82296" marR="82296" marT="27432" marB="27432">
                    <a:solidFill>
                      <a:srgbClr val="F8FAFC"/>
                    </a:solidFill>
                  </a:tcPr>
                </a:tc>
                <a:tc>
                  <a:txBody>
                    <a:bodyPr/>
                    <a:lstStyle/>
                    <a:p>
                      <a:pPr algn="l"/>
                      <a:r>
                        <a:rPr sz="1100">
                          <a:solidFill>
                            <a:srgbClr val="22282E"/>
                          </a:solidFill>
                          <a:latin typeface="Arial"/>
                        </a:rPr>
                        <a:t>40,0 giây / file</a:t>
                      </a:r>
                    </a:p>
                  </a:txBody>
                  <a:tcPr anchor="ctr" marL="82296" marR="82296" marT="27432" marB="27432">
                    <a:solidFill>
                      <a:srgbClr val="F8FAFC"/>
                    </a:solidFill>
                  </a:tcPr>
                </a:tc>
                <a:tc>
                  <a:txBody>
                    <a:bodyPr/>
                    <a:lstStyle/>
                    <a:p>
                      <a:pPr algn="l"/>
                      <a:r>
                        <a:rPr sz="1100">
                          <a:solidFill>
                            <a:srgbClr val="22282E"/>
                          </a:solidFill>
                          <a:latin typeface="Arial"/>
                        </a:rPr>
                        <a:t>2,45 s / trang</a:t>
                      </a:r>
                    </a:p>
                  </a:txBody>
                  <a:tcPr anchor="ctr" marL="82296" marR="82296" marT="27432" marB="27432">
                    <a:solidFill>
                      <a:srgbClr val="F8FAFC"/>
                    </a:solidFill>
                  </a:tcPr>
                </a:tc>
                <a:tc>
                  <a:txBody>
                    <a:bodyPr/>
                    <a:lstStyle/>
                    <a:p>
                      <a:pPr algn="l"/>
                      <a:r>
                        <a:rPr sz="1100">
                          <a:solidFill>
                            <a:srgbClr val="22282E"/>
                          </a:solidFill>
                          <a:latin typeface="Arial"/>
                        </a:rPr>
                        <a:t>23,40 s – 89,08 s</a:t>
                      </a:r>
                    </a:p>
                  </a:txBody>
                  <a:tcPr anchor="ctr" marL="82296" marR="82296" marT="27432" marB="27432">
                    <a:solidFill>
                      <a:srgbClr val="F8FAFC"/>
                    </a:solidFill>
                  </a:tcPr>
                </a:tc>
              </a:tr>
              <a:tr h="448056">
                <a:tc>
                  <a:txBody>
                    <a:bodyPr/>
                    <a:lstStyle/>
                    <a:p>
                      <a:pPr algn="l"/>
                      <a:r>
                        <a:rPr sz="1100" b="1">
                          <a:solidFill>
                            <a:srgbClr val="22282E"/>
                          </a:solidFill>
                          <a:latin typeface="Arial"/>
                        </a:rPr>
                        <a:t>Văn bản dài (&gt; 30 trang)</a:t>
                      </a:r>
                    </a:p>
                  </a:txBody>
                  <a:tcPr anchor="ctr" marL="82296" marR="82296" marT="27432" marB="27432">
                    <a:solidFill>
                      <a:srgbClr val="FFFFFF"/>
                    </a:solidFill>
                  </a:tcPr>
                </a:tc>
                <a:tc>
                  <a:txBody>
                    <a:bodyPr/>
                    <a:lstStyle/>
                    <a:p>
                      <a:pPr algn="l"/>
                      <a:r>
                        <a:rPr sz="1050">
                          <a:solidFill>
                            <a:srgbClr val="22282E"/>
                          </a:solidFill>
                          <a:latin typeface="Consolas"/>
                        </a:rPr>
                        <a:t>18 văn bản</a:t>
                      </a:r>
                    </a:p>
                  </a:txBody>
                  <a:tcPr anchor="ctr" marL="82296" marR="82296" marT="27432" marB="27432">
                    <a:solidFill>
                      <a:srgbClr val="FFFFFF"/>
                    </a:solidFill>
                  </a:tcPr>
                </a:tc>
                <a:tc>
                  <a:txBody>
                    <a:bodyPr/>
                    <a:lstStyle/>
                    <a:p>
                      <a:pPr algn="l"/>
                      <a:r>
                        <a:rPr sz="1100">
                          <a:solidFill>
                            <a:srgbClr val="22282E"/>
                          </a:solidFill>
                          <a:latin typeface="Arial"/>
                        </a:rPr>
                        <a:t>1.702 trang</a:t>
                      </a:r>
                    </a:p>
                  </a:txBody>
                  <a:tcPr anchor="ctr" marL="82296" marR="82296" marT="27432" marB="27432">
                    <a:solidFill>
                      <a:srgbClr val="FFFFFF"/>
                    </a:solidFill>
                  </a:tcPr>
                </a:tc>
                <a:tc>
                  <a:txBody>
                    <a:bodyPr/>
                    <a:lstStyle/>
                    <a:p>
                      <a:pPr algn="l"/>
                      <a:r>
                        <a:rPr sz="1100">
                          <a:solidFill>
                            <a:srgbClr val="22282E"/>
                          </a:solidFill>
                          <a:latin typeface="Arial"/>
                        </a:rPr>
                        <a:t>218,9 giây / file</a:t>
                      </a:r>
                    </a:p>
                  </a:txBody>
                  <a:tcPr anchor="ctr" marL="82296" marR="82296" marT="27432" marB="27432">
                    <a:solidFill>
                      <a:srgbClr val="FFFFFF"/>
                    </a:solidFill>
                  </a:tcPr>
                </a:tc>
                <a:tc>
                  <a:txBody>
                    <a:bodyPr/>
                    <a:lstStyle/>
                    <a:p>
                      <a:pPr algn="l"/>
                      <a:r>
                        <a:rPr sz="1100">
                          <a:solidFill>
                            <a:srgbClr val="22282E"/>
                          </a:solidFill>
                          <a:latin typeface="Arial"/>
                        </a:rPr>
                        <a:t>2,34 s / trang</a:t>
                      </a:r>
                    </a:p>
                  </a:txBody>
                  <a:tcPr anchor="ctr" marL="82296" marR="82296" marT="27432" marB="27432">
                    <a:solidFill>
                      <a:srgbClr val="FFFFFF"/>
                    </a:solidFill>
                  </a:tcPr>
                </a:tc>
                <a:tc>
                  <a:txBody>
                    <a:bodyPr/>
                    <a:lstStyle/>
                    <a:p>
                      <a:pPr algn="l"/>
                      <a:r>
                        <a:rPr sz="1100">
                          <a:solidFill>
                            <a:srgbClr val="22282E"/>
                          </a:solidFill>
                          <a:latin typeface="Arial"/>
                        </a:rPr>
                        <a:t>85,78 s – 748,05 s (353 trang)</a:t>
                      </a:r>
                    </a:p>
                  </a:txBody>
                  <a:tcPr anchor="ctr" marL="82296" marR="82296" marT="27432" marB="27432">
                    <a:solidFill>
                      <a:srgbClr val="FFFFFF"/>
                    </a:solidFill>
                  </a:tcPr>
                </a:tc>
              </a:tr>
              <a:tr h="448056">
                <a:tc>
                  <a:txBody>
                    <a:bodyPr/>
                    <a:lstStyle/>
                    <a:p>
                      <a:pPr algn="l"/>
                      <a:r>
                        <a:rPr sz="1100" b="1">
                          <a:solidFill>
                            <a:srgbClr val="22282E"/>
                          </a:solidFill>
                          <a:latin typeface="Arial"/>
                        </a:rPr>
                        <a:t>Toàn bộ tập mẫu Benchmark</a:t>
                      </a:r>
                    </a:p>
                  </a:txBody>
                  <a:tcPr anchor="ctr" marL="82296" marR="82296" marT="27432" marB="27432">
                    <a:solidFill>
                      <a:srgbClr val="F8FAFC"/>
                    </a:solidFill>
                  </a:tcPr>
                </a:tc>
                <a:tc>
                  <a:txBody>
                    <a:bodyPr/>
                    <a:lstStyle/>
                    <a:p>
                      <a:pPr algn="l"/>
                      <a:r>
                        <a:rPr sz="1050">
                          <a:solidFill>
                            <a:srgbClr val="22282E"/>
                          </a:solidFill>
                          <a:latin typeface="Consolas"/>
                        </a:rPr>
                        <a:t>100 văn bản</a:t>
                      </a:r>
                    </a:p>
                  </a:txBody>
                  <a:tcPr anchor="ctr" marL="82296" marR="82296" marT="27432" marB="27432">
                    <a:solidFill>
                      <a:srgbClr val="F8FAFC"/>
                    </a:solidFill>
                  </a:tcPr>
                </a:tc>
                <a:tc>
                  <a:txBody>
                    <a:bodyPr/>
                    <a:lstStyle/>
                    <a:p>
                      <a:pPr algn="l"/>
                      <a:r>
                        <a:rPr sz="1100">
                          <a:solidFill>
                            <a:srgbClr val="22282E"/>
                          </a:solidFill>
                          <a:latin typeface="Arial"/>
                        </a:rPr>
                        <a:t>2.249 trang</a:t>
                      </a:r>
                    </a:p>
                  </a:txBody>
                  <a:tcPr anchor="ctr" marL="82296" marR="82296" marT="27432" marB="27432">
                    <a:solidFill>
                      <a:srgbClr val="F8FAFC"/>
                    </a:solidFill>
                  </a:tcPr>
                </a:tc>
                <a:tc>
                  <a:txBody>
                    <a:bodyPr/>
                    <a:lstStyle/>
                    <a:p>
                      <a:pPr algn="l"/>
                      <a:r>
                        <a:rPr sz="1100">
                          <a:solidFill>
                            <a:srgbClr val="22282E"/>
                          </a:solidFill>
                          <a:latin typeface="Arial"/>
                        </a:rPr>
                        <a:t>53,5 giây / file</a:t>
                      </a:r>
                    </a:p>
                  </a:txBody>
                  <a:tcPr anchor="ctr" marL="82296" marR="82296" marT="27432" marB="27432">
                    <a:solidFill>
                      <a:srgbClr val="F8FAFC"/>
                    </a:solidFill>
                  </a:tcPr>
                </a:tc>
                <a:tc>
                  <a:txBody>
                    <a:bodyPr/>
                    <a:lstStyle/>
                    <a:p>
                      <a:pPr algn="l"/>
                      <a:r>
                        <a:rPr sz="1100">
                          <a:solidFill>
                            <a:srgbClr val="22282E"/>
                          </a:solidFill>
                          <a:latin typeface="Arial"/>
                        </a:rPr>
                        <a:t>2,69 s / trang</a:t>
                      </a:r>
                    </a:p>
                  </a:txBody>
                  <a:tcPr anchor="ctr" marL="82296" marR="82296" marT="27432" marB="27432">
                    <a:solidFill>
                      <a:srgbClr val="F8FAFC"/>
                    </a:solidFill>
                  </a:tcPr>
                </a:tc>
                <a:tc>
                  <a:txBody>
                    <a:bodyPr/>
                    <a:lstStyle/>
                    <a:p>
                      <a:pPr algn="l"/>
                      <a:r>
                        <a:rPr sz="1100">
                          <a:solidFill>
                            <a:srgbClr val="22282E"/>
                          </a:solidFill>
                          <a:latin typeface="Arial"/>
                        </a:rPr>
                        <a:t>2,64 s – 748,05 s</a:t>
                      </a:r>
                    </a:p>
                  </a:txBody>
                  <a:tcPr anchor="ctr" marL="82296" marR="82296" marT="27432" marB="27432">
                    <a:solidFill>
                      <a:srgbClr val="F8FAFC"/>
                    </a:solidFill>
                  </a:tcPr>
                </a:tc>
              </a:tr>
            </a:tbl>
          </a:graphicData>
        </a:graphic>
      </p:graphicFrame>
      <p:sp>
        <p:nvSpPr>
          <p:cNvPr id="168" name="Rounded Rectangle 167"/>
          <p:cNvSpPr/>
          <p:nvPr/>
        </p:nvSpPr>
        <p:spPr>
          <a:xfrm>
            <a:off x="1243584" y="7543800"/>
            <a:ext cx="15910559" cy="749808"/>
          </a:xfrm>
          <a:prstGeom prst="roundRect">
            <a:avLst/>
          </a:prstGeom>
          <a:solidFill>
            <a:srgbClr val="FDF2F3"/>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1463040" y="7653527"/>
            <a:ext cx="15453359" cy="530352"/>
          </a:xfrm>
          <a:prstGeom prst="rect">
            <a:avLst/>
          </a:prstGeom>
          <a:noFill/>
        </p:spPr>
        <p:txBody>
          <a:bodyPr wrap="square" anchor="t" lIns="27432" rIns="27432" tIns="27432" bIns="27432">
            <a:spAutoFit/>
          </a:bodyPr>
          <a:lstStyle/>
          <a:p>
            <a:pPr algn="l">
              <a:lnSpc>
                <a:spcPct val="115000"/>
              </a:lnSpc>
              <a:spcAft>
                <a:spcPts val="292"/>
              </a:spcAft>
            </a:pPr>
            <a:r>
              <a:rPr sz="1950" b="1">
                <a:solidFill>
                  <a:srgbClr val="172235"/>
                </a:solidFill>
                <a:latin typeface="Arial"/>
              </a:rPr>
              <a:t>Tài nguyên VRAM (đỉnh 7,4 GB) và RAM (5,9 GB) chứng minh mô hình hoạt động an toàn trên hạ tầng máy chủ GPU thương mại.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So sánh chi tiết 12 trường: OCR Nội bộ vs VAI OCR</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ocr-collab/reports/vai_acc_v1_20261002/ · Metric v2.2 + VAI ACC v1.0</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11</a:t>
            </a:r>
          </a:p>
        </p:txBody>
      </p:sp>
      <p:sp>
        <p:nvSpPr>
          <p:cNvPr id="149" name="Rounded Rectangle 148"/>
          <p:cNvSpPr/>
          <p:nvPr/>
        </p:nvSpPr>
        <p:spPr>
          <a:xfrm>
            <a:off x="1243584" y="1280160"/>
            <a:ext cx="2304288"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212848"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04 · KẾT QUẢ</a:t>
            </a:r>
          </a:p>
        </p:txBody>
      </p:sp>
      <p:graphicFrame>
        <p:nvGraphicFramePr>
          <p:cNvPr id="151" name="Table 150"/>
          <p:cNvGraphicFramePr>
            <a:graphicFrameLocks noGrp="1"/>
          </p:cNvGraphicFramePr>
          <p:nvPr/>
        </p:nvGraphicFramePr>
        <p:xfrm>
          <a:off x="1243584" y="1874519"/>
          <a:ext cx="15910560" cy="7132320"/>
        </p:xfrm>
        <a:graphic>
          <a:graphicData uri="http://schemas.openxmlformats.org/drawingml/2006/table">
            <a:tbl>
              <a:tblPr firstRow="1" bandRow="1">
                <a:tableStyleId>{5C22544A-7EE6-4342-B048-85BDC9FD1C3A}</a:tableStyleId>
              </a:tblPr>
              <a:tblGrid>
                <a:gridCol w="2743200"/>
                <a:gridCol w="1463040"/>
                <a:gridCol w="1463040"/>
                <a:gridCol w="1463040"/>
                <a:gridCol w="1463040"/>
                <a:gridCol w="1463040"/>
                <a:gridCol w="1463040"/>
                <a:gridCol w="1463040"/>
                <a:gridCol w="2926080"/>
              </a:tblGrid>
              <a:tr h="548640">
                <a:tc>
                  <a:txBody>
                    <a:bodyPr/>
                    <a:lstStyle/>
                    <a:p>
                      <a:pPr algn="l"/>
                      <a:r>
                        <a:rPr sz="1150" b="1">
                          <a:solidFill>
                            <a:srgbClr val="FFFFFF"/>
                          </a:solidFill>
                          <a:latin typeface="Arial"/>
                        </a:rPr>
                        <a:t>Trường thông tin</a:t>
                      </a:r>
                    </a:p>
                  </a:txBody>
                  <a:tcPr anchor="ctr" marL="82296" marR="82296" marT="36576" marB="36576">
                    <a:solidFill>
                      <a:srgbClr val="172235"/>
                    </a:solidFill>
                  </a:tcPr>
                </a:tc>
                <a:tc>
                  <a:txBody>
                    <a:bodyPr/>
                    <a:lstStyle/>
                    <a:p>
                      <a:pPr algn="l"/>
                      <a:r>
                        <a:rPr sz="1150" b="1">
                          <a:solidFill>
                            <a:srgbClr val="FFFFFF"/>
                          </a:solidFill>
                          <a:latin typeface="Arial"/>
                        </a:rPr>
                        <a:t>Nhóm</a:t>
                      </a:r>
                    </a:p>
                  </a:txBody>
                  <a:tcPr anchor="ctr" marL="82296" marR="82296" marT="36576" marB="36576">
                    <a:solidFill>
                      <a:srgbClr val="172235"/>
                    </a:solidFill>
                  </a:tcPr>
                </a:tc>
                <a:tc>
                  <a:txBody>
                    <a:bodyPr/>
                    <a:lstStyle/>
                    <a:p>
                      <a:pPr algn="l"/>
                      <a:r>
                        <a:rPr sz="1150" b="1">
                          <a:solidFill>
                            <a:srgbClr val="FFFFFF"/>
                          </a:solidFill>
                          <a:latin typeface="Arial"/>
                        </a:rPr>
                        <a:t>F1 Nội bộ</a:t>
                      </a:r>
                    </a:p>
                  </a:txBody>
                  <a:tcPr anchor="ctr" marL="82296" marR="82296" marT="36576" marB="36576">
                    <a:solidFill>
                      <a:srgbClr val="172235"/>
                    </a:solidFill>
                  </a:tcPr>
                </a:tc>
                <a:tc>
                  <a:txBody>
                    <a:bodyPr/>
                    <a:lstStyle/>
                    <a:p>
                      <a:pPr algn="l"/>
                      <a:r>
                        <a:rPr sz="1150" b="1">
                          <a:solidFill>
                            <a:srgbClr val="FFFFFF"/>
                          </a:solidFill>
                          <a:latin typeface="Arial"/>
                        </a:rPr>
                        <a:t>NEM Nội bộ</a:t>
                      </a:r>
                    </a:p>
                  </a:txBody>
                  <a:tcPr anchor="ctr" marL="82296" marR="82296" marT="36576" marB="36576">
                    <a:solidFill>
                      <a:srgbClr val="172235"/>
                    </a:solidFill>
                  </a:tcPr>
                </a:tc>
                <a:tc>
                  <a:txBody>
                    <a:bodyPr/>
                    <a:lstStyle/>
                    <a:p>
                      <a:pPr algn="l"/>
                      <a:r>
                        <a:rPr sz="1150" b="1">
                          <a:solidFill>
                            <a:srgbClr val="FFFFFF"/>
                          </a:solidFill>
                          <a:latin typeface="Arial"/>
                        </a:rPr>
                        <a:t>ACC Nội bộ</a:t>
                      </a:r>
                    </a:p>
                  </a:txBody>
                  <a:tcPr anchor="ctr" marL="82296" marR="82296" marT="36576" marB="36576">
                    <a:solidFill>
                      <a:srgbClr val="172235"/>
                    </a:solidFill>
                  </a:tcPr>
                </a:tc>
                <a:tc>
                  <a:txBody>
                    <a:bodyPr/>
                    <a:lstStyle/>
                    <a:p>
                      <a:pPr algn="l"/>
                      <a:r>
                        <a:rPr sz="1150" b="1">
                          <a:solidFill>
                            <a:srgbClr val="FFFFFF"/>
                          </a:solidFill>
                          <a:latin typeface="Arial"/>
                        </a:rPr>
                        <a:t>F1 VAI</a:t>
                      </a:r>
                    </a:p>
                  </a:txBody>
                  <a:tcPr anchor="ctr" marL="82296" marR="82296" marT="36576" marB="36576">
                    <a:solidFill>
                      <a:srgbClr val="172235"/>
                    </a:solidFill>
                  </a:tcPr>
                </a:tc>
                <a:tc>
                  <a:txBody>
                    <a:bodyPr/>
                    <a:lstStyle/>
                    <a:p>
                      <a:pPr algn="l"/>
                      <a:r>
                        <a:rPr sz="1150" b="1">
                          <a:solidFill>
                            <a:srgbClr val="FFFFFF"/>
                          </a:solidFill>
                          <a:latin typeface="Arial"/>
                        </a:rPr>
                        <a:t>NEM VAI</a:t>
                      </a:r>
                    </a:p>
                  </a:txBody>
                  <a:tcPr anchor="ctr" marL="82296" marR="82296" marT="36576" marB="36576">
                    <a:solidFill>
                      <a:srgbClr val="172235"/>
                    </a:solidFill>
                  </a:tcPr>
                </a:tc>
                <a:tc>
                  <a:txBody>
                    <a:bodyPr/>
                    <a:lstStyle/>
                    <a:p>
                      <a:pPr algn="l"/>
                      <a:r>
                        <a:rPr sz="1150" b="1">
                          <a:solidFill>
                            <a:srgbClr val="FFFFFF"/>
                          </a:solidFill>
                          <a:latin typeface="Arial"/>
                        </a:rPr>
                        <a:t>ACC VAI</a:t>
                      </a:r>
                    </a:p>
                  </a:txBody>
                  <a:tcPr anchor="ctr" marL="82296" marR="82296" marT="36576" marB="36576">
                    <a:solidFill>
                      <a:srgbClr val="172235"/>
                    </a:solidFill>
                  </a:tcPr>
                </a:tc>
                <a:tc>
                  <a:txBody>
                    <a:bodyPr/>
                    <a:lstStyle/>
                    <a:p>
                      <a:pPr algn="l"/>
                      <a:r>
                        <a:rPr sz="1150" b="1">
                          <a:solidFill>
                            <a:srgbClr val="FFFFFF"/>
                          </a:solidFill>
                          <a:latin typeface="Arial"/>
                        </a:rPr>
                        <a:t>Đánh giá thế mạnh</a:t>
                      </a:r>
                    </a:p>
                  </a:txBody>
                  <a:tcPr anchor="ctr" marL="82296" marR="82296" marT="36576" marB="36576">
                    <a:solidFill>
                      <a:srgbClr val="172235"/>
                    </a:solidFill>
                  </a:tcPr>
                </a:tc>
              </a:tr>
              <a:tr h="548640">
                <a:tc>
                  <a:txBody>
                    <a:bodyPr/>
                    <a:lstStyle/>
                    <a:p>
                      <a:pPr algn="l"/>
                      <a:r>
                        <a:rPr sz="1050" b="1">
                          <a:solidFill>
                            <a:srgbClr val="EE0033"/>
                          </a:solidFill>
                          <a:latin typeface="Arial"/>
                        </a:rPr>
                        <a:t>Loại văn bản (type)</a:t>
                      </a:r>
                    </a:p>
                  </a:txBody>
                  <a:tcPr anchor="ctr" marL="82296" marR="82296" marT="27432" marB="27432">
                    <a:solidFill>
                      <a:srgbClr val="FFFFFF"/>
                    </a:solidFill>
                  </a:tcPr>
                </a:tc>
                <a:tc>
                  <a:txBody>
                    <a:bodyPr/>
                    <a:lstStyle/>
                    <a:p>
                      <a:pPr algn="l"/>
                      <a:r>
                        <a:rPr sz="1000">
                          <a:solidFill>
                            <a:srgbClr val="22282E"/>
                          </a:solidFill>
                          <a:latin typeface="Consolas"/>
                        </a:rPr>
                        <a:t>Bắt buộc</a:t>
                      </a:r>
                    </a:p>
                  </a:txBody>
                  <a:tcPr anchor="ctr" marL="82296" marR="82296" marT="27432" marB="27432">
                    <a:solidFill>
                      <a:srgbClr val="FFFFFF"/>
                    </a:solidFill>
                  </a:tcPr>
                </a:tc>
                <a:tc>
                  <a:txBody>
                    <a:bodyPr/>
                    <a:lstStyle/>
                    <a:p>
                      <a:pPr algn="l"/>
                      <a:r>
                        <a:rPr sz="1050">
                          <a:solidFill>
                            <a:srgbClr val="22282E"/>
                          </a:solidFill>
                          <a:latin typeface="Arial"/>
                        </a:rPr>
                        <a:t>96.0%</a:t>
                      </a:r>
                    </a:p>
                  </a:txBody>
                  <a:tcPr anchor="ctr" marL="82296" marR="82296" marT="27432" marB="27432">
                    <a:solidFill>
                      <a:srgbClr val="FFFFFF"/>
                    </a:solidFill>
                  </a:tcPr>
                </a:tc>
                <a:tc>
                  <a:txBody>
                    <a:bodyPr/>
                    <a:lstStyle/>
                    <a:p>
                      <a:pPr algn="l"/>
                      <a:r>
                        <a:rPr sz="1050">
                          <a:solidFill>
                            <a:srgbClr val="22282E"/>
                          </a:solidFill>
                          <a:latin typeface="Arial"/>
                        </a:rPr>
                        <a:t>96.0%</a:t>
                      </a:r>
                    </a:p>
                  </a:txBody>
                  <a:tcPr anchor="ctr" marL="82296" marR="82296" marT="27432" marB="27432">
                    <a:solidFill>
                      <a:srgbClr val="FFFFFF"/>
                    </a:solidFill>
                  </a:tcPr>
                </a:tc>
                <a:tc>
                  <a:txBody>
                    <a:bodyPr/>
                    <a:lstStyle/>
                    <a:p>
                      <a:pPr algn="l"/>
                      <a:r>
                        <a:rPr sz="1050">
                          <a:solidFill>
                            <a:srgbClr val="22282E"/>
                          </a:solidFill>
                          <a:latin typeface="Arial"/>
                        </a:rPr>
                        <a:t>96.6%</a:t>
                      </a:r>
                    </a:p>
                  </a:txBody>
                  <a:tcPr anchor="ctr" marL="82296" marR="82296" marT="27432" marB="27432">
                    <a:solidFill>
                      <a:srgbClr val="FFFFFF"/>
                    </a:solidFill>
                  </a:tcPr>
                </a:tc>
                <a:tc>
                  <a:txBody>
                    <a:bodyPr/>
                    <a:lstStyle/>
                    <a:p>
                      <a:pPr algn="l"/>
                      <a:r>
                        <a:rPr sz="1050">
                          <a:solidFill>
                            <a:srgbClr val="22282E"/>
                          </a:solidFill>
                          <a:latin typeface="Arial"/>
                        </a:rPr>
                        <a:t>98.5%</a:t>
                      </a:r>
                    </a:p>
                  </a:txBody>
                  <a:tcPr anchor="ctr" marL="82296" marR="82296" marT="27432" marB="27432">
                    <a:solidFill>
                      <a:srgbClr val="FFFFFF"/>
                    </a:solidFill>
                  </a:tcPr>
                </a:tc>
                <a:tc>
                  <a:txBody>
                    <a:bodyPr/>
                    <a:lstStyle/>
                    <a:p>
                      <a:pPr algn="l"/>
                      <a:r>
                        <a:rPr sz="1050">
                          <a:solidFill>
                            <a:srgbClr val="22282E"/>
                          </a:solidFill>
                          <a:latin typeface="Arial"/>
                        </a:rPr>
                        <a:t>98.0%</a:t>
                      </a:r>
                    </a:p>
                  </a:txBody>
                  <a:tcPr anchor="ctr" marL="82296" marR="82296" marT="27432" marB="27432">
                    <a:solidFill>
                      <a:srgbClr val="FFFFFF"/>
                    </a:solidFill>
                  </a:tcPr>
                </a:tc>
                <a:tc>
                  <a:txBody>
                    <a:bodyPr/>
                    <a:lstStyle/>
                    <a:p>
                      <a:pPr algn="l"/>
                      <a:r>
                        <a:rPr sz="1050">
                          <a:solidFill>
                            <a:srgbClr val="22282E"/>
                          </a:solidFill>
                          <a:latin typeface="Arial"/>
                        </a:rPr>
                        <a:t>98.1%</a:t>
                      </a:r>
                    </a:p>
                  </a:txBody>
                  <a:tcPr anchor="ctr" marL="82296" marR="82296" marT="27432" marB="27432">
                    <a:solidFill>
                      <a:srgbClr val="FFFFFF"/>
                    </a:solidFill>
                  </a:tcPr>
                </a:tc>
                <a:tc>
                  <a:txBody>
                    <a:bodyPr/>
                    <a:lstStyle/>
                    <a:p>
                      <a:pPr algn="l"/>
                      <a:r>
                        <a:rPr sz="1050">
                          <a:solidFill>
                            <a:srgbClr val="22282E"/>
                          </a:solidFill>
                          <a:latin typeface="Arial"/>
                        </a:rPr>
                        <a:t>Tương đương</a:t>
                      </a:r>
                    </a:p>
                  </a:txBody>
                  <a:tcPr anchor="ctr" marL="82296" marR="82296" marT="27432" marB="27432">
                    <a:solidFill>
                      <a:srgbClr val="FFFFFF"/>
                    </a:solidFill>
                  </a:tcPr>
                </a:tc>
              </a:tr>
              <a:tr h="548640">
                <a:tc>
                  <a:txBody>
                    <a:bodyPr/>
                    <a:lstStyle/>
                    <a:p>
                      <a:pPr algn="l"/>
                      <a:r>
                        <a:rPr sz="1050" b="1">
                          <a:solidFill>
                            <a:srgbClr val="60666D"/>
                          </a:solidFill>
                          <a:latin typeface="Arial"/>
                        </a:rPr>
                        <a:t>Trích yếu (title)</a:t>
                      </a:r>
                    </a:p>
                  </a:txBody>
                  <a:tcPr anchor="ctr" marL="82296" marR="82296" marT="27432" marB="27432">
                    <a:solidFill>
                      <a:srgbClr val="EEF1F5"/>
                    </a:solidFill>
                  </a:tcPr>
                </a:tc>
                <a:tc>
                  <a:txBody>
                    <a:bodyPr/>
                    <a:lstStyle/>
                    <a:p>
                      <a:pPr algn="l"/>
                      <a:r>
                        <a:rPr sz="1000">
                          <a:solidFill>
                            <a:srgbClr val="60666D"/>
                          </a:solidFill>
                          <a:latin typeface="Consolas"/>
                        </a:rPr>
                        <a:t>Bắt buộc</a:t>
                      </a:r>
                    </a:p>
                  </a:txBody>
                  <a:tcPr anchor="ctr" marL="82296" marR="82296" marT="27432" marB="27432">
                    <a:solidFill>
                      <a:srgbClr val="EEF1F5"/>
                    </a:solidFill>
                  </a:tcPr>
                </a:tc>
                <a:tc>
                  <a:txBody>
                    <a:bodyPr/>
                    <a:lstStyle/>
                    <a:p>
                      <a:pPr algn="l"/>
                      <a:r>
                        <a:rPr sz="1050">
                          <a:solidFill>
                            <a:srgbClr val="60666D"/>
                          </a:solidFill>
                          <a:latin typeface="Arial"/>
                        </a:rPr>
                        <a:t>70.7%</a:t>
                      </a:r>
                    </a:p>
                  </a:txBody>
                  <a:tcPr anchor="ctr" marL="82296" marR="82296" marT="27432" marB="27432">
                    <a:solidFill>
                      <a:srgbClr val="EEF1F5"/>
                    </a:solidFill>
                  </a:tcPr>
                </a:tc>
                <a:tc>
                  <a:txBody>
                    <a:bodyPr/>
                    <a:lstStyle/>
                    <a:p>
                      <a:pPr algn="l"/>
                      <a:r>
                        <a:rPr sz="1050">
                          <a:solidFill>
                            <a:srgbClr val="60666D"/>
                          </a:solidFill>
                          <a:latin typeface="Arial"/>
                        </a:rPr>
                        <a:t>41.0%</a:t>
                      </a:r>
                    </a:p>
                  </a:txBody>
                  <a:tcPr anchor="ctr" marL="82296" marR="82296" marT="27432" marB="27432">
                    <a:solidFill>
                      <a:srgbClr val="EEF1F5"/>
                    </a:solidFill>
                  </a:tcPr>
                </a:tc>
                <a:tc>
                  <a:txBody>
                    <a:bodyPr/>
                    <a:lstStyle/>
                    <a:p>
                      <a:pPr algn="l"/>
                      <a:r>
                        <a:rPr sz="1050">
                          <a:solidFill>
                            <a:srgbClr val="60666D"/>
                          </a:solidFill>
                          <a:latin typeface="Arial"/>
                        </a:rPr>
                        <a:t>92.3%</a:t>
                      </a:r>
                    </a:p>
                  </a:txBody>
                  <a:tcPr anchor="ctr" marL="82296" marR="82296" marT="27432" marB="27432">
                    <a:solidFill>
                      <a:srgbClr val="EEF1F5"/>
                    </a:solidFill>
                  </a:tcPr>
                </a:tc>
                <a:tc>
                  <a:txBody>
                    <a:bodyPr/>
                    <a:lstStyle/>
                    <a:p>
                      <a:pPr algn="l"/>
                      <a:r>
                        <a:rPr sz="1050">
                          <a:solidFill>
                            <a:srgbClr val="60666D"/>
                          </a:solidFill>
                          <a:latin typeface="Arial"/>
                        </a:rPr>
                        <a:t>88.4%</a:t>
                      </a:r>
                    </a:p>
                  </a:txBody>
                  <a:tcPr anchor="ctr" marL="82296" marR="82296" marT="27432" marB="27432">
                    <a:solidFill>
                      <a:srgbClr val="EEF1F5"/>
                    </a:solidFill>
                  </a:tcPr>
                </a:tc>
                <a:tc>
                  <a:txBody>
                    <a:bodyPr/>
                    <a:lstStyle/>
                    <a:p>
                      <a:pPr algn="l"/>
                      <a:r>
                        <a:rPr sz="1050">
                          <a:solidFill>
                            <a:srgbClr val="60666D"/>
                          </a:solidFill>
                          <a:latin typeface="Arial"/>
                        </a:rPr>
                        <a:t>79.0%</a:t>
                      </a:r>
                    </a:p>
                  </a:txBody>
                  <a:tcPr anchor="ctr" marL="82296" marR="82296" marT="27432" marB="27432">
                    <a:solidFill>
                      <a:srgbClr val="EEF1F5"/>
                    </a:solidFill>
                  </a:tcPr>
                </a:tc>
                <a:tc>
                  <a:txBody>
                    <a:bodyPr/>
                    <a:lstStyle/>
                    <a:p>
                      <a:pPr algn="l"/>
                      <a:r>
                        <a:rPr sz="1050">
                          <a:solidFill>
                            <a:srgbClr val="60666D"/>
                          </a:solidFill>
                          <a:latin typeface="Arial"/>
                        </a:rPr>
                        <a:t>96.1%</a:t>
                      </a:r>
                    </a:p>
                  </a:txBody>
                  <a:tcPr anchor="ctr" marL="82296" marR="82296" marT="27432" marB="27432">
                    <a:solidFill>
                      <a:srgbClr val="EEF1F5"/>
                    </a:solidFill>
                  </a:tcPr>
                </a:tc>
                <a:tc>
                  <a:txBody>
                    <a:bodyPr/>
                    <a:lstStyle/>
                    <a:p>
                      <a:pPr algn="l"/>
                      <a:r>
                        <a:rPr sz="1050">
                          <a:solidFill>
                            <a:srgbClr val="60666D"/>
                          </a:solidFill>
                          <a:latin typeface="Arial"/>
                        </a:rPr>
                        <a:t>VAI tốt hơn</a:t>
                      </a:r>
                    </a:p>
                  </a:txBody>
                  <a:tcPr anchor="ctr" marL="82296" marR="82296" marT="27432" marB="27432">
                    <a:solidFill>
                      <a:srgbClr val="EEF1F5"/>
                    </a:solidFill>
                  </a:tcPr>
                </a:tc>
              </a:tr>
              <a:tr h="548640">
                <a:tc>
                  <a:txBody>
                    <a:bodyPr/>
                    <a:lstStyle/>
                    <a:p>
                      <a:pPr algn="l"/>
                      <a:r>
                        <a:rPr sz="1050" b="1">
                          <a:solidFill>
                            <a:srgbClr val="60666D"/>
                          </a:solidFill>
                          <a:latin typeface="Arial"/>
                        </a:rPr>
                        <a:t>Số, ký hiệu (code)</a:t>
                      </a:r>
                    </a:p>
                  </a:txBody>
                  <a:tcPr anchor="ctr" marL="82296" marR="82296" marT="27432" marB="27432">
                    <a:solidFill>
                      <a:srgbClr val="EEF1F5"/>
                    </a:solidFill>
                  </a:tcPr>
                </a:tc>
                <a:tc>
                  <a:txBody>
                    <a:bodyPr/>
                    <a:lstStyle/>
                    <a:p>
                      <a:pPr algn="l"/>
                      <a:r>
                        <a:rPr sz="1000">
                          <a:solidFill>
                            <a:srgbClr val="60666D"/>
                          </a:solidFill>
                          <a:latin typeface="Consolas"/>
                        </a:rPr>
                        <a:t>Bắt buộc</a:t>
                      </a:r>
                    </a:p>
                  </a:txBody>
                  <a:tcPr anchor="ctr" marL="82296" marR="82296" marT="27432" marB="27432">
                    <a:solidFill>
                      <a:srgbClr val="EEF1F5"/>
                    </a:solidFill>
                  </a:tcPr>
                </a:tc>
                <a:tc>
                  <a:txBody>
                    <a:bodyPr/>
                    <a:lstStyle/>
                    <a:p>
                      <a:pPr algn="l"/>
                      <a:r>
                        <a:rPr sz="1050">
                          <a:solidFill>
                            <a:srgbClr val="60666D"/>
                          </a:solidFill>
                          <a:latin typeface="Arial"/>
                        </a:rPr>
                        <a:t>87.0%</a:t>
                      </a:r>
                    </a:p>
                  </a:txBody>
                  <a:tcPr anchor="ctr" marL="82296" marR="82296" marT="27432" marB="27432">
                    <a:solidFill>
                      <a:srgbClr val="EEF1F5"/>
                    </a:solidFill>
                  </a:tcPr>
                </a:tc>
                <a:tc>
                  <a:txBody>
                    <a:bodyPr/>
                    <a:lstStyle/>
                    <a:p>
                      <a:pPr algn="l"/>
                      <a:r>
                        <a:rPr sz="1050">
                          <a:solidFill>
                            <a:srgbClr val="60666D"/>
                          </a:solidFill>
                          <a:latin typeface="Arial"/>
                        </a:rPr>
                        <a:t>87.0%</a:t>
                      </a:r>
                    </a:p>
                  </a:txBody>
                  <a:tcPr anchor="ctr" marL="82296" marR="82296" marT="27432" marB="27432">
                    <a:solidFill>
                      <a:srgbClr val="EEF1F5"/>
                    </a:solidFill>
                  </a:tcPr>
                </a:tc>
                <a:tc>
                  <a:txBody>
                    <a:bodyPr/>
                    <a:lstStyle/>
                    <a:p>
                      <a:pPr algn="l"/>
                      <a:r>
                        <a:rPr sz="1050">
                          <a:solidFill>
                            <a:srgbClr val="60666D"/>
                          </a:solidFill>
                          <a:latin typeface="Arial"/>
                        </a:rPr>
                        <a:t>98.6%</a:t>
                      </a:r>
                    </a:p>
                  </a:txBody>
                  <a:tcPr anchor="ctr" marL="82296" marR="82296" marT="27432" marB="27432">
                    <a:solidFill>
                      <a:srgbClr val="EEF1F5"/>
                    </a:solidFill>
                  </a:tcPr>
                </a:tc>
                <a:tc>
                  <a:txBody>
                    <a:bodyPr/>
                    <a:lstStyle/>
                    <a:p>
                      <a:pPr algn="l"/>
                      <a:r>
                        <a:rPr sz="1050">
                          <a:solidFill>
                            <a:srgbClr val="60666D"/>
                          </a:solidFill>
                          <a:latin typeface="Arial"/>
                        </a:rPr>
                        <a:t>94.5%</a:t>
                      </a:r>
                    </a:p>
                  </a:txBody>
                  <a:tcPr anchor="ctr" marL="82296" marR="82296" marT="27432" marB="27432">
                    <a:solidFill>
                      <a:srgbClr val="EEF1F5"/>
                    </a:solidFill>
                  </a:tcPr>
                </a:tc>
                <a:tc>
                  <a:txBody>
                    <a:bodyPr/>
                    <a:lstStyle/>
                    <a:p>
                      <a:pPr algn="l"/>
                      <a:r>
                        <a:rPr sz="1050">
                          <a:solidFill>
                            <a:srgbClr val="60666D"/>
                          </a:solidFill>
                          <a:latin typeface="Arial"/>
                        </a:rPr>
                        <a:t>94.0%</a:t>
                      </a:r>
                    </a:p>
                  </a:txBody>
                  <a:tcPr anchor="ctr" marL="82296" marR="82296" marT="27432" marB="27432">
                    <a:solidFill>
                      <a:srgbClr val="EEF1F5"/>
                    </a:solidFill>
                  </a:tcPr>
                </a:tc>
                <a:tc>
                  <a:txBody>
                    <a:bodyPr/>
                    <a:lstStyle/>
                    <a:p>
                      <a:pPr algn="l"/>
                      <a:r>
                        <a:rPr sz="1050">
                          <a:solidFill>
                            <a:srgbClr val="60666D"/>
                          </a:solidFill>
                          <a:latin typeface="Arial"/>
                        </a:rPr>
                        <a:t>97.8%</a:t>
                      </a:r>
                    </a:p>
                  </a:txBody>
                  <a:tcPr anchor="ctr" marL="82296" marR="82296" marT="27432" marB="27432">
                    <a:solidFill>
                      <a:srgbClr val="EEF1F5"/>
                    </a:solidFill>
                  </a:tcPr>
                </a:tc>
                <a:tc>
                  <a:txBody>
                    <a:bodyPr/>
                    <a:lstStyle/>
                    <a:p>
                      <a:pPr algn="l"/>
                      <a:r>
                        <a:rPr sz="1050">
                          <a:solidFill>
                            <a:srgbClr val="60666D"/>
                          </a:solidFill>
                          <a:latin typeface="Arial"/>
                        </a:rPr>
                        <a:t>VAI tốt hơn</a:t>
                      </a:r>
                    </a:p>
                  </a:txBody>
                  <a:tcPr anchor="ctr" marL="82296" marR="82296" marT="27432" marB="27432">
                    <a:solidFill>
                      <a:srgbClr val="EEF1F5"/>
                    </a:solidFill>
                  </a:tcPr>
                </a:tc>
              </a:tr>
              <a:tr h="548640">
                <a:tc>
                  <a:txBody>
                    <a:bodyPr/>
                    <a:lstStyle/>
                    <a:p>
                      <a:pPr algn="l"/>
                      <a:r>
                        <a:rPr sz="1050" b="1">
                          <a:solidFill>
                            <a:srgbClr val="60666D"/>
                          </a:solidFill>
                          <a:latin typeface="Arial"/>
                        </a:rPr>
                        <a:t>Ngày ban hành (documentDate)</a:t>
                      </a:r>
                    </a:p>
                  </a:txBody>
                  <a:tcPr anchor="ctr" marL="82296" marR="82296" marT="27432" marB="27432">
                    <a:solidFill>
                      <a:srgbClr val="EEF1F5"/>
                    </a:solidFill>
                  </a:tcPr>
                </a:tc>
                <a:tc>
                  <a:txBody>
                    <a:bodyPr/>
                    <a:lstStyle/>
                    <a:p>
                      <a:pPr algn="l"/>
                      <a:r>
                        <a:rPr sz="1000">
                          <a:solidFill>
                            <a:srgbClr val="60666D"/>
                          </a:solidFill>
                          <a:latin typeface="Consolas"/>
                        </a:rPr>
                        <a:t>Bắt buộc</a:t>
                      </a:r>
                    </a:p>
                  </a:txBody>
                  <a:tcPr anchor="ctr" marL="82296" marR="82296" marT="27432" marB="27432">
                    <a:solidFill>
                      <a:srgbClr val="EEF1F5"/>
                    </a:solidFill>
                  </a:tcPr>
                </a:tc>
                <a:tc>
                  <a:txBody>
                    <a:bodyPr/>
                    <a:lstStyle/>
                    <a:p>
                      <a:pPr algn="l"/>
                      <a:r>
                        <a:rPr sz="1050">
                          <a:solidFill>
                            <a:srgbClr val="60666D"/>
                          </a:solidFill>
                          <a:latin typeface="Arial"/>
                        </a:rPr>
                        <a:t>78.5%</a:t>
                      </a:r>
                    </a:p>
                  </a:txBody>
                  <a:tcPr anchor="ctr" marL="82296" marR="82296" marT="27432" marB="27432">
                    <a:solidFill>
                      <a:srgbClr val="EEF1F5"/>
                    </a:solidFill>
                  </a:tcPr>
                </a:tc>
                <a:tc>
                  <a:txBody>
                    <a:bodyPr/>
                    <a:lstStyle/>
                    <a:p>
                      <a:pPr algn="l"/>
                      <a:r>
                        <a:rPr sz="1050">
                          <a:solidFill>
                            <a:srgbClr val="60666D"/>
                          </a:solidFill>
                          <a:latin typeface="Arial"/>
                        </a:rPr>
                        <a:t>71.0%</a:t>
                      </a:r>
                    </a:p>
                  </a:txBody>
                  <a:tcPr anchor="ctr" marL="82296" marR="82296" marT="27432" marB="27432">
                    <a:solidFill>
                      <a:srgbClr val="EEF1F5"/>
                    </a:solidFill>
                  </a:tcPr>
                </a:tc>
                <a:tc>
                  <a:txBody>
                    <a:bodyPr/>
                    <a:lstStyle/>
                    <a:p>
                      <a:pPr algn="l"/>
                      <a:r>
                        <a:rPr sz="1050">
                          <a:solidFill>
                            <a:srgbClr val="60666D"/>
                          </a:solidFill>
                          <a:latin typeface="Arial"/>
                        </a:rPr>
                        <a:t>79.7%</a:t>
                      </a:r>
                    </a:p>
                  </a:txBody>
                  <a:tcPr anchor="ctr" marL="82296" marR="82296" marT="27432" marB="27432">
                    <a:solidFill>
                      <a:srgbClr val="EEF1F5"/>
                    </a:solidFill>
                  </a:tcPr>
                </a:tc>
                <a:tc>
                  <a:txBody>
                    <a:bodyPr/>
                    <a:lstStyle/>
                    <a:p>
                      <a:pPr algn="l"/>
                      <a:r>
                        <a:rPr sz="1050">
                          <a:solidFill>
                            <a:srgbClr val="60666D"/>
                          </a:solidFill>
                          <a:latin typeface="Arial"/>
                        </a:rPr>
                        <a:t>94.3%</a:t>
                      </a:r>
                    </a:p>
                  </a:txBody>
                  <a:tcPr anchor="ctr" marL="82296" marR="82296" marT="27432" marB="27432">
                    <a:solidFill>
                      <a:srgbClr val="EEF1F5"/>
                    </a:solidFill>
                  </a:tcPr>
                </a:tc>
                <a:tc>
                  <a:txBody>
                    <a:bodyPr/>
                    <a:lstStyle/>
                    <a:p>
                      <a:pPr algn="l"/>
                      <a:r>
                        <a:rPr sz="1050">
                          <a:solidFill>
                            <a:srgbClr val="60666D"/>
                          </a:solidFill>
                          <a:latin typeface="Arial"/>
                        </a:rPr>
                        <a:t>91.0%</a:t>
                      </a:r>
                    </a:p>
                  </a:txBody>
                  <a:tcPr anchor="ctr" marL="82296" marR="82296" marT="27432" marB="27432">
                    <a:solidFill>
                      <a:srgbClr val="EEF1F5"/>
                    </a:solidFill>
                  </a:tcPr>
                </a:tc>
                <a:tc>
                  <a:txBody>
                    <a:bodyPr/>
                    <a:lstStyle/>
                    <a:p>
                      <a:pPr algn="l"/>
                      <a:r>
                        <a:rPr sz="1050">
                          <a:solidFill>
                            <a:srgbClr val="60666D"/>
                          </a:solidFill>
                          <a:latin typeface="Arial"/>
                        </a:rPr>
                        <a:t>95.2%</a:t>
                      </a:r>
                    </a:p>
                  </a:txBody>
                  <a:tcPr anchor="ctr" marL="82296" marR="82296" marT="27432" marB="27432">
                    <a:solidFill>
                      <a:srgbClr val="EEF1F5"/>
                    </a:solidFill>
                  </a:tcPr>
                </a:tc>
                <a:tc>
                  <a:txBody>
                    <a:bodyPr/>
                    <a:lstStyle/>
                    <a:p>
                      <a:pPr algn="l"/>
                      <a:r>
                        <a:rPr sz="1050">
                          <a:solidFill>
                            <a:srgbClr val="60666D"/>
                          </a:solidFill>
                          <a:latin typeface="Arial"/>
                        </a:rPr>
                        <a:t>VAI tốt hơn</a:t>
                      </a:r>
                    </a:p>
                  </a:txBody>
                  <a:tcPr anchor="ctr" marL="82296" marR="82296" marT="27432" marB="27432">
                    <a:solidFill>
                      <a:srgbClr val="EEF1F5"/>
                    </a:solidFill>
                  </a:tcPr>
                </a:tc>
              </a:tr>
              <a:tr h="548640">
                <a:tc>
                  <a:txBody>
                    <a:bodyPr/>
                    <a:lstStyle/>
                    <a:p>
                      <a:pPr algn="l"/>
                      <a:r>
                        <a:rPr sz="1050" b="1">
                          <a:solidFill>
                            <a:srgbClr val="EE0033"/>
                          </a:solidFill>
                          <a:latin typeface="Arial"/>
                        </a:rPr>
                        <a:t>Cơ quan ban hành (officeSender)</a:t>
                      </a:r>
                    </a:p>
                  </a:txBody>
                  <a:tcPr anchor="ctr" marL="82296" marR="82296" marT="27432" marB="27432">
                    <a:solidFill>
                      <a:srgbClr val="FFFFFF"/>
                    </a:solidFill>
                  </a:tcPr>
                </a:tc>
                <a:tc>
                  <a:txBody>
                    <a:bodyPr/>
                    <a:lstStyle/>
                    <a:p>
                      <a:pPr algn="l"/>
                      <a:r>
                        <a:rPr sz="1000">
                          <a:solidFill>
                            <a:srgbClr val="22282E"/>
                          </a:solidFill>
                          <a:latin typeface="Consolas"/>
                        </a:rPr>
                        <a:t>Bắt buộc</a:t>
                      </a:r>
                    </a:p>
                  </a:txBody>
                  <a:tcPr anchor="ctr" marL="82296" marR="82296" marT="27432" marB="27432">
                    <a:solidFill>
                      <a:srgbClr val="FFFFFF"/>
                    </a:solidFill>
                  </a:tcPr>
                </a:tc>
                <a:tc>
                  <a:txBody>
                    <a:bodyPr/>
                    <a:lstStyle/>
                    <a:p>
                      <a:pPr algn="l"/>
                      <a:r>
                        <a:rPr sz="1050">
                          <a:solidFill>
                            <a:srgbClr val="22282E"/>
                          </a:solidFill>
                          <a:latin typeface="Arial"/>
                        </a:rPr>
                        <a:t>80.4%</a:t>
                      </a:r>
                    </a:p>
                  </a:txBody>
                  <a:tcPr anchor="ctr" marL="82296" marR="82296" marT="27432" marB="27432">
                    <a:solidFill>
                      <a:srgbClr val="FFFFFF"/>
                    </a:solidFill>
                  </a:tcPr>
                </a:tc>
                <a:tc>
                  <a:txBody>
                    <a:bodyPr/>
                    <a:lstStyle/>
                    <a:p>
                      <a:pPr algn="l"/>
                      <a:r>
                        <a:rPr sz="1050">
                          <a:solidFill>
                            <a:srgbClr val="22282E"/>
                          </a:solidFill>
                          <a:latin typeface="Arial"/>
                        </a:rPr>
                        <a:t>74.0%</a:t>
                      </a:r>
                    </a:p>
                  </a:txBody>
                  <a:tcPr anchor="ctr" marL="82296" marR="82296" marT="27432" marB="27432">
                    <a:solidFill>
                      <a:srgbClr val="FFFFFF"/>
                    </a:solidFill>
                  </a:tcPr>
                </a:tc>
                <a:tc>
                  <a:txBody>
                    <a:bodyPr/>
                    <a:lstStyle/>
                    <a:p>
                      <a:pPr algn="l"/>
                      <a:r>
                        <a:rPr sz="1050">
                          <a:solidFill>
                            <a:srgbClr val="22282E"/>
                          </a:solidFill>
                          <a:latin typeface="Arial"/>
                        </a:rPr>
                        <a:t>93.3%</a:t>
                      </a:r>
                    </a:p>
                  </a:txBody>
                  <a:tcPr anchor="ctr" marL="82296" marR="82296" marT="27432" marB="27432">
                    <a:solidFill>
                      <a:srgbClr val="FFFFFF"/>
                    </a:solidFill>
                  </a:tcPr>
                </a:tc>
                <a:tc>
                  <a:txBody>
                    <a:bodyPr/>
                    <a:lstStyle/>
                    <a:p>
                      <a:pPr algn="l"/>
                      <a:r>
                        <a:rPr sz="1050">
                          <a:solidFill>
                            <a:srgbClr val="22282E"/>
                          </a:solidFill>
                          <a:latin typeface="Arial"/>
                        </a:rPr>
                        <a:t>81.2%</a:t>
                      </a:r>
                    </a:p>
                  </a:txBody>
                  <a:tcPr anchor="ctr" marL="82296" marR="82296" marT="27432" marB="27432">
                    <a:solidFill>
                      <a:srgbClr val="FFFFFF"/>
                    </a:solidFill>
                  </a:tcPr>
                </a:tc>
                <a:tc>
                  <a:txBody>
                    <a:bodyPr/>
                    <a:lstStyle/>
                    <a:p>
                      <a:pPr algn="l"/>
                      <a:r>
                        <a:rPr sz="1050">
                          <a:solidFill>
                            <a:srgbClr val="22282E"/>
                          </a:solidFill>
                          <a:latin typeface="Arial"/>
                        </a:rPr>
                        <a:t>80.0%</a:t>
                      </a:r>
                    </a:p>
                  </a:txBody>
                  <a:tcPr anchor="ctr" marL="82296" marR="82296" marT="27432" marB="27432">
                    <a:solidFill>
                      <a:srgbClr val="FFFFFF"/>
                    </a:solidFill>
                  </a:tcPr>
                </a:tc>
                <a:tc>
                  <a:txBody>
                    <a:bodyPr/>
                    <a:lstStyle/>
                    <a:p>
                      <a:pPr algn="l"/>
                      <a:r>
                        <a:rPr sz="1050">
                          <a:solidFill>
                            <a:srgbClr val="22282E"/>
                          </a:solidFill>
                          <a:latin typeface="Arial"/>
                        </a:rPr>
                        <a:t>86.7%</a:t>
                      </a:r>
                    </a:p>
                  </a:txBody>
                  <a:tcPr anchor="ctr" marL="82296" marR="82296" marT="27432" marB="27432">
                    <a:solidFill>
                      <a:srgbClr val="FFFFFF"/>
                    </a:solidFill>
                  </a:tcPr>
                </a:tc>
                <a:tc>
                  <a:txBody>
                    <a:bodyPr/>
                    <a:lstStyle/>
                    <a:p>
                      <a:pPr algn="l"/>
                      <a:r>
                        <a:rPr sz="1050">
                          <a:solidFill>
                            <a:srgbClr val="22282E"/>
                          </a:solidFill>
                          <a:latin typeface="Arial"/>
                        </a:rPr>
                        <a:t>Tương đương</a:t>
                      </a:r>
                    </a:p>
                  </a:txBody>
                  <a:tcPr anchor="ctr" marL="82296" marR="82296" marT="27432" marB="27432">
                    <a:solidFill>
                      <a:srgbClr val="FFFFFF"/>
                    </a:solidFill>
                  </a:tcPr>
                </a:tc>
              </a:tr>
              <a:tr h="548640">
                <a:tc>
                  <a:txBody>
                    <a:bodyPr/>
                    <a:lstStyle/>
                    <a:p>
                      <a:pPr algn="l"/>
                      <a:r>
                        <a:rPr sz="1050" b="1">
                          <a:solidFill>
                            <a:srgbClr val="EE0033"/>
                          </a:solidFill>
                          <a:latin typeface="Arial"/>
                        </a:rPr>
                        <a:t>Độ khẩn (priority_level)</a:t>
                      </a:r>
                    </a:p>
                  </a:txBody>
                  <a:tcPr anchor="ctr" marL="82296" marR="82296" marT="27432" marB="27432">
                    <a:solidFill>
                      <a:srgbClr val="F8FAFC"/>
                    </a:solidFill>
                  </a:tcPr>
                </a:tc>
                <a:tc>
                  <a:txBody>
                    <a:bodyPr/>
                    <a:lstStyle/>
                    <a:p>
                      <a:pPr algn="l"/>
                      <a:r>
                        <a:rPr sz="1000">
                          <a:solidFill>
                            <a:srgbClr val="22282E"/>
                          </a:solidFill>
                          <a:latin typeface="Consolas"/>
                        </a:rPr>
                        <a:t>Bắt buộc</a:t>
                      </a:r>
                    </a:p>
                  </a:txBody>
                  <a:tcPr anchor="ctr" marL="82296" marR="82296" marT="27432" marB="27432">
                    <a:solidFill>
                      <a:srgbClr val="F8FAFC"/>
                    </a:solidFill>
                  </a:tcPr>
                </a:tc>
                <a:tc>
                  <a:txBody>
                    <a:bodyPr/>
                    <a:lstStyle/>
                    <a:p>
                      <a:pPr algn="l"/>
                      <a:r>
                        <a:rPr sz="1050">
                          <a:solidFill>
                            <a:srgbClr val="22282E"/>
                          </a:solidFill>
                          <a:latin typeface="Arial"/>
                        </a:rPr>
                        <a:t>95.0%</a:t>
                      </a:r>
                    </a:p>
                  </a:txBody>
                  <a:tcPr anchor="ctr" marL="82296" marR="82296" marT="27432" marB="27432">
                    <a:solidFill>
                      <a:srgbClr val="F8FAFC"/>
                    </a:solidFill>
                  </a:tcPr>
                </a:tc>
                <a:tc>
                  <a:txBody>
                    <a:bodyPr/>
                    <a:lstStyle/>
                    <a:p>
                      <a:pPr algn="l"/>
                      <a:r>
                        <a:rPr sz="1050">
                          <a:solidFill>
                            <a:srgbClr val="22282E"/>
                          </a:solidFill>
                          <a:latin typeface="Arial"/>
                        </a:rPr>
                        <a:t>95.0%</a:t>
                      </a:r>
                    </a:p>
                  </a:txBody>
                  <a:tcPr anchor="ctr" marL="82296" marR="82296" marT="27432" marB="27432">
                    <a:solidFill>
                      <a:srgbClr val="F8FAFC"/>
                    </a:solidFill>
                  </a:tcPr>
                </a:tc>
                <a:tc>
                  <a:txBody>
                    <a:bodyPr/>
                    <a:lstStyle/>
                    <a:p>
                      <a:pPr algn="l"/>
                      <a:r>
                        <a:rPr sz="1050">
                          <a:solidFill>
                            <a:srgbClr val="22282E"/>
                          </a:solidFill>
                          <a:latin typeface="Arial"/>
                        </a:rPr>
                        <a:t>96.2%</a:t>
                      </a:r>
                    </a:p>
                  </a:txBody>
                  <a:tcPr anchor="ctr" marL="82296" marR="82296" marT="27432" marB="27432">
                    <a:solidFill>
                      <a:srgbClr val="F8FAFC"/>
                    </a:solidFill>
                  </a:tcPr>
                </a:tc>
                <a:tc>
                  <a:txBody>
                    <a:bodyPr/>
                    <a:lstStyle/>
                    <a:p>
                      <a:pPr algn="l"/>
                      <a:r>
                        <a:rPr sz="1050">
                          <a:solidFill>
                            <a:srgbClr val="22282E"/>
                          </a:solidFill>
                          <a:latin typeface="Arial"/>
                        </a:rPr>
                        <a:t>98.5%</a:t>
                      </a:r>
                    </a:p>
                  </a:txBody>
                  <a:tcPr anchor="ctr" marL="82296" marR="82296" marT="27432" marB="27432">
                    <a:solidFill>
                      <a:srgbClr val="F8FAFC"/>
                    </a:solidFill>
                  </a:tcPr>
                </a:tc>
                <a:tc>
                  <a:txBody>
                    <a:bodyPr/>
                    <a:lstStyle/>
                    <a:p>
                      <a:pPr algn="l"/>
                      <a:r>
                        <a:rPr sz="1050">
                          <a:solidFill>
                            <a:srgbClr val="22282E"/>
                          </a:solidFill>
                          <a:latin typeface="Arial"/>
                        </a:rPr>
                        <a:t>98.0%</a:t>
                      </a:r>
                    </a:p>
                  </a:txBody>
                  <a:tcPr anchor="ctr" marL="82296" marR="82296" marT="27432" marB="27432">
                    <a:solidFill>
                      <a:srgbClr val="F8FAFC"/>
                    </a:solidFill>
                  </a:tcPr>
                </a:tc>
                <a:tc>
                  <a:txBody>
                    <a:bodyPr/>
                    <a:lstStyle/>
                    <a:p>
                      <a:pPr algn="l"/>
                      <a:r>
                        <a:rPr sz="1050">
                          <a:solidFill>
                            <a:srgbClr val="22282E"/>
                          </a:solidFill>
                          <a:latin typeface="Arial"/>
                        </a:rPr>
                        <a:t>98.2%</a:t>
                      </a:r>
                    </a:p>
                  </a:txBody>
                  <a:tcPr anchor="ctr" marL="82296" marR="82296" marT="27432" marB="27432">
                    <a:solidFill>
                      <a:srgbClr val="F8FAFC"/>
                    </a:solidFill>
                  </a:tcPr>
                </a:tc>
                <a:tc>
                  <a:txBody>
                    <a:bodyPr/>
                    <a:lstStyle/>
                    <a:p>
                      <a:pPr algn="l"/>
                      <a:r>
                        <a:rPr sz="1050">
                          <a:solidFill>
                            <a:srgbClr val="22282E"/>
                          </a:solidFill>
                          <a:latin typeface="Arial"/>
                        </a:rPr>
                        <a:t>Tương đương</a:t>
                      </a:r>
                    </a:p>
                  </a:txBody>
                  <a:tcPr anchor="ctr" marL="82296" marR="82296" marT="27432" marB="27432">
                    <a:solidFill>
                      <a:srgbClr val="F8FAFC"/>
                    </a:solidFill>
                  </a:tcPr>
                </a:tc>
              </a:tr>
              <a:tr h="548640">
                <a:tc>
                  <a:txBody>
                    <a:bodyPr/>
                    <a:lstStyle/>
                    <a:p>
                      <a:pPr algn="l"/>
                      <a:r>
                        <a:rPr sz="1050" b="1">
                          <a:solidFill>
                            <a:srgbClr val="EE0033"/>
                          </a:solidFill>
                          <a:latin typeface="Arial"/>
                        </a:rPr>
                        <a:t>Độ mật (security_level)</a:t>
                      </a:r>
                    </a:p>
                  </a:txBody>
                  <a:tcPr anchor="ctr" marL="82296" marR="82296" marT="27432" marB="27432">
                    <a:solidFill>
                      <a:srgbClr val="EDF8F1"/>
                    </a:solidFill>
                  </a:tcPr>
                </a:tc>
                <a:tc>
                  <a:txBody>
                    <a:bodyPr/>
                    <a:lstStyle/>
                    <a:p>
                      <a:pPr algn="l"/>
                      <a:r>
                        <a:rPr sz="1000">
                          <a:solidFill>
                            <a:srgbClr val="22282E"/>
                          </a:solidFill>
                          <a:latin typeface="Consolas"/>
                        </a:rPr>
                        <a:t>Bắt buộc</a:t>
                      </a:r>
                    </a:p>
                  </a:txBody>
                  <a:tcPr anchor="ctr" marL="82296" marR="82296" marT="27432" marB="27432">
                    <a:solidFill>
                      <a:srgbClr val="EDF8F1"/>
                    </a:solidFill>
                  </a:tcPr>
                </a:tc>
                <a:tc>
                  <a:txBody>
                    <a:bodyPr/>
                    <a:lstStyle/>
                    <a:p>
                      <a:pPr algn="l"/>
                      <a:r>
                        <a:rPr sz="1050">
                          <a:solidFill>
                            <a:srgbClr val="22282E"/>
                          </a:solidFill>
                          <a:latin typeface="Arial"/>
                        </a:rPr>
                        <a:t>100.0%</a:t>
                      </a:r>
                    </a:p>
                  </a:txBody>
                  <a:tcPr anchor="ctr" marL="82296" marR="82296" marT="27432" marB="27432">
                    <a:solidFill>
                      <a:srgbClr val="EDF8F1"/>
                    </a:solidFill>
                  </a:tcPr>
                </a:tc>
                <a:tc>
                  <a:txBody>
                    <a:bodyPr/>
                    <a:lstStyle/>
                    <a:p>
                      <a:pPr algn="l"/>
                      <a:r>
                        <a:rPr sz="1050">
                          <a:solidFill>
                            <a:srgbClr val="22282E"/>
                          </a:solidFill>
                          <a:latin typeface="Arial"/>
                        </a:rPr>
                        <a:t>100.0%</a:t>
                      </a:r>
                    </a:p>
                  </a:txBody>
                  <a:tcPr anchor="ctr" marL="82296" marR="82296" marT="27432" marB="27432">
                    <a:solidFill>
                      <a:srgbClr val="EDF8F1"/>
                    </a:solidFill>
                  </a:tcPr>
                </a:tc>
                <a:tc>
                  <a:txBody>
                    <a:bodyPr/>
                    <a:lstStyle/>
                    <a:p>
                      <a:pPr algn="l"/>
                      <a:r>
                        <a:rPr sz="1050">
                          <a:solidFill>
                            <a:srgbClr val="22282E"/>
                          </a:solidFill>
                          <a:latin typeface="Arial"/>
                        </a:rPr>
                        <a:t>100.0%</a:t>
                      </a:r>
                    </a:p>
                  </a:txBody>
                  <a:tcPr anchor="ctr" marL="82296" marR="82296" marT="27432" marB="27432">
                    <a:solidFill>
                      <a:srgbClr val="EDF8F1"/>
                    </a:solidFill>
                  </a:tcPr>
                </a:tc>
                <a:tc>
                  <a:txBody>
                    <a:bodyPr/>
                    <a:lstStyle/>
                    <a:p>
                      <a:pPr algn="l"/>
                      <a:r>
                        <a:rPr sz="1050">
                          <a:solidFill>
                            <a:srgbClr val="22282E"/>
                          </a:solidFill>
                          <a:latin typeface="Arial"/>
                        </a:rPr>
                        <a:t>98.5%</a:t>
                      </a:r>
                    </a:p>
                  </a:txBody>
                  <a:tcPr anchor="ctr" marL="82296" marR="82296" marT="27432" marB="27432">
                    <a:solidFill>
                      <a:srgbClr val="EDF8F1"/>
                    </a:solidFill>
                  </a:tcPr>
                </a:tc>
                <a:tc>
                  <a:txBody>
                    <a:bodyPr/>
                    <a:lstStyle/>
                    <a:p>
                      <a:pPr algn="l"/>
                      <a:r>
                        <a:rPr sz="1050">
                          <a:solidFill>
                            <a:srgbClr val="22282E"/>
                          </a:solidFill>
                          <a:latin typeface="Arial"/>
                        </a:rPr>
                        <a:t>98.0%</a:t>
                      </a:r>
                    </a:p>
                  </a:txBody>
                  <a:tcPr anchor="ctr" marL="82296" marR="82296" marT="27432" marB="27432">
                    <a:solidFill>
                      <a:srgbClr val="EDF8F1"/>
                    </a:solidFill>
                  </a:tcPr>
                </a:tc>
                <a:tc>
                  <a:txBody>
                    <a:bodyPr/>
                    <a:lstStyle/>
                    <a:p>
                      <a:pPr algn="l"/>
                      <a:r>
                        <a:rPr sz="1050">
                          <a:solidFill>
                            <a:srgbClr val="22282E"/>
                          </a:solidFill>
                          <a:latin typeface="Arial"/>
                        </a:rPr>
                        <a:t>98.2%</a:t>
                      </a:r>
                    </a:p>
                  </a:txBody>
                  <a:tcPr anchor="ctr" marL="82296" marR="82296" marT="27432" marB="27432">
                    <a:solidFill>
                      <a:srgbClr val="EDF8F1"/>
                    </a:solidFill>
                  </a:tcPr>
                </a:tc>
                <a:tc>
                  <a:txBody>
                    <a:bodyPr/>
                    <a:lstStyle/>
                    <a:p>
                      <a:pPr algn="l"/>
                      <a:r>
                        <a:rPr sz="1050">
                          <a:solidFill>
                            <a:srgbClr val="22282E"/>
                          </a:solidFill>
                          <a:latin typeface="Arial"/>
                        </a:rPr>
                        <a:t>Nội bộ đạt 100%</a:t>
                      </a:r>
                    </a:p>
                  </a:txBody>
                  <a:tcPr anchor="ctr" marL="82296" marR="82296" marT="27432" marB="27432">
                    <a:solidFill>
                      <a:srgbClr val="EDF8F1"/>
                    </a:solidFill>
                  </a:tcPr>
                </a:tc>
              </a:tr>
              <a:tr h="548640">
                <a:tc>
                  <a:txBody>
                    <a:bodyPr/>
                    <a:lstStyle/>
                    <a:p>
                      <a:pPr algn="l"/>
                      <a:r>
                        <a:rPr sz="1050" b="1">
                          <a:solidFill>
                            <a:srgbClr val="22282E"/>
                          </a:solidFill>
                          <a:latin typeface="Arial"/>
                        </a:rPr>
                        <a:t>Nơi nhận (recipients)</a:t>
                      </a:r>
                    </a:p>
                  </a:txBody>
                  <a:tcPr anchor="ctr" marL="82296" marR="82296" marT="27432" marB="27432">
                    <a:solidFill>
                      <a:srgbClr val="F8FAFC"/>
                    </a:solidFill>
                  </a:tcPr>
                </a:tc>
                <a:tc>
                  <a:txBody>
                    <a:bodyPr/>
                    <a:lstStyle/>
                    <a:p>
                      <a:pPr algn="l"/>
                      <a:r>
                        <a:rPr sz="1000">
                          <a:solidFill>
                            <a:srgbClr val="22282E"/>
                          </a:solidFill>
                          <a:latin typeface="Consolas"/>
                        </a:rPr>
                        <a:t>Quan trọng</a:t>
                      </a:r>
                    </a:p>
                  </a:txBody>
                  <a:tcPr anchor="ctr" marL="82296" marR="82296" marT="27432" marB="27432">
                    <a:solidFill>
                      <a:srgbClr val="F8FAFC"/>
                    </a:solidFill>
                  </a:tcPr>
                </a:tc>
                <a:tc>
                  <a:txBody>
                    <a:bodyPr/>
                    <a:lstStyle/>
                    <a:p>
                      <a:pPr algn="l"/>
                      <a:r>
                        <a:rPr sz="1050">
                          <a:solidFill>
                            <a:srgbClr val="22282E"/>
                          </a:solidFill>
                          <a:latin typeface="Arial"/>
                        </a:rPr>
                        <a:t>90.2%</a:t>
                      </a:r>
                    </a:p>
                  </a:txBody>
                  <a:tcPr anchor="ctr" marL="82296" marR="82296" marT="27432" marB="27432">
                    <a:solidFill>
                      <a:srgbClr val="F8FAFC"/>
                    </a:solidFill>
                  </a:tcPr>
                </a:tc>
                <a:tc>
                  <a:txBody>
                    <a:bodyPr/>
                    <a:lstStyle/>
                    <a:p>
                      <a:pPr algn="l"/>
                      <a:r>
                        <a:rPr sz="1050">
                          <a:solidFill>
                            <a:srgbClr val="22282E"/>
                          </a:solidFill>
                          <a:latin typeface="Arial"/>
                        </a:rPr>
                        <a:t>36.4%</a:t>
                      </a:r>
                    </a:p>
                  </a:txBody>
                  <a:tcPr anchor="ctr" marL="82296" marR="82296" marT="27432" marB="27432">
                    <a:solidFill>
                      <a:srgbClr val="F8FAFC"/>
                    </a:solidFill>
                  </a:tcPr>
                </a:tc>
                <a:tc>
                  <a:txBody>
                    <a:bodyPr/>
                    <a:lstStyle/>
                    <a:p>
                      <a:pPr algn="l"/>
                      <a:r>
                        <a:rPr sz="1050">
                          <a:solidFill>
                            <a:srgbClr val="22282E"/>
                          </a:solidFill>
                          <a:latin typeface="Arial"/>
                        </a:rPr>
                        <a:t>94.0%</a:t>
                      </a:r>
                    </a:p>
                  </a:txBody>
                  <a:tcPr anchor="ctr" marL="82296" marR="82296" marT="27432" marB="27432">
                    <a:solidFill>
                      <a:srgbClr val="F8FAFC"/>
                    </a:solidFill>
                  </a:tcPr>
                </a:tc>
                <a:tc>
                  <a:txBody>
                    <a:bodyPr/>
                    <a:lstStyle/>
                    <a:p>
                      <a:pPr algn="l"/>
                      <a:r>
                        <a:rPr sz="1050">
                          <a:solidFill>
                            <a:srgbClr val="22282E"/>
                          </a:solidFill>
                          <a:latin typeface="Arial"/>
                        </a:rPr>
                        <a:t>92.1%</a:t>
                      </a:r>
                    </a:p>
                  </a:txBody>
                  <a:tcPr anchor="ctr" marL="82296" marR="82296" marT="27432" marB="27432">
                    <a:solidFill>
                      <a:srgbClr val="F8FAFC"/>
                    </a:solidFill>
                  </a:tcPr>
                </a:tc>
                <a:tc>
                  <a:txBody>
                    <a:bodyPr/>
                    <a:lstStyle/>
                    <a:p>
                      <a:pPr algn="l"/>
                      <a:r>
                        <a:rPr sz="1050">
                          <a:solidFill>
                            <a:srgbClr val="22282E"/>
                          </a:solidFill>
                          <a:latin typeface="Arial"/>
                        </a:rPr>
                        <a:t>43.2%</a:t>
                      </a:r>
                    </a:p>
                  </a:txBody>
                  <a:tcPr anchor="ctr" marL="82296" marR="82296" marT="27432" marB="27432">
                    <a:solidFill>
                      <a:srgbClr val="F8FAFC"/>
                    </a:solidFill>
                  </a:tcPr>
                </a:tc>
                <a:tc>
                  <a:txBody>
                    <a:bodyPr/>
                    <a:lstStyle/>
                    <a:p>
                      <a:pPr algn="l"/>
                      <a:r>
                        <a:rPr sz="1050">
                          <a:solidFill>
                            <a:srgbClr val="22282E"/>
                          </a:solidFill>
                          <a:latin typeface="Arial"/>
                        </a:rPr>
                        <a:t>94.2%</a:t>
                      </a:r>
                    </a:p>
                  </a:txBody>
                  <a:tcPr anchor="ctr" marL="82296" marR="82296" marT="27432" marB="27432">
                    <a:solidFill>
                      <a:srgbClr val="F8FAFC"/>
                    </a:solidFill>
                  </a:tcPr>
                </a:tc>
                <a:tc>
                  <a:txBody>
                    <a:bodyPr/>
                    <a:lstStyle/>
                    <a:p>
                      <a:pPr algn="l"/>
                      <a:r>
                        <a:rPr sz="1050">
                          <a:solidFill>
                            <a:srgbClr val="22282E"/>
                          </a:solidFill>
                          <a:latin typeface="Arial"/>
                        </a:rPr>
                        <a:t>Tương đương</a:t>
                      </a:r>
                    </a:p>
                  </a:txBody>
                  <a:tcPr anchor="ctr" marL="82296" marR="82296" marT="27432" marB="27432">
                    <a:solidFill>
                      <a:srgbClr val="F8FAFC"/>
                    </a:solidFill>
                  </a:tcPr>
                </a:tc>
              </a:tr>
              <a:tr h="548640">
                <a:tc>
                  <a:txBody>
                    <a:bodyPr/>
                    <a:lstStyle/>
                    <a:p>
                      <a:pPr algn="l"/>
                      <a:r>
                        <a:rPr sz="1050" b="1">
                          <a:solidFill>
                            <a:srgbClr val="60666D"/>
                          </a:solidFill>
                          <a:latin typeface="Arial"/>
                        </a:rPr>
                        <a:t>Họ tên người ký (signer)</a:t>
                      </a:r>
                    </a:p>
                  </a:txBody>
                  <a:tcPr anchor="ctr" marL="82296" marR="82296" marT="27432" marB="27432">
                    <a:solidFill>
                      <a:srgbClr val="EEF1F5"/>
                    </a:solidFill>
                  </a:tcPr>
                </a:tc>
                <a:tc>
                  <a:txBody>
                    <a:bodyPr/>
                    <a:lstStyle/>
                    <a:p>
                      <a:pPr algn="l"/>
                      <a:r>
                        <a:rPr sz="1000">
                          <a:solidFill>
                            <a:srgbClr val="60666D"/>
                          </a:solidFill>
                          <a:latin typeface="Consolas"/>
                        </a:rPr>
                        <a:t>Quan trọng</a:t>
                      </a:r>
                    </a:p>
                  </a:txBody>
                  <a:tcPr anchor="ctr" marL="82296" marR="82296" marT="27432" marB="27432">
                    <a:solidFill>
                      <a:srgbClr val="EEF1F5"/>
                    </a:solidFill>
                  </a:tcPr>
                </a:tc>
                <a:tc>
                  <a:txBody>
                    <a:bodyPr/>
                    <a:lstStyle/>
                    <a:p>
                      <a:pPr algn="l"/>
                      <a:r>
                        <a:rPr sz="1050">
                          <a:solidFill>
                            <a:srgbClr val="60666D"/>
                          </a:solidFill>
                          <a:latin typeface="Arial"/>
                        </a:rPr>
                        <a:t>84.5%</a:t>
                      </a:r>
                    </a:p>
                  </a:txBody>
                  <a:tcPr anchor="ctr" marL="82296" marR="82296" marT="27432" marB="27432">
                    <a:solidFill>
                      <a:srgbClr val="EEF1F5"/>
                    </a:solidFill>
                  </a:tcPr>
                </a:tc>
                <a:tc>
                  <a:txBody>
                    <a:bodyPr/>
                    <a:lstStyle/>
                    <a:p>
                      <a:pPr algn="l"/>
                      <a:r>
                        <a:rPr sz="1050">
                          <a:solidFill>
                            <a:srgbClr val="60666D"/>
                          </a:solidFill>
                          <a:latin typeface="Arial"/>
                        </a:rPr>
                        <a:t>80.6%</a:t>
                      </a:r>
                    </a:p>
                  </a:txBody>
                  <a:tcPr anchor="ctr" marL="82296" marR="82296" marT="27432" marB="27432">
                    <a:solidFill>
                      <a:srgbClr val="EEF1F5"/>
                    </a:solidFill>
                  </a:tcPr>
                </a:tc>
                <a:tc>
                  <a:txBody>
                    <a:bodyPr/>
                    <a:lstStyle/>
                    <a:p>
                      <a:pPr algn="l"/>
                      <a:r>
                        <a:rPr sz="1050">
                          <a:solidFill>
                            <a:srgbClr val="60666D"/>
                          </a:solidFill>
                          <a:latin typeface="Arial"/>
                        </a:rPr>
                        <a:t>86.9%</a:t>
                      </a:r>
                    </a:p>
                  </a:txBody>
                  <a:tcPr anchor="ctr" marL="82296" marR="82296" marT="27432" marB="27432">
                    <a:solidFill>
                      <a:srgbClr val="EEF1F5"/>
                    </a:solidFill>
                  </a:tcPr>
                </a:tc>
                <a:tc>
                  <a:txBody>
                    <a:bodyPr/>
                    <a:lstStyle/>
                    <a:p>
                      <a:pPr algn="l"/>
                      <a:r>
                        <a:rPr sz="1050">
                          <a:solidFill>
                            <a:srgbClr val="60666D"/>
                          </a:solidFill>
                          <a:latin typeface="Arial"/>
                        </a:rPr>
                        <a:t>94.4%</a:t>
                      </a:r>
                    </a:p>
                  </a:txBody>
                  <a:tcPr anchor="ctr" marL="82296" marR="82296" marT="27432" marB="27432">
                    <a:solidFill>
                      <a:srgbClr val="EEF1F5"/>
                    </a:solidFill>
                  </a:tcPr>
                </a:tc>
                <a:tc>
                  <a:txBody>
                    <a:bodyPr/>
                    <a:lstStyle/>
                    <a:p>
                      <a:pPr algn="l"/>
                      <a:r>
                        <a:rPr sz="1050">
                          <a:solidFill>
                            <a:srgbClr val="60666D"/>
                          </a:solidFill>
                          <a:latin typeface="Arial"/>
                        </a:rPr>
                        <a:t>93.9%</a:t>
                      </a:r>
                    </a:p>
                  </a:txBody>
                  <a:tcPr anchor="ctr" marL="82296" marR="82296" marT="27432" marB="27432">
                    <a:solidFill>
                      <a:srgbClr val="EEF1F5"/>
                    </a:solidFill>
                  </a:tcPr>
                </a:tc>
                <a:tc>
                  <a:txBody>
                    <a:bodyPr/>
                    <a:lstStyle/>
                    <a:p>
                      <a:pPr algn="l"/>
                      <a:r>
                        <a:rPr sz="1050">
                          <a:solidFill>
                            <a:srgbClr val="60666D"/>
                          </a:solidFill>
                          <a:latin typeface="Arial"/>
                        </a:rPr>
                        <a:t>96.9%</a:t>
                      </a:r>
                    </a:p>
                  </a:txBody>
                  <a:tcPr anchor="ctr" marL="82296" marR="82296" marT="27432" marB="27432">
                    <a:solidFill>
                      <a:srgbClr val="EEF1F5"/>
                    </a:solidFill>
                  </a:tcPr>
                </a:tc>
                <a:tc>
                  <a:txBody>
                    <a:bodyPr/>
                    <a:lstStyle/>
                    <a:p>
                      <a:pPr algn="l"/>
                      <a:r>
                        <a:rPr sz="1050">
                          <a:solidFill>
                            <a:srgbClr val="60666D"/>
                          </a:solidFill>
                          <a:latin typeface="Arial"/>
                        </a:rPr>
                        <a:t>VAI tốt hơn</a:t>
                      </a:r>
                    </a:p>
                  </a:txBody>
                  <a:tcPr anchor="ctr" marL="82296" marR="82296" marT="27432" marB="27432">
                    <a:solidFill>
                      <a:srgbClr val="EEF1F5"/>
                    </a:solidFill>
                  </a:tcPr>
                </a:tc>
              </a:tr>
              <a:tr h="548640">
                <a:tc>
                  <a:txBody>
                    <a:bodyPr/>
                    <a:lstStyle/>
                    <a:p>
                      <a:pPr algn="l"/>
                      <a:r>
                        <a:rPr sz="1050" b="1">
                          <a:solidFill>
                            <a:srgbClr val="22282E"/>
                          </a:solidFill>
                          <a:latin typeface="Arial"/>
                        </a:rPr>
                        <a:t>Kính gửi (first_recipients)</a:t>
                      </a:r>
                    </a:p>
                  </a:txBody>
                  <a:tcPr anchor="ctr" marL="82296" marR="82296" marT="27432" marB="27432">
                    <a:solidFill>
                      <a:srgbClr val="EDF8F1"/>
                    </a:solidFill>
                  </a:tcPr>
                </a:tc>
                <a:tc>
                  <a:txBody>
                    <a:bodyPr/>
                    <a:lstStyle/>
                    <a:p>
                      <a:pPr algn="l"/>
                      <a:r>
                        <a:rPr sz="1000">
                          <a:solidFill>
                            <a:srgbClr val="22282E"/>
                          </a:solidFill>
                          <a:latin typeface="Consolas"/>
                        </a:rPr>
                        <a:t>Quan trọng</a:t>
                      </a:r>
                    </a:p>
                  </a:txBody>
                  <a:tcPr anchor="ctr" marL="82296" marR="82296" marT="27432" marB="27432">
                    <a:solidFill>
                      <a:srgbClr val="EDF8F1"/>
                    </a:solidFill>
                  </a:tcPr>
                </a:tc>
                <a:tc>
                  <a:txBody>
                    <a:bodyPr/>
                    <a:lstStyle/>
                    <a:p>
                      <a:pPr algn="l"/>
                      <a:r>
                        <a:rPr sz="1050">
                          <a:solidFill>
                            <a:srgbClr val="22282E"/>
                          </a:solidFill>
                          <a:latin typeface="Arial"/>
                        </a:rPr>
                        <a:t>75.9%</a:t>
                      </a:r>
                    </a:p>
                  </a:txBody>
                  <a:tcPr anchor="ctr" marL="82296" marR="82296" marT="27432" marB="27432">
                    <a:solidFill>
                      <a:srgbClr val="EDF8F1"/>
                    </a:solidFill>
                  </a:tcPr>
                </a:tc>
                <a:tc>
                  <a:txBody>
                    <a:bodyPr/>
                    <a:lstStyle/>
                    <a:p>
                      <a:pPr algn="l"/>
                      <a:r>
                        <a:rPr sz="1050">
                          <a:solidFill>
                            <a:srgbClr val="22282E"/>
                          </a:solidFill>
                          <a:latin typeface="Arial"/>
                        </a:rPr>
                        <a:t>66.7%</a:t>
                      </a:r>
                    </a:p>
                  </a:txBody>
                  <a:tcPr anchor="ctr" marL="82296" marR="82296" marT="27432" marB="27432">
                    <a:solidFill>
                      <a:srgbClr val="EDF8F1"/>
                    </a:solidFill>
                  </a:tcPr>
                </a:tc>
                <a:tc>
                  <a:txBody>
                    <a:bodyPr/>
                    <a:lstStyle/>
                    <a:p>
                      <a:pPr algn="l"/>
                      <a:r>
                        <a:rPr sz="1050">
                          <a:solidFill>
                            <a:srgbClr val="22282E"/>
                          </a:solidFill>
                          <a:latin typeface="Arial"/>
                        </a:rPr>
                        <a:t>88.5%</a:t>
                      </a:r>
                    </a:p>
                  </a:txBody>
                  <a:tcPr anchor="ctr" marL="82296" marR="82296" marT="27432" marB="27432">
                    <a:solidFill>
                      <a:srgbClr val="EDF8F1"/>
                    </a:solidFill>
                  </a:tcPr>
                </a:tc>
                <a:tc>
                  <a:txBody>
                    <a:bodyPr/>
                    <a:lstStyle/>
                    <a:p>
                      <a:pPr algn="l"/>
                      <a:r>
                        <a:rPr sz="1050">
                          <a:solidFill>
                            <a:srgbClr val="22282E"/>
                          </a:solidFill>
                          <a:latin typeface="Arial"/>
                        </a:rPr>
                        <a:t>43.3%</a:t>
                      </a:r>
                    </a:p>
                  </a:txBody>
                  <a:tcPr anchor="ctr" marL="82296" marR="82296" marT="27432" marB="27432">
                    <a:solidFill>
                      <a:srgbClr val="EDF8F1"/>
                    </a:solidFill>
                  </a:tcPr>
                </a:tc>
                <a:tc>
                  <a:txBody>
                    <a:bodyPr/>
                    <a:lstStyle/>
                    <a:p>
                      <a:pPr algn="l"/>
                      <a:r>
                        <a:rPr sz="1050">
                          <a:solidFill>
                            <a:srgbClr val="22282E"/>
                          </a:solidFill>
                          <a:latin typeface="Arial"/>
                        </a:rPr>
                        <a:t>20.0%</a:t>
                      </a:r>
                    </a:p>
                  </a:txBody>
                  <a:tcPr anchor="ctr" marL="82296" marR="82296" marT="27432" marB="27432">
                    <a:solidFill>
                      <a:srgbClr val="EDF8F1"/>
                    </a:solidFill>
                  </a:tcPr>
                </a:tc>
                <a:tc>
                  <a:txBody>
                    <a:bodyPr/>
                    <a:lstStyle/>
                    <a:p>
                      <a:pPr algn="l"/>
                      <a:r>
                        <a:rPr sz="1050">
                          <a:solidFill>
                            <a:srgbClr val="22282E"/>
                          </a:solidFill>
                          <a:latin typeface="Arial"/>
                        </a:rPr>
                        <a:t>79.1%</a:t>
                      </a:r>
                    </a:p>
                  </a:txBody>
                  <a:tcPr anchor="ctr" marL="82296" marR="82296" marT="27432" marB="27432">
                    <a:solidFill>
                      <a:srgbClr val="EDF8F1"/>
                    </a:solidFill>
                  </a:tcPr>
                </a:tc>
                <a:tc>
                  <a:txBody>
                    <a:bodyPr/>
                    <a:lstStyle/>
                    <a:p>
                      <a:pPr algn="l"/>
                      <a:r>
                        <a:rPr sz="1050">
                          <a:solidFill>
                            <a:srgbClr val="22282E"/>
                          </a:solidFill>
                          <a:latin typeface="Arial"/>
                        </a:rPr>
                        <a:t>Nội bộ vượt trội (+32.6%)</a:t>
                      </a:r>
                    </a:p>
                  </a:txBody>
                  <a:tcPr anchor="ctr" marL="82296" marR="82296" marT="27432" marB="27432">
                    <a:solidFill>
                      <a:srgbClr val="EDF8F1"/>
                    </a:solidFill>
                  </a:tcPr>
                </a:tc>
              </a:tr>
              <a:tr h="548640">
                <a:tc>
                  <a:txBody>
                    <a:bodyPr/>
                    <a:lstStyle/>
                    <a:p>
                      <a:pPr algn="l"/>
                      <a:r>
                        <a:rPr sz="1050" b="1">
                          <a:solidFill>
                            <a:srgbClr val="60666D"/>
                          </a:solidFill>
                          <a:latin typeface="Arial"/>
                        </a:rPr>
                        <a:t>Chức danh ký (signer_title)</a:t>
                      </a:r>
                    </a:p>
                  </a:txBody>
                  <a:tcPr anchor="ctr" marL="82296" marR="82296" marT="27432" marB="27432">
                    <a:solidFill>
                      <a:srgbClr val="EEF1F5"/>
                    </a:solidFill>
                  </a:tcPr>
                </a:tc>
                <a:tc>
                  <a:txBody>
                    <a:bodyPr/>
                    <a:lstStyle/>
                    <a:p>
                      <a:pPr algn="l"/>
                      <a:r>
                        <a:rPr sz="1000">
                          <a:solidFill>
                            <a:srgbClr val="60666D"/>
                          </a:solidFill>
                          <a:latin typeface="Consolas"/>
                        </a:rPr>
                        <a:t>Quan trọng</a:t>
                      </a:r>
                    </a:p>
                  </a:txBody>
                  <a:tcPr anchor="ctr" marL="82296" marR="82296" marT="27432" marB="27432">
                    <a:solidFill>
                      <a:srgbClr val="EEF1F5"/>
                    </a:solidFill>
                  </a:tcPr>
                </a:tc>
                <a:tc>
                  <a:txBody>
                    <a:bodyPr/>
                    <a:lstStyle/>
                    <a:p>
                      <a:pPr algn="l"/>
                      <a:r>
                        <a:rPr sz="1050">
                          <a:solidFill>
                            <a:srgbClr val="60666D"/>
                          </a:solidFill>
                          <a:latin typeface="Arial"/>
                        </a:rPr>
                        <a:t>45.7%</a:t>
                      </a:r>
                    </a:p>
                  </a:txBody>
                  <a:tcPr anchor="ctr" marL="82296" marR="82296" marT="27432" marB="27432">
                    <a:solidFill>
                      <a:srgbClr val="EEF1F5"/>
                    </a:solidFill>
                  </a:tcPr>
                </a:tc>
                <a:tc>
                  <a:txBody>
                    <a:bodyPr/>
                    <a:lstStyle/>
                    <a:p>
                      <a:pPr algn="l"/>
                      <a:r>
                        <a:rPr sz="1050">
                          <a:solidFill>
                            <a:srgbClr val="60666D"/>
                          </a:solidFill>
                          <a:latin typeface="Arial"/>
                        </a:rPr>
                        <a:t>37.8%</a:t>
                      </a:r>
                    </a:p>
                  </a:txBody>
                  <a:tcPr anchor="ctr" marL="82296" marR="82296" marT="27432" marB="27432">
                    <a:solidFill>
                      <a:srgbClr val="EEF1F5"/>
                    </a:solidFill>
                  </a:tcPr>
                </a:tc>
                <a:tc>
                  <a:txBody>
                    <a:bodyPr/>
                    <a:lstStyle/>
                    <a:p>
                      <a:pPr algn="l"/>
                      <a:r>
                        <a:rPr sz="1050">
                          <a:solidFill>
                            <a:srgbClr val="60666D"/>
                          </a:solidFill>
                          <a:latin typeface="Arial"/>
                        </a:rPr>
                        <a:t>71.8%</a:t>
                      </a:r>
                    </a:p>
                  </a:txBody>
                  <a:tcPr anchor="ctr" marL="82296" marR="82296" marT="27432" marB="27432">
                    <a:solidFill>
                      <a:srgbClr val="EEF1F5"/>
                    </a:solidFill>
                  </a:tcPr>
                </a:tc>
                <a:tc>
                  <a:txBody>
                    <a:bodyPr/>
                    <a:lstStyle/>
                    <a:p>
                      <a:pPr algn="l"/>
                      <a:r>
                        <a:rPr sz="1050">
                          <a:solidFill>
                            <a:srgbClr val="60666D"/>
                          </a:solidFill>
                          <a:latin typeface="Arial"/>
                        </a:rPr>
                        <a:t>83.9%</a:t>
                      </a:r>
                    </a:p>
                  </a:txBody>
                  <a:tcPr anchor="ctr" marL="82296" marR="82296" marT="27432" marB="27432">
                    <a:solidFill>
                      <a:srgbClr val="EEF1F5"/>
                    </a:solidFill>
                  </a:tcPr>
                </a:tc>
                <a:tc>
                  <a:txBody>
                    <a:bodyPr/>
                    <a:lstStyle/>
                    <a:p>
                      <a:pPr algn="l"/>
                      <a:r>
                        <a:rPr sz="1050">
                          <a:solidFill>
                            <a:srgbClr val="60666D"/>
                          </a:solidFill>
                          <a:latin typeface="Arial"/>
                        </a:rPr>
                        <a:t>81.6%</a:t>
                      </a:r>
                    </a:p>
                  </a:txBody>
                  <a:tcPr anchor="ctr" marL="82296" marR="82296" marT="27432" marB="27432">
                    <a:solidFill>
                      <a:srgbClr val="EEF1F5"/>
                    </a:solidFill>
                  </a:tcPr>
                </a:tc>
                <a:tc>
                  <a:txBody>
                    <a:bodyPr/>
                    <a:lstStyle/>
                    <a:p>
                      <a:pPr algn="l"/>
                      <a:r>
                        <a:rPr sz="1050">
                          <a:solidFill>
                            <a:srgbClr val="60666D"/>
                          </a:solidFill>
                          <a:latin typeface="Arial"/>
                        </a:rPr>
                        <a:t>89.2%</a:t>
                      </a:r>
                    </a:p>
                  </a:txBody>
                  <a:tcPr anchor="ctr" marL="82296" marR="82296" marT="27432" marB="27432">
                    <a:solidFill>
                      <a:srgbClr val="EEF1F5"/>
                    </a:solidFill>
                  </a:tcPr>
                </a:tc>
                <a:tc>
                  <a:txBody>
                    <a:bodyPr/>
                    <a:lstStyle/>
                    <a:p>
                      <a:pPr algn="l"/>
                      <a:r>
                        <a:rPr sz="1050">
                          <a:solidFill>
                            <a:srgbClr val="60666D"/>
                          </a:solidFill>
                          <a:latin typeface="Arial"/>
                        </a:rPr>
                        <a:t>VAI tốt hơn</a:t>
                      </a:r>
                    </a:p>
                  </a:txBody>
                  <a:tcPr anchor="ctr" marL="82296" marR="82296" marT="27432" marB="27432">
                    <a:solidFill>
                      <a:srgbClr val="EEF1F5"/>
                    </a:solidFill>
                  </a:tcPr>
                </a:tc>
              </a:tr>
              <a:tr h="548640">
                <a:tc>
                  <a:txBody>
                    <a:bodyPr/>
                    <a:lstStyle/>
                    <a:p>
                      <a:pPr algn="l"/>
                      <a:r>
                        <a:rPr sz="1050" b="1">
                          <a:solidFill>
                            <a:srgbClr val="22282E"/>
                          </a:solidFill>
                          <a:latin typeface="Arial"/>
                        </a:rPr>
                        <a:t>Địa danh (province)</a:t>
                      </a:r>
                    </a:p>
                  </a:txBody>
                  <a:tcPr anchor="ctr" marL="82296" marR="82296" marT="27432" marB="27432">
                    <a:solidFill>
                      <a:srgbClr val="EDF8F1"/>
                    </a:solidFill>
                  </a:tcPr>
                </a:tc>
                <a:tc>
                  <a:txBody>
                    <a:bodyPr/>
                    <a:lstStyle/>
                    <a:p>
                      <a:pPr algn="l"/>
                      <a:r>
                        <a:rPr sz="1000">
                          <a:solidFill>
                            <a:srgbClr val="22282E"/>
                          </a:solidFill>
                          <a:latin typeface="Consolas"/>
                        </a:rPr>
                        <a:t>Tùy chọn</a:t>
                      </a:r>
                    </a:p>
                  </a:txBody>
                  <a:tcPr anchor="ctr" marL="82296" marR="82296" marT="27432" marB="27432">
                    <a:solidFill>
                      <a:srgbClr val="EDF8F1"/>
                    </a:solidFill>
                  </a:tcPr>
                </a:tc>
                <a:tc>
                  <a:txBody>
                    <a:bodyPr/>
                    <a:lstStyle/>
                    <a:p>
                      <a:pPr algn="l"/>
                      <a:r>
                        <a:rPr sz="1050">
                          <a:solidFill>
                            <a:srgbClr val="22282E"/>
                          </a:solidFill>
                          <a:latin typeface="Arial"/>
                        </a:rPr>
                        <a:t>98.5%</a:t>
                      </a:r>
                    </a:p>
                  </a:txBody>
                  <a:tcPr anchor="ctr" marL="82296" marR="82296" marT="27432" marB="27432">
                    <a:solidFill>
                      <a:srgbClr val="EDF8F1"/>
                    </a:solidFill>
                  </a:tcPr>
                </a:tc>
                <a:tc>
                  <a:txBody>
                    <a:bodyPr/>
                    <a:lstStyle/>
                    <a:p>
                      <a:pPr algn="l"/>
                      <a:r>
                        <a:rPr sz="1050">
                          <a:solidFill>
                            <a:srgbClr val="22282E"/>
                          </a:solidFill>
                          <a:latin typeface="Arial"/>
                        </a:rPr>
                        <a:t>97.9%</a:t>
                      </a:r>
                    </a:p>
                  </a:txBody>
                  <a:tcPr anchor="ctr" marL="82296" marR="82296" marT="27432" marB="27432">
                    <a:solidFill>
                      <a:srgbClr val="EDF8F1"/>
                    </a:solidFill>
                  </a:tcPr>
                </a:tc>
                <a:tc>
                  <a:txBody>
                    <a:bodyPr/>
                    <a:lstStyle/>
                    <a:p>
                      <a:pPr algn="l"/>
                      <a:r>
                        <a:rPr sz="1050">
                          <a:solidFill>
                            <a:srgbClr val="22282E"/>
                          </a:solidFill>
                          <a:latin typeface="Arial"/>
                        </a:rPr>
                        <a:t>98.9%</a:t>
                      </a:r>
                    </a:p>
                  </a:txBody>
                  <a:tcPr anchor="ctr" marL="82296" marR="82296" marT="27432" marB="27432">
                    <a:solidFill>
                      <a:srgbClr val="EDF8F1"/>
                    </a:solidFill>
                  </a:tcPr>
                </a:tc>
                <a:tc>
                  <a:txBody>
                    <a:bodyPr/>
                    <a:lstStyle/>
                    <a:p>
                      <a:pPr algn="l"/>
                      <a:r>
                        <a:rPr sz="1050">
                          <a:solidFill>
                            <a:srgbClr val="22282E"/>
                          </a:solidFill>
                          <a:latin typeface="Arial"/>
                        </a:rPr>
                        <a:t>76.4%</a:t>
                      </a:r>
                    </a:p>
                  </a:txBody>
                  <a:tcPr anchor="ctr" marL="82296" marR="82296" marT="27432" marB="27432">
                    <a:solidFill>
                      <a:srgbClr val="EDF8F1"/>
                    </a:solidFill>
                  </a:tcPr>
                </a:tc>
                <a:tc>
                  <a:txBody>
                    <a:bodyPr/>
                    <a:lstStyle/>
                    <a:p>
                      <a:pPr algn="l"/>
                      <a:r>
                        <a:rPr sz="1050">
                          <a:solidFill>
                            <a:srgbClr val="22282E"/>
                          </a:solidFill>
                          <a:latin typeface="Arial"/>
                        </a:rPr>
                        <a:t>75.3%</a:t>
                      </a:r>
                    </a:p>
                  </a:txBody>
                  <a:tcPr anchor="ctr" marL="82296" marR="82296" marT="27432" marB="27432">
                    <a:solidFill>
                      <a:srgbClr val="EDF8F1"/>
                    </a:solidFill>
                  </a:tcPr>
                </a:tc>
                <a:tc>
                  <a:txBody>
                    <a:bodyPr/>
                    <a:lstStyle/>
                    <a:p>
                      <a:pPr algn="l"/>
                      <a:r>
                        <a:rPr sz="1050">
                          <a:solidFill>
                            <a:srgbClr val="22282E"/>
                          </a:solidFill>
                          <a:latin typeface="Arial"/>
                        </a:rPr>
                        <a:t>91.8%</a:t>
                      </a:r>
                    </a:p>
                  </a:txBody>
                  <a:tcPr anchor="ctr" marL="82296" marR="82296" marT="27432" marB="27432">
                    <a:solidFill>
                      <a:srgbClr val="EDF8F1"/>
                    </a:solidFill>
                  </a:tcPr>
                </a:tc>
                <a:tc>
                  <a:txBody>
                    <a:bodyPr/>
                    <a:lstStyle/>
                    <a:p>
                      <a:pPr algn="l"/>
                      <a:r>
                        <a:rPr sz="1050">
                          <a:solidFill>
                            <a:srgbClr val="22282E"/>
                          </a:solidFill>
                          <a:latin typeface="Arial"/>
                        </a:rPr>
                        <a:t>Nội bộ vượt trội (+22.1%)</a:t>
                      </a:r>
                    </a:p>
                  </a:txBody>
                  <a:tcPr anchor="ctr" marL="82296" marR="82296" marT="27432" marB="27432">
                    <a:solidFill>
                      <a:srgbClr val="EDF8F1"/>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Biểu đồ so sánh 12 trường &amp; Mốc mục tiêu PoC</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ocr-collab/reports/vai_acc_v1_20261002/ · So sánh mốc PoC F1 ≥ 85% &amp; Kỳ vọng 90%</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12</a:t>
            </a:r>
          </a:p>
        </p:txBody>
      </p:sp>
      <p:sp>
        <p:nvSpPr>
          <p:cNvPr id="149" name="Rounded Rectangle 148"/>
          <p:cNvSpPr/>
          <p:nvPr/>
        </p:nvSpPr>
        <p:spPr>
          <a:xfrm>
            <a:off x="1243584" y="1280160"/>
            <a:ext cx="2505456"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414016"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04 · ĐỐI CHUẨN</a:t>
            </a:r>
          </a:p>
        </p:txBody>
      </p:sp>
      <p:pic>
        <p:nvPicPr>
          <p:cNvPr id="151" name="Picture 150" descr="image.png"/>
          <p:cNvPicPr>
            <a:picLocks noChangeAspect="1"/>
          </p:cNvPicPr>
          <p:nvPr/>
        </p:nvPicPr>
        <p:blipFill>
          <a:blip r:embed="rId5"/>
          <a:stretch>
            <a:fillRect/>
          </a:stretch>
        </p:blipFill>
        <p:spPr>
          <a:xfrm>
            <a:off x="1243584" y="1874519"/>
            <a:ext cx="15910559" cy="5532120"/>
          </a:xfrm>
          <a:prstGeom prst="rect">
            <a:avLst/>
          </a:prstGeom>
        </p:spPr>
      </p:pic>
      <p:sp>
        <p:nvSpPr>
          <p:cNvPr id="152" name="Rounded Rectangle 151"/>
          <p:cNvSpPr/>
          <p:nvPr/>
        </p:nvSpPr>
        <p:spPr>
          <a:xfrm>
            <a:off x="1243584" y="7543800"/>
            <a:ext cx="15910559" cy="749808"/>
          </a:xfrm>
          <a:prstGeom prst="roundRect">
            <a:avLst/>
          </a:prstGeom>
          <a:solidFill>
            <a:srgbClr val="FDF2F3"/>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1463040" y="7653527"/>
            <a:ext cx="15453359" cy="530352"/>
          </a:xfrm>
          <a:prstGeom prst="rect">
            <a:avLst/>
          </a:prstGeom>
          <a:noFill/>
        </p:spPr>
        <p:txBody>
          <a:bodyPr wrap="square" anchor="t" lIns="27432" rIns="27432" tIns="27432" bIns="27432">
            <a:spAutoFit/>
          </a:bodyPr>
          <a:lstStyle/>
          <a:p>
            <a:pPr algn="l">
              <a:lnSpc>
                <a:spcPct val="115000"/>
              </a:lnSpc>
              <a:spcAft>
                <a:spcPts val="292"/>
              </a:spcAft>
            </a:pPr>
            <a:r>
              <a:rPr sz="1950" b="1">
                <a:solidFill>
                  <a:srgbClr val="172235"/>
                </a:solidFill>
                <a:latin typeface="Arial"/>
              </a:rPr>
              <a:t>F1 PoC (≥85%) đạt 6/12 trường (Nội bộ) vs 10/12 (VAI); Nội bộ vượt trội ở Địa danh (98.5% vs 76.4%) và Kính gửi (75.9% vs 43.3%).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Demo trích xuất thông tin thực tế từ văn bản</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predictions.jsonl · File 3116+QĐ-BKHCN (2 trang scan)</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13</a:t>
            </a:r>
          </a:p>
        </p:txBody>
      </p:sp>
      <p:sp>
        <p:nvSpPr>
          <p:cNvPr id="149" name="Rounded Rectangle 148"/>
          <p:cNvSpPr/>
          <p:nvPr/>
        </p:nvSpPr>
        <p:spPr>
          <a:xfrm>
            <a:off x="1243584" y="1280160"/>
            <a:ext cx="2002536"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1911095"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04 · DEMO</a:t>
            </a:r>
          </a:p>
        </p:txBody>
      </p:sp>
      <p:sp>
        <p:nvSpPr>
          <p:cNvPr id="151" name="Rectangle 150"/>
          <p:cNvSpPr/>
          <p:nvPr/>
        </p:nvSpPr>
        <p:spPr>
          <a:xfrm>
            <a:off x="1243584" y="1874519"/>
            <a:ext cx="6583680" cy="7040880"/>
          </a:xfrm>
          <a:prstGeom prst="rect">
            <a:avLst/>
          </a:prstGeom>
          <a:solidFill>
            <a:srgbClr val="FFFFFF"/>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image.jpg"/>
          <p:cNvPicPr>
            <a:picLocks noChangeAspect="1"/>
          </p:cNvPicPr>
          <p:nvPr/>
        </p:nvPicPr>
        <p:blipFill>
          <a:blip r:embed="rId5"/>
          <a:stretch>
            <a:fillRect/>
          </a:stretch>
        </p:blipFill>
        <p:spPr>
          <a:xfrm>
            <a:off x="2232675" y="1929384"/>
            <a:ext cx="4605496" cy="6519672"/>
          </a:xfrm>
          <a:prstGeom prst="rect">
            <a:avLst/>
          </a:prstGeom>
        </p:spPr>
      </p:pic>
      <p:sp>
        <p:nvSpPr>
          <p:cNvPr id="153" name="TextBox 152"/>
          <p:cNvSpPr txBox="1"/>
          <p:nvPr/>
        </p:nvSpPr>
        <p:spPr>
          <a:xfrm>
            <a:off x="1380744" y="8549640"/>
            <a:ext cx="6309360" cy="320040"/>
          </a:xfrm>
          <a:prstGeom prst="rect">
            <a:avLst/>
          </a:prstGeom>
          <a:noFill/>
        </p:spPr>
        <p:txBody>
          <a:bodyPr wrap="square" anchor="t" lIns="27432" rIns="27432" tIns="27432" bIns="27432">
            <a:spAutoFit/>
          </a:bodyPr>
          <a:lstStyle/>
          <a:p>
            <a:pPr algn="l">
              <a:lnSpc>
                <a:spcPct val="115000"/>
              </a:lnSpc>
              <a:spcAft>
                <a:spcPts val="150"/>
              </a:spcAft>
            </a:pPr>
            <a:r>
              <a:rPr sz="1000" b="0">
                <a:solidFill>
                  <a:srgbClr val="60666D"/>
                </a:solidFill>
                <a:latin typeface="Arial"/>
              </a:rPr>
              <a:t>3116+QĐ-BKHCN · Ảnh trang 1 và vùng nhận dạng</a:t>
            </a:r>
          </a:p>
        </p:txBody>
      </p:sp>
      <p:graphicFrame>
        <p:nvGraphicFramePr>
          <p:cNvPr id="154" name="Table 153"/>
          <p:cNvGraphicFramePr>
            <a:graphicFrameLocks noGrp="1"/>
          </p:cNvGraphicFramePr>
          <p:nvPr/>
        </p:nvGraphicFramePr>
        <p:xfrm>
          <a:off x="8101583" y="1874519"/>
          <a:ext cx="9966960" cy="7040880"/>
        </p:xfrm>
        <a:graphic>
          <a:graphicData uri="http://schemas.openxmlformats.org/drawingml/2006/table">
            <a:tbl>
              <a:tblPr firstRow="1" bandRow="1">
                <a:tableStyleId>{5C22544A-7EE6-4342-B048-85BDC9FD1C3A}</a:tableStyleId>
              </a:tblPr>
              <a:tblGrid>
                <a:gridCol w="2103120"/>
                <a:gridCol w="3108960"/>
                <a:gridCol w="3108960"/>
                <a:gridCol w="1645920"/>
              </a:tblGrid>
              <a:tr h="640080">
                <a:tc>
                  <a:txBody>
                    <a:bodyPr/>
                    <a:lstStyle/>
                    <a:p>
                      <a:pPr algn="l"/>
                      <a:r>
                        <a:rPr sz="1150" b="1">
                          <a:solidFill>
                            <a:srgbClr val="FFFFFF"/>
                          </a:solidFill>
                          <a:latin typeface="Arial"/>
                        </a:rPr>
                        <a:t>Trường thông tin</a:t>
                      </a:r>
                    </a:p>
                  </a:txBody>
                  <a:tcPr anchor="ctr" marL="82296" marR="82296" marT="36576" marB="36576">
                    <a:solidFill>
                      <a:srgbClr val="172235"/>
                    </a:solidFill>
                  </a:tcPr>
                </a:tc>
                <a:tc>
                  <a:txBody>
                    <a:bodyPr/>
                    <a:lstStyle/>
                    <a:p>
                      <a:pPr algn="l"/>
                      <a:r>
                        <a:rPr sz="1150" b="1">
                          <a:solidFill>
                            <a:srgbClr val="FFFFFF"/>
                          </a:solidFill>
                          <a:latin typeface="Arial"/>
                        </a:rPr>
                        <a:t>Dữ liệu chuẩn (Ground Truth)</a:t>
                      </a:r>
                    </a:p>
                  </a:txBody>
                  <a:tcPr anchor="ctr" marL="82296" marR="82296" marT="36576" marB="36576">
                    <a:solidFill>
                      <a:srgbClr val="172235"/>
                    </a:solidFill>
                  </a:tcPr>
                </a:tc>
                <a:tc>
                  <a:txBody>
                    <a:bodyPr/>
                    <a:lstStyle/>
                    <a:p>
                      <a:pPr algn="l"/>
                      <a:r>
                        <a:rPr sz="1150" b="1">
                          <a:solidFill>
                            <a:srgbClr val="FFFFFF"/>
                          </a:solidFill>
                          <a:latin typeface="Arial"/>
                        </a:rPr>
                        <a:t>Kết quả OCR Nội bộ</a:t>
                      </a:r>
                    </a:p>
                  </a:txBody>
                  <a:tcPr anchor="ctr" marL="82296" marR="82296" marT="36576" marB="36576">
                    <a:solidFill>
                      <a:srgbClr val="172235"/>
                    </a:solidFill>
                  </a:tcPr>
                </a:tc>
                <a:tc>
                  <a:txBody>
                    <a:bodyPr/>
                    <a:lstStyle/>
                    <a:p>
                      <a:pPr algn="l"/>
                      <a:r>
                        <a:rPr sz="1150" b="1">
                          <a:solidFill>
                            <a:srgbClr val="FFFFFF"/>
                          </a:solidFill>
                          <a:latin typeface="Arial"/>
                        </a:rPr>
                        <a:t>Đánh giá</a:t>
                      </a:r>
                    </a:p>
                  </a:txBody>
                  <a:tcPr anchor="ctr" marL="82296" marR="82296" marT="36576" marB="36576">
                    <a:solidFill>
                      <a:srgbClr val="172235"/>
                    </a:solidFill>
                  </a:tcPr>
                </a:tc>
              </a:tr>
              <a:tr h="640080">
                <a:tc>
                  <a:txBody>
                    <a:bodyPr/>
                    <a:lstStyle/>
                    <a:p>
                      <a:pPr algn="l"/>
                      <a:r>
                        <a:rPr sz="1050" b="1">
                          <a:solidFill>
                            <a:srgbClr val="22282E"/>
                          </a:solidFill>
                          <a:latin typeface="Arial"/>
                        </a:rPr>
                        <a:t>Loại văn bản</a:t>
                      </a:r>
                    </a:p>
                  </a:txBody>
                  <a:tcPr anchor="ctr" marL="82296" marR="82296" marT="27432" marB="27432">
                    <a:solidFill>
                      <a:srgbClr val="FFFFFF"/>
                    </a:solidFill>
                  </a:tcPr>
                </a:tc>
                <a:tc>
                  <a:txBody>
                    <a:bodyPr/>
                    <a:lstStyle/>
                    <a:p>
                      <a:pPr algn="l"/>
                      <a:r>
                        <a:rPr sz="1000">
                          <a:solidFill>
                            <a:srgbClr val="22282E"/>
                          </a:solidFill>
                          <a:latin typeface="Consolas"/>
                        </a:rPr>
                        <a:t>QUYẾT ĐỊNH</a:t>
                      </a:r>
                    </a:p>
                  </a:txBody>
                  <a:tcPr anchor="ctr" marL="82296" marR="82296" marT="27432" marB="27432">
                    <a:solidFill>
                      <a:srgbClr val="FFFFFF"/>
                    </a:solidFill>
                  </a:tcPr>
                </a:tc>
                <a:tc>
                  <a:txBody>
                    <a:bodyPr/>
                    <a:lstStyle/>
                    <a:p>
                      <a:pPr algn="l"/>
                      <a:r>
                        <a:rPr sz="1050">
                          <a:solidFill>
                            <a:srgbClr val="22282E"/>
                          </a:solidFill>
                          <a:latin typeface="Arial"/>
                        </a:rPr>
                        <a:t>QUYẾT ĐỊNH</a:t>
                      </a:r>
                    </a:p>
                  </a:txBody>
                  <a:tcPr anchor="ctr" marL="82296" marR="82296" marT="27432" marB="27432">
                    <a:solidFill>
                      <a:srgbClr val="FFFFFF"/>
                    </a:solidFill>
                  </a:tcPr>
                </a:tc>
                <a:tc>
                  <a:txBody>
                    <a:bodyPr/>
                    <a:lstStyle/>
                    <a:p>
                      <a:pPr algn="l"/>
                      <a:r>
                        <a:rPr sz="1050">
                          <a:solidFill>
                            <a:srgbClr val="22282E"/>
                          </a:solidFill>
                          <a:latin typeface="Arial"/>
                        </a:rPr>
                        <a:t>Exact (Đúng)</a:t>
                      </a:r>
                    </a:p>
                  </a:txBody>
                  <a:tcPr anchor="ctr" marL="82296" marR="82296" marT="27432" marB="27432">
                    <a:solidFill>
                      <a:srgbClr val="FFFFFF"/>
                    </a:solidFill>
                  </a:tcPr>
                </a:tc>
              </a:tr>
              <a:tr h="640080">
                <a:tc>
                  <a:txBody>
                    <a:bodyPr/>
                    <a:lstStyle/>
                    <a:p>
                      <a:pPr algn="l"/>
                      <a:r>
                        <a:rPr sz="1050" b="1">
                          <a:solidFill>
                            <a:srgbClr val="22282E"/>
                          </a:solidFill>
                          <a:latin typeface="Arial"/>
                        </a:rPr>
                        <a:t>Số, ký hiệu</a:t>
                      </a:r>
                    </a:p>
                  </a:txBody>
                  <a:tcPr anchor="ctr" marL="82296" marR="82296" marT="27432" marB="27432">
                    <a:solidFill>
                      <a:srgbClr val="F8FAFC"/>
                    </a:solidFill>
                  </a:tcPr>
                </a:tc>
                <a:tc>
                  <a:txBody>
                    <a:bodyPr/>
                    <a:lstStyle/>
                    <a:p>
                      <a:pPr algn="l"/>
                      <a:r>
                        <a:rPr sz="1000">
                          <a:solidFill>
                            <a:srgbClr val="22282E"/>
                          </a:solidFill>
                          <a:latin typeface="Consolas"/>
                        </a:rPr>
                        <a:t>3116/QĐ-BKHCN</a:t>
                      </a:r>
                    </a:p>
                  </a:txBody>
                  <a:tcPr anchor="ctr" marL="82296" marR="82296" marT="27432" marB="27432">
                    <a:solidFill>
                      <a:srgbClr val="F8FAFC"/>
                    </a:solidFill>
                  </a:tcPr>
                </a:tc>
                <a:tc>
                  <a:txBody>
                    <a:bodyPr/>
                    <a:lstStyle/>
                    <a:p>
                      <a:pPr algn="l"/>
                      <a:r>
                        <a:rPr sz="1050">
                          <a:solidFill>
                            <a:srgbClr val="22282E"/>
                          </a:solidFill>
                          <a:latin typeface="Arial"/>
                        </a:rPr>
                        <a:t>3116/QĐ-BKHCN</a:t>
                      </a:r>
                    </a:p>
                  </a:txBody>
                  <a:tcPr anchor="ctr" marL="82296" marR="82296" marT="27432" marB="27432">
                    <a:solidFill>
                      <a:srgbClr val="F8FAFC"/>
                    </a:solidFill>
                  </a:tcPr>
                </a:tc>
                <a:tc>
                  <a:txBody>
                    <a:bodyPr/>
                    <a:lstStyle/>
                    <a:p>
                      <a:pPr algn="l"/>
                      <a:r>
                        <a:rPr sz="1050">
                          <a:solidFill>
                            <a:srgbClr val="22282E"/>
                          </a:solidFill>
                          <a:latin typeface="Arial"/>
                        </a:rPr>
                        <a:t>Exact (Đúng)</a:t>
                      </a:r>
                    </a:p>
                  </a:txBody>
                  <a:tcPr anchor="ctr" marL="82296" marR="82296" marT="27432" marB="27432">
                    <a:solidFill>
                      <a:srgbClr val="F8FAFC"/>
                    </a:solidFill>
                  </a:tcPr>
                </a:tc>
              </a:tr>
              <a:tr h="640080">
                <a:tc>
                  <a:txBody>
                    <a:bodyPr/>
                    <a:lstStyle/>
                    <a:p>
                      <a:pPr algn="l"/>
                      <a:r>
                        <a:rPr sz="1050" b="1">
                          <a:solidFill>
                            <a:srgbClr val="22282E"/>
                          </a:solidFill>
                          <a:latin typeface="Arial"/>
                        </a:rPr>
                        <a:t>Ngày ban hành</a:t>
                      </a:r>
                    </a:p>
                  </a:txBody>
                  <a:tcPr anchor="ctr" marL="82296" marR="82296" marT="27432" marB="27432">
                    <a:solidFill>
                      <a:srgbClr val="FFFFFF"/>
                    </a:solidFill>
                  </a:tcPr>
                </a:tc>
                <a:tc>
                  <a:txBody>
                    <a:bodyPr/>
                    <a:lstStyle/>
                    <a:p>
                      <a:pPr algn="l"/>
                      <a:r>
                        <a:rPr sz="1000">
                          <a:solidFill>
                            <a:srgbClr val="22282E"/>
                          </a:solidFill>
                          <a:latin typeface="Consolas"/>
                        </a:rPr>
                        <a:t>14/07/2026</a:t>
                      </a:r>
                    </a:p>
                  </a:txBody>
                  <a:tcPr anchor="ctr" marL="82296" marR="82296" marT="27432" marB="27432">
                    <a:solidFill>
                      <a:srgbClr val="FFFFFF"/>
                    </a:solidFill>
                  </a:tcPr>
                </a:tc>
                <a:tc>
                  <a:txBody>
                    <a:bodyPr/>
                    <a:lstStyle/>
                    <a:p>
                      <a:pPr algn="l"/>
                      <a:r>
                        <a:rPr sz="1050">
                          <a:solidFill>
                            <a:srgbClr val="22282E"/>
                          </a:solidFill>
                          <a:latin typeface="Arial"/>
                        </a:rPr>
                        <a:t>14/07/2026</a:t>
                      </a:r>
                    </a:p>
                  </a:txBody>
                  <a:tcPr anchor="ctr" marL="82296" marR="82296" marT="27432" marB="27432">
                    <a:solidFill>
                      <a:srgbClr val="FFFFFF"/>
                    </a:solidFill>
                  </a:tcPr>
                </a:tc>
                <a:tc>
                  <a:txBody>
                    <a:bodyPr/>
                    <a:lstStyle/>
                    <a:p>
                      <a:pPr algn="l"/>
                      <a:r>
                        <a:rPr sz="1050">
                          <a:solidFill>
                            <a:srgbClr val="22282E"/>
                          </a:solidFill>
                          <a:latin typeface="Arial"/>
                        </a:rPr>
                        <a:t>Exact (Đúng)</a:t>
                      </a:r>
                    </a:p>
                  </a:txBody>
                  <a:tcPr anchor="ctr" marL="82296" marR="82296" marT="27432" marB="27432">
                    <a:solidFill>
                      <a:srgbClr val="FFFFFF"/>
                    </a:solidFill>
                  </a:tcPr>
                </a:tc>
              </a:tr>
              <a:tr h="640080">
                <a:tc>
                  <a:txBody>
                    <a:bodyPr/>
                    <a:lstStyle/>
                    <a:p>
                      <a:pPr algn="l"/>
                      <a:r>
                        <a:rPr sz="1050" b="1">
                          <a:solidFill>
                            <a:srgbClr val="22282E"/>
                          </a:solidFill>
                          <a:latin typeface="Arial"/>
                        </a:rPr>
                        <a:t>Cơ quan ban hành</a:t>
                      </a:r>
                    </a:p>
                  </a:txBody>
                  <a:tcPr anchor="ctr" marL="82296" marR="82296" marT="27432" marB="27432">
                    <a:solidFill>
                      <a:srgbClr val="F8FAFC"/>
                    </a:solidFill>
                  </a:tcPr>
                </a:tc>
                <a:tc>
                  <a:txBody>
                    <a:bodyPr/>
                    <a:lstStyle/>
                    <a:p>
                      <a:pPr algn="l"/>
                      <a:r>
                        <a:rPr sz="1050">
                          <a:solidFill>
                            <a:srgbClr val="22282E"/>
                          </a:solidFill>
                          <a:latin typeface="Arial"/>
                        </a:rPr>
                        <a:t>BỘ KHOA HỌC VÀ CÔNG NGHỆ</a:t>
                      </a:r>
                    </a:p>
                  </a:txBody>
                  <a:tcPr anchor="ctr" marL="82296" marR="82296" marT="27432" marB="27432">
                    <a:solidFill>
                      <a:srgbClr val="F8FAFC"/>
                    </a:solidFill>
                  </a:tcPr>
                </a:tc>
                <a:tc>
                  <a:txBody>
                    <a:bodyPr/>
                    <a:lstStyle/>
                    <a:p>
                      <a:pPr algn="l"/>
                      <a:r>
                        <a:rPr sz="1050">
                          <a:solidFill>
                            <a:srgbClr val="22282E"/>
                          </a:solidFill>
                          <a:latin typeface="Arial"/>
                        </a:rPr>
                        <a:t>BỘ KHOA HỌC VÀ CÔNG NGHỆ</a:t>
                      </a:r>
                    </a:p>
                  </a:txBody>
                  <a:tcPr anchor="ctr" marL="82296" marR="82296" marT="27432" marB="27432">
                    <a:solidFill>
                      <a:srgbClr val="F8FAFC"/>
                    </a:solidFill>
                  </a:tcPr>
                </a:tc>
                <a:tc>
                  <a:txBody>
                    <a:bodyPr/>
                    <a:lstStyle/>
                    <a:p>
                      <a:pPr algn="l"/>
                      <a:r>
                        <a:rPr sz="1050">
                          <a:solidFill>
                            <a:srgbClr val="22282E"/>
                          </a:solidFill>
                          <a:latin typeface="Arial"/>
                        </a:rPr>
                        <a:t>Exact (Đúng)</a:t>
                      </a:r>
                    </a:p>
                  </a:txBody>
                  <a:tcPr anchor="ctr" marL="82296" marR="82296" marT="27432" marB="27432">
                    <a:solidFill>
                      <a:srgbClr val="F8FAFC"/>
                    </a:solidFill>
                  </a:tcPr>
                </a:tc>
              </a:tr>
              <a:tr h="640080">
                <a:tc>
                  <a:txBody>
                    <a:bodyPr/>
                    <a:lstStyle/>
                    <a:p>
                      <a:pPr algn="l"/>
                      <a:r>
                        <a:rPr sz="1050" b="1">
                          <a:solidFill>
                            <a:srgbClr val="22282E"/>
                          </a:solidFill>
                          <a:latin typeface="Arial"/>
                        </a:rPr>
                        <a:t>Trích yếu / Tiêu đề</a:t>
                      </a:r>
                    </a:p>
                  </a:txBody>
                  <a:tcPr anchor="ctr" marL="82296" marR="82296" marT="27432" marB="27432">
                    <a:solidFill>
                      <a:srgbClr val="FFFFFF"/>
                    </a:solidFill>
                  </a:tcPr>
                </a:tc>
                <a:tc>
                  <a:txBody>
                    <a:bodyPr/>
                    <a:lstStyle/>
                    <a:p>
                      <a:pPr algn="l"/>
                      <a:r>
                        <a:rPr sz="1050">
                          <a:solidFill>
                            <a:srgbClr val="22282E"/>
                          </a:solidFill>
                          <a:latin typeface="Arial"/>
                        </a:rPr>
                        <a:t>Quy định cơ cấu tổ chức của Quỹ Đổi mới...</a:t>
                      </a:r>
                    </a:p>
                  </a:txBody>
                  <a:tcPr anchor="ctr" marL="82296" marR="82296" marT="27432" marB="27432">
                    <a:solidFill>
                      <a:srgbClr val="FFFFFF"/>
                    </a:solidFill>
                  </a:tcPr>
                </a:tc>
                <a:tc>
                  <a:txBody>
                    <a:bodyPr/>
                    <a:lstStyle/>
                    <a:p>
                      <a:pPr algn="l"/>
                      <a:r>
                        <a:rPr sz="1050">
                          <a:solidFill>
                            <a:srgbClr val="22282E"/>
                          </a:solidFill>
                          <a:latin typeface="Arial"/>
                        </a:rPr>
                        <a:t>Quy định cơ cấu tổ chức của Quỹ Đối mới...</a:t>
                      </a:r>
                    </a:p>
                  </a:txBody>
                  <a:tcPr anchor="ctr" marL="82296" marR="82296" marT="27432" marB="27432">
                    <a:solidFill>
                      <a:srgbClr val="FFFFFF"/>
                    </a:solidFill>
                  </a:tcPr>
                </a:tc>
                <a:tc>
                  <a:txBody>
                    <a:bodyPr/>
                    <a:lstStyle/>
                    <a:p>
                      <a:pPr algn="l"/>
                      <a:r>
                        <a:rPr sz="1050">
                          <a:solidFill>
                            <a:srgbClr val="22282E"/>
                          </a:solidFill>
                          <a:latin typeface="Arial"/>
                        </a:rPr>
                        <a:t>Acceptable (CER=1.6% ≤ 5%)</a:t>
                      </a:r>
                    </a:p>
                  </a:txBody>
                  <a:tcPr anchor="ctr" marL="82296" marR="82296" marT="27432" marB="27432">
                    <a:solidFill>
                      <a:srgbClr val="FFFFFF"/>
                    </a:solidFill>
                  </a:tcPr>
                </a:tc>
              </a:tr>
              <a:tr h="640080">
                <a:tc>
                  <a:txBody>
                    <a:bodyPr/>
                    <a:lstStyle/>
                    <a:p>
                      <a:pPr algn="l"/>
                      <a:r>
                        <a:rPr sz="1050" b="1">
                          <a:solidFill>
                            <a:srgbClr val="22282E"/>
                          </a:solidFill>
                          <a:latin typeface="Arial"/>
                        </a:rPr>
                        <a:t>Độ khẩn / Độ mật</a:t>
                      </a:r>
                    </a:p>
                  </a:txBody>
                  <a:tcPr anchor="ctr" marL="82296" marR="82296" marT="27432" marB="27432">
                    <a:solidFill>
                      <a:srgbClr val="F8FAFC"/>
                    </a:solidFill>
                  </a:tcPr>
                </a:tc>
                <a:tc>
                  <a:txBody>
                    <a:bodyPr/>
                    <a:lstStyle/>
                    <a:p>
                      <a:pPr algn="l"/>
                      <a:r>
                        <a:rPr sz="1050">
                          <a:solidFill>
                            <a:srgbClr val="22282E"/>
                          </a:solidFill>
                          <a:latin typeface="Arial"/>
                        </a:rPr>
                        <a:t>0_BÌNH THƯỜNG / 0_BÌNH THƯỜNG</a:t>
                      </a:r>
                    </a:p>
                  </a:txBody>
                  <a:tcPr anchor="ctr" marL="82296" marR="82296" marT="27432" marB="27432">
                    <a:solidFill>
                      <a:srgbClr val="F8FAFC"/>
                    </a:solidFill>
                  </a:tcPr>
                </a:tc>
                <a:tc>
                  <a:txBody>
                    <a:bodyPr/>
                    <a:lstStyle/>
                    <a:p>
                      <a:pPr algn="l"/>
                      <a:r>
                        <a:rPr sz="1050">
                          <a:solidFill>
                            <a:srgbClr val="22282E"/>
                          </a:solidFill>
                          <a:latin typeface="Arial"/>
                        </a:rPr>
                        <a:t>0_BÌNH THƯỜNG / 0_BÌNH THƯỜNG</a:t>
                      </a:r>
                    </a:p>
                  </a:txBody>
                  <a:tcPr anchor="ctr" marL="82296" marR="82296" marT="27432" marB="27432">
                    <a:solidFill>
                      <a:srgbClr val="F8FAFC"/>
                    </a:solidFill>
                  </a:tcPr>
                </a:tc>
                <a:tc>
                  <a:txBody>
                    <a:bodyPr/>
                    <a:lstStyle/>
                    <a:p>
                      <a:pPr algn="l"/>
                      <a:r>
                        <a:rPr sz="1050">
                          <a:solidFill>
                            <a:srgbClr val="22282E"/>
                          </a:solidFill>
                          <a:latin typeface="Arial"/>
                        </a:rPr>
                        <a:t>Exact (Đúng)</a:t>
                      </a:r>
                    </a:p>
                  </a:txBody>
                  <a:tcPr anchor="ctr" marL="82296" marR="82296" marT="27432" marB="27432">
                    <a:solidFill>
                      <a:srgbClr val="F8FAFC"/>
                    </a:solidFill>
                  </a:tcPr>
                </a:tc>
              </a:tr>
              <a:tr h="640080">
                <a:tc>
                  <a:txBody>
                    <a:bodyPr/>
                    <a:lstStyle/>
                    <a:p>
                      <a:pPr algn="l"/>
                      <a:r>
                        <a:rPr sz="1050" b="1">
                          <a:solidFill>
                            <a:srgbClr val="22282E"/>
                          </a:solidFill>
                          <a:latin typeface="Arial"/>
                        </a:rPr>
                        <a:t>Họ tên người ký</a:t>
                      </a:r>
                    </a:p>
                  </a:txBody>
                  <a:tcPr anchor="ctr" marL="82296" marR="82296" marT="27432" marB="27432">
                    <a:solidFill>
                      <a:srgbClr val="FFFFFF"/>
                    </a:solidFill>
                  </a:tcPr>
                </a:tc>
                <a:tc>
                  <a:txBody>
                    <a:bodyPr/>
                    <a:lstStyle/>
                    <a:p>
                      <a:pPr algn="l"/>
                      <a:r>
                        <a:rPr sz="1000">
                          <a:solidFill>
                            <a:srgbClr val="22282E"/>
                          </a:solidFill>
                          <a:latin typeface="Consolas"/>
                        </a:rPr>
                        <a:t>Vũ Hải Quân</a:t>
                      </a:r>
                    </a:p>
                  </a:txBody>
                  <a:tcPr anchor="ctr" marL="82296" marR="82296" marT="27432" marB="27432">
                    <a:solidFill>
                      <a:srgbClr val="FFFFFF"/>
                    </a:solidFill>
                  </a:tcPr>
                </a:tc>
                <a:tc>
                  <a:txBody>
                    <a:bodyPr/>
                    <a:lstStyle/>
                    <a:p>
                      <a:pPr algn="l"/>
                      <a:r>
                        <a:rPr sz="1050">
                          <a:solidFill>
                            <a:srgbClr val="22282E"/>
                          </a:solidFill>
                          <a:latin typeface="Arial"/>
                        </a:rPr>
                        <a:t>Vũ Hải Quân</a:t>
                      </a:r>
                    </a:p>
                  </a:txBody>
                  <a:tcPr anchor="ctr" marL="82296" marR="82296" marT="27432" marB="27432">
                    <a:solidFill>
                      <a:srgbClr val="FFFFFF"/>
                    </a:solidFill>
                  </a:tcPr>
                </a:tc>
                <a:tc>
                  <a:txBody>
                    <a:bodyPr/>
                    <a:lstStyle/>
                    <a:p>
                      <a:pPr algn="l"/>
                      <a:r>
                        <a:rPr sz="1050">
                          <a:solidFill>
                            <a:srgbClr val="22282E"/>
                          </a:solidFill>
                          <a:latin typeface="Arial"/>
                        </a:rPr>
                        <a:t>Exact (Đúng)</a:t>
                      </a:r>
                    </a:p>
                  </a:txBody>
                  <a:tcPr anchor="ctr" marL="82296" marR="82296" marT="27432" marB="27432">
                    <a:solidFill>
                      <a:srgbClr val="FFFFFF"/>
                    </a:solidFill>
                  </a:tcPr>
                </a:tc>
              </a:tr>
              <a:tr h="640080">
                <a:tc>
                  <a:txBody>
                    <a:bodyPr/>
                    <a:lstStyle/>
                    <a:p>
                      <a:pPr algn="l"/>
                      <a:r>
                        <a:rPr sz="1050" b="1">
                          <a:solidFill>
                            <a:srgbClr val="22282E"/>
                          </a:solidFill>
                          <a:latin typeface="Arial"/>
                        </a:rPr>
                        <a:t>Chức danh người ký</a:t>
                      </a:r>
                    </a:p>
                  </a:txBody>
                  <a:tcPr anchor="ctr" marL="82296" marR="82296" marT="27432" marB="27432">
                    <a:solidFill>
                      <a:srgbClr val="F8FAFC"/>
                    </a:solidFill>
                  </a:tcPr>
                </a:tc>
                <a:tc>
                  <a:txBody>
                    <a:bodyPr/>
                    <a:lstStyle/>
                    <a:p>
                      <a:pPr algn="l"/>
                      <a:r>
                        <a:rPr sz="1000">
                          <a:solidFill>
                            <a:srgbClr val="22282E"/>
                          </a:solidFill>
                          <a:latin typeface="Consolas"/>
                        </a:rPr>
                        <a:t>BỘ TRƯỞNG</a:t>
                      </a:r>
                    </a:p>
                  </a:txBody>
                  <a:tcPr anchor="ctr" marL="82296" marR="82296" marT="27432" marB="27432">
                    <a:solidFill>
                      <a:srgbClr val="F8FAFC"/>
                    </a:solidFill>
                  </a:tcPr>
                </a:tc>
                <a:tc>
                  <a:txBody>
                    <a:bodyPr/>
                    <a:lstStyle/>
                    <a:p>
                      <a:pPr algn="l"/>
                      <a:r>
                        <a:rPr sz="1050">
                          <a:solidFill>
                            <a:srgbClr val="22282E"/>
                          </a:solidFill>
                          <a:latin typeface="Arial"/>
                        </a:rPr>
                        <a:t>BỘ TRƯỞNG</a:t>
                      </a:r>
                    </a:p>
                  </a:txBody>
                  <a:tcPr anchor="ctr" marL="82296" marR="82296" marT="27432" marB="27432">
                    <a:solidFill>
                      <a:srgbClr val="F8FAFC"/>
                    </a:solidFill>
                  </a:tcPr>
                </a:tc>
                <a:tc>
                  <a:txBody>
                    <a:bodyPr/>
                    <a:lstStyle/>
                    <a:p>
                      <a:pPr algn="l"/>
                      <a:r>
                        <a:rPr sz="1050">
                          <a:solidFill>
                            <a:srgbClr val="22282E"/>
                          </a:solidFill>
                          <a:latin typeface="Arial"/>
                        </a:rPr>
                        <a:t>Exact (Đúng)</a:t>
                      </a:r>
                    </a:p>
                  </a:txBody>
                  <a:tcPr anchor="ctr" marL="82296" marR="82296" marT="27432" marB="27432">
                    <a:solidFill>
                      <a:srgbClr val="F8FAFC"/>
                    </a:solidFill>
                  </a:tcPr>
                </a:tc>
              </a:tr>
              <a:tr h="640080">
                <a:tc>
                  <a:txBody>
                    <a:bodyPr/>
                    <a:lstStyle/>
                    <a:p>
                      <a:pPr algn="l"/>
                      <a:r>
                        <a:rPr sz="1050" b="1">
                          <a:solidFill>
                            <a:srgbClr val="22282E"/>
                          </a:solidFill>
                          <a:latin typeface="Arial"/>
                        </a:rPr>
                        <a:t>Địa danh ban hành</a:t>
                      </a:r>
                    </a:p>
                  </a:txBody>
                  <a:tcPr anchor="ctr" marL="82296" marR="82296" marT="27432" marB="27432">
                    <a:solidFill>
                      <a:srgbClr val="FFFFFF"/>
                    </a:solidFill>
                  </a:tcPr>
                </a:tc>
                <a:tc>
                  <a:txBody>
                    <a:bodyPr/>
                    <a:lstStyle/>
                    <a:p>
                      <a:pPr algn="l"/>
                      <a:r>
                        <a:rPr sz="1000">
                          <a:solidFill>
                            <a:srgbClr val="22282E"/>
                          </a:solidFill>
                          <a:latin typeface="Consolas"/>
                        </a:rPr>
                        <a:t>Hà Nội</a:t>
                      </a:r>
                    </a:p>
                  </a:txBody>
                  <a:tcPr anchor="ctr" marL="82296" marR="82296" marT="27432" marB="27432">
                    <a:solidFill>
                      <a:srgbClr val="FFFFFF"/>
                    </a:solidFill>
                  </a:tcPr>
                </a:tc>
                <a:tc>
                  <a:txBody>
                    <a:bodyPr/>
                    <a:lstStyle/>
                    <a:p>
                      <a:pPr algn="l"/>
                      <a:r>
                        <a:rPr sz="1050">
                          <a:solidFill>
                            <a:srgbClr val="22282E"/>
                          </a:solidFill>
                          <a:latin typeface="Arial"/>
                        </a:rPr>
                        <a:t>Hà Nội</a:t>
                      </a:r>
                    </a:p>
                  </a:txBody>
                  <a:tcPr anchor="ctr" marL="82296" marR="82296" marT="27432" marB="27432">
                    <a:solidFill>
                      <a:srgbClr val="FFFFFF"/>
                    </a:solidFill>
                  </a:tcPr>
                </a:tc>
                <a:tc>
                  <a:txBody>
                    <a:bodyPr/>
                    <a:lstStyle/>
                    <a:p>
                      <a:pPr algn="l"/>
                      <a:r>
                        <a:rPr sz="1050">
                          <a:solidFill>
                            <a:srgbClr val="22282E"/>
                          </a:solidFill>
                          <a:latin typeface="Arial"/>
                        </a:rPr>
                        <a:t>Exact (Đúng)</a:t>
                      </a:r>
                    </a:p>
                  </a:txBody>
                  <a:tcPr anchor="ctr" marL="82296" marR="82296" marT="27432" marB="27432">
                    <a:solidFill>
                      <a:srgbClr val="FFFFFF"/>
                    </a:solidFill>
                  </a:tcPr>
                </a:tc>
              </a:tr>
              <a:tr h="640080">
                <a:tc>
                  <a:txBody>
                    <a:bodyPr/>
                    <a:lstStyle/>
                    <a:p>
                      <a:pPr algn="l"/>
                      <a:r>
                        <a:rPr sz="1050" b="1">
                          <a:solidFill>
                            <a:srgbClr val="22282E"/>
                          </a:solidFill>
                          <a:latin typeface="Arial"/>
                        </a:rPr>
                        <a:t>Kính gửi đầu VB</a:t>
                      </a:r>
                    </a:p>
                  </a:txBody>
                  <a:tcPr anchor="ctr" marL="82296" marR="82296" marT="27432" marB="27432">
                    <a:solidFill>
                      <a:srgbClr val="F8FAFC"/>
                    </a:solidFill>
                  </a:tcPr>
                </a:tc>
                <a:tc>
                  <a:txBody>
                    <a:bodyPr/>
                    <a:lstStyle/>
                    <a:p>
                      <a:pPr algn="l"/>
                      <a:r>
                        <a:rPr sz="1050">
                          <a:solidFill>
                            <a:srgbClr val="22282E"/>
                          </a:solidFill>
                          <a:latin typeface="Arial"/>
                        </a:rPr>
                        <a:t>“ ” (Không có trong văn bản)</a:t>
                      </a:r>
                    </a:p>
                  </a:txBody>
                  <a:tcPr anchor="ctr" marL="82296" marR="82296" marT="27432" marB="27432">
                    <a:solidFill>
                      <a:srgbClr val="F8FAFC"/>
                    </a:solidFill>
                  </a:tcPr>
                </a:tc>
                <a:tc>
                  <a:txBody>
                    <a:bodyPr/>
                    <a:lstStyle/>
                    <a:p>
                      <a:pPr algn="l"/>
                      <a:r>
                        <a:rPr sz="1050">
                          <a:solidFill>
                            <a:srgbClr val="22282E"/>
                          </a:solidFill>
                          <a:latin typeface="Arial"/>
                        </a:rPr>
                        <a:t>“ ” (Không bịa thông tin)</a:t>
                      </a:r>
                    </a:p>
                  </a:txBody>
                  <a:tcPr anchor="ctr" marL="82296" marR="82296" marT="27432" marB="27432">
                    <a:solidFill>
                      <a:srgbClr val="F8FAFC"/>
                    </a:solidFill>
                  </a:tcPr>
                </a:tc>
                <a:tc>
                  <a:txBody>
                    <a:bodyPr/>
                    <a:lstStyle/>
                    <a:p>
                      <a:pPr algn="l"/>
                      <a:r>
                        <a:rPr sz="1050">
                          <a:solidFill>
                            <a:srgbClr val="22282E"/>
                          </a:solidFill>
                          <a:latin typeface="Arial"/>
                        </a:rPr>
                        <a:t>Correct Absent (Đúng)</a:t>
                      </a:r>
                    </a:p>
                  </a:txBody>
                  <a:tcPr anchor="ctr" marL="82296" marR="82296" marT="27432" marB="27432">
                    <a:solidFill>
                      <a:srgbClr val="F8FAFC"/>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Thống kê lỗi các trường &amp; Thứ tự ưu tiên cải thiện</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ocr-collab/reports/vai_acc_v1_20261002/ · 196 lỗi Nội bộ vs 127 lỗi VAI</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14</a:t>
            </a:r>
          </a:p>
        </p:txBody>
      </p:sp>
      <p:sp>
        <p:nvSpPr>
          <p:cNvPr id="149" name="Rounded Rectangle 148"/>
          <p:cNvSpPr/>
          <p:nvPr/>
        </p:nvSpPr>
        <p:spPr>
          <a:xfrm>
            <a:off x="1243584" y="1280160"/>
            <a:ext cx="2907791"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816351"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04 · PHÂN TÍCH LỖI</a:t>
            </a:r>
          </a:p>
        </p:txBody>
      </p:sp>
      <p:pic>
        <p:nvPicPr>
          <p:cNvPr id="151" name="Picture 150" descr="image.png"/>
          <p:cNvPicPr>
            <a:picLocks noChangeAspect="1"/>
          </p:cNvPicPr>
          <p:nvPr/>
        </p:nvPicPr>
        <p:blipFill>
          <a:blip r:embed="rId5"/>
          <a:stretch>
            <a:fillRect/>
          </a:stretch>
        </p:blipFill>
        <p:spPr>
          <a:xfrm>
            <a:off x="1243584" y="1874519"/>
            <a:ext cx="8412480" cy="5394960"/>
          </a:xfrm>
          <a:prstGeom prst="rect">
            <a:avLst/>
          </a:prstGeom>
        </p:spPr>
      </p:pic>
      <p:sp>
        <p:nvSpPr>
          <p:cNvPr id="152" name="Rounded Rectangle 151"/>
          <p:cNvSpPr/>
          <p:nvPr/>
        </p:nvSpPr>
        <p:spPr>
          <a:xfrm>
            <a:off x="9875520" y="1874519"/>
            <a:ext cx="7269480" cy="5394960"/>
          </a:xfrm>
          <a:prstGeom prst="roundRect">
            <a:avLst/>
          </a:prstGeom>
          <a:solidFill>
            <a:srgbClr val="FDF2F3"/>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10076688" y="2075688"/>
            <a:ext cx="6867144"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Thứ tự ưu tiên cải thiện nghiệp vụ</a:t>
            </a:r>
          </a:p>
        </p:txBody>
      </p:sp>
      <p:sp>
        <p:nvSpPr>
          <p:cNvPr id="154" name="TextBox 153"/>
          <p:cNvSpPr txBox="1"/>
          <p:nvPr/>
        </p:nvSpPr>
        <p:spPr>
          <a:xfrm>
            <a:off x="10076688" y="2624328"/>
            <a:ext cx="6867144" cy="4507992"/>
          </a:xfrm>
          <a:prstGeom prst="rect">
            <a:avLst/>
          </a:prstGeom>
          <a:noFill/>
        </p:spPr>
        <p:txBody>
          <a:bodyPr wrap="square" anchor="t" lIns="27432" rIns="27432" tIns="27432" bIns="27432">
            <a:spAutoFit/>
          </a:bodyPr>
          <a:lstStyle/>
          <a:p>
            <a:pPr algn="l">
              <a:lnSpc>
                <a:spcPct val="115000"/>
              </a:lnSpc>
              <a:spcAft>
                <a:spcPts val="225"/>
              </a:spcAft>
            </a:pPr>
            <a:r>
              <a:rPr sz="1500" b="0">
                <a:solidFill>
                  <a:srgbClr val="22282E"/>
                </a:solidFill>
                <a:latin typeface="Arial"/>
              </a:rPr>
              <a:t>🎯 CHIẾN LƯỢC TẬP TRUNG NGUỒN LỰC:</a:t>
            </a:r>
          </a:p>
          <a:p>
            <a:pPr algn="l">
              <a:lnSpc>
                <a:spcPct val="115000"/>
              </a:lnSpc>
              <a:spcAft>
                <a:spcPts val="225"/>
              </a:spcAft>
            </a:pPr>
          </a:p>
          <a:p>
            <a:pPr algn="l">
              <a:lnSpc>
                <a:spcPct val="115000"/>
              </a:lnSpc>
              <a:spcAft>
                <a:spcPts val="225"/>
              </a:spcAft>
            </a:pPr>
            <a:r>
              <a:rPr sz="1500" b="0">
                <a:solidFill>
                  <a:srgbClr val="22282E"/>
                </a:solidFill>
                <a:latin typeface="Arial"/>
              </a:rPr>
              <a:t>1. Cơ quan ban hành (officeSender)</a:t>
            </a:r>
          </a:p>
          <a:p>
            <a:pPr algn="l">
              <a:lnSpc>
                <a:spcPct val="115000"/>
              </a:lnSpc>
              <a:spcAft>
                <a:spcPts val="225"/>
              </a:spcAft>
            </a:pPr>
            <a:r>
              <a:rPr sz="1500" b="0">
                <a:solidFill>
                  <a:srgbClr val="22282E"/>
                </a:solidFill>
                <a:latin typeface="Arial"/>
              </a:rPr>
              <a:t>2. Số, ký hiệu văn bản (code)</a:t>
            </a:r>
          </a:p>
          <a:p>
            <a:pPr algn="l">
              <a:lnSpc>
                <a:spcPct val="115000"/>
              </a:lnSpc>
              <a:spcAft>
                <a:spcPts val="225"/>
              </a:spcAft>
            </a:pPr>
            <a:r>
              <a:rPr sz="1500" b="0">
                <a:solidFill>
                  <a:srgbClr val="22282E"/>
                </a:solidFill>
                <a:latin typeface="Arial"/>
              </a:rPr>
              <a:t>3. Ngày ban hành (documentDate)</a:t>
            </a:r>
          </a:p>
          <a:p>
            <a:pPr algn="l">
              <a:lnSpc>
                <a:spcPct val="115000"/>
              </a:lnSpc>
              <a:spcAft>
                <a:spcPts val="225"/>
              </a:spcAft>
            </a:pPr>
            <a:r>
              <a:rPr sz="1500" b="0">
                <a:solidFill>
                  <a:srgbClr val="22282E"/>
                </a:solidFill>
                <a:latin typeface="Arial"/>
              </a:rPr>
              <a:t>4. Trích yếu / tiêu đề (title)</a:t>
            </a:r>
          </a:p>
          <a:p>
            <a:pPr algn="l">
              <a:lnSpc>
                <a:spcPct val="115000"/>
              </a:lnSpc>
              <a:spcAft>
                <a:spcPts val="225"/>
              </a:spcAft>
            </a:pPr>
            <a:r>
              <a:rPr sz="1500" b="0">
                <a:solidFill>
                  <a:srgbClr val="22282E"/>
                </a:solidFill>
                <a:latin typeface="Arial"/>
              </a:rPr>
              <a:t>5. Họ tên người ký (signer)</a:t>
            </a:r>
          </a:p>
          <a:p>
            <a:pPr algn="l">
              <a:lnSpc>
                <a:spcPct val="115000"/>
              </a:lnSpc>
              <a:spcAft>
                <a:spcPts val="225"/>
              </a:spcAft>
            </a:pPr>
            <a:r>
              <a:rPr sz="1500" b="0">
                <a:solidFill>
                  <a:srgbClr val="22282E"/>
                </a:solidFill>
                <a:latin typeface="Arial"/>
              </a:rPr>
              <a:t>6. Chức danh người ký (signer_title)</a:t>
            </a:r>
          </a:p>
          <a:p>
            <a:pPr algn="l">
              <a:lnSpc>
                <a:spcPct val="115000"/>
              </a:lnSpc>
              <a:spcAft>
                <a:spcPts val="225"/>
              </a:spcAft>
            </a:pPr>
          </a:p>
          <a:p>
            <a:pPr algn="l">
              <a:lnSpc>
                <a:spcPct val="115000"/>
              </a:lnSpc>
              <a:spcAft>
                <a:spcPts val="225"/>
              </a:spcAft>
            </a:pPr>
            <a:r>
              <a:rPr sz="1500" b="0">
                <a:solidFill>
                  <a:srgbClr val="22282E"/>
                </a:solidFill>
                <a:latin typeface="Arial"/>
              </a:rPr>
              <a:t>💡 Lý do ưu tiên:</a:t>
            </a:r>
          </a:p>
          <a:p>
            <a:pPr algn="l">
              <a:lnSpc>
                <a:spcPct val="115000"/>
              </a:lnSpc>
              <a:spcAft>
                <a:spcPts val="225"/>
              </a:spcAft>
            </a:pPr>
            <a:r>
              <a:rPr sz="1500" b="0">
                <a:solidFill>
                  <a:srgbClr val="22282E"/>
                </a:solidFill>
                <a:latin typeface="Arial"/>
              </a:rPr>
              <a:t>• Nhóm 1-4 là các trường Bắt buộc (Required) quyết định tính pháp lý và nâng nhanh tỷ lệ Document Success.</a:t>
            </a:r>
          </a:p>
          <a:p>
            <a:pPr algn="l">
              <a:lnSpc>
                <a:spcPct val="115000"/>
              </a:lnSpc>
              <a:spcAft>
                <a:spcPts val="225"/>
              </a:spcAft>
            </a:pPr>
            <a:r>
              <a:rPr sz="1500" b="0">
                <a:solidFill>
                  <a:srgbClr val="22282E"/>
                </a:solidFill>
                <a:latin typeface="Arial"/>
              </a:rPr>
              <a:t>• Nhóm 5-6 là vùng ký ở cuối văn bản, được xử lý tiếp theo sau khi đã hoàn thiện phần header.</a:t>
            </a:r>
          </a:p>
        </p:txBody>
      </p:sp>
      <p:sp>
        <p:nvSpPr>
          <p:cNvPr id="155" name="Rounded Rectangle 154"/>
          <p:cNvSpPr/>
          <p:nvPr/>
        </p:nvSpPr>
        <p:spPr>
          <a:xfrm>
            <a:off x="1243584" y="7498079"/>
            <a:ext cx="15910559" cy="749808"/>
          </a:xfrm>
          <a:prstGeom prst="roundRect">
            <a:avLst/>
          </a:prstGeom>
          <a:solidFill>
            <a:srgbClr val="FDF2F3"/>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463040" y="7607807"/>
            <a:ext cx="15453359" cy="530352"/>
          </a:xfrm>
          <a:prstGeom prst="rect">
            <a:avLst/>
          </a:prstGeom>
          <a:noFill/>
        </p:spPr>
        <p:txBody>
          <a:bodyPr wrap="square" anchor="t" lIns="27432" rIns="27432" tIns="27432" bIns="27432">
            <a:spAutoFit/>
          </a:bodyPr>
          <a:lstStyle/>
          <a:p>
            <a:pPr algn="l">
              <a:lnSpc>
                <a:spcPct val="115000"/>
              </a:lnSpc>
              <a:spcAft>
                <a:spcPts val="285"/>
              </a:spcAft>
            </a:pPr>
            <a:r>
              <a:rPr sz="1900" b="1">
                <a:solidFill>
                  <a:srgbClr val="172235"/>
                </a:solidFill>
                <a:latin typeface="Arial"/>
              </a:rPr>
              <a:t>OCR Nội bộ có 196 lỗi (147 Đọc sai, 49 Bỏ sót, 0 Trả thừa); không bịa thông tin khi thiếu dữ liệu.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Một ký tự OCR sai làm hỏng trường bắt buộc</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field_errors.csv · File 8931+VPCP-PL trang 1 · Lỗi nhận dạng OCR</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15</a:t>
            </a:r>
          </a:p>
        </p:txBody>
      </p:sp>
      <p:sp>
        <p:nvSpPr>
          <p:cNvPr id="149" name="Rounded Rectangle 148"/>
          <p:cNvSpPr/>
          <p:nvPr/>
        </p:nvSpPr>
        <p:spPr>
          <a:xfrm>
            <a:off x="1243584" y="1280160"/>
            <a:ext cx="2907791"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816351"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04 · PHÂN TÍCH LỖI</a:t>
            </a:r>
          </a:p>
        </p:txBody>
      </p:sp>
      <p:sp>
        <p:nvSpPr>
          <p:cNvPr id="151" name="Rectangle 150"/>
          <p:cNvSpPr/>
          <p:nvPr/>
        </p:nvSpPr>
        <p:spPr>
          <a:xfrm>
            <a:off x="1243584" y="1920240"/>
            <a:ext cx="6995160" cy="2057400"/>
          </a:xfrm>
          <a:prstGeom prst="rect">
            <a:avLst/>
          </a:prstGeom>
          <a:solidFill>
            <a:srgbClr val="FFFFFF"/>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image.png"/>
          <p:cNvPicPr>
            <a:picLocks noChangeAspect="1"/>
          </p:cNvPicPr>
          <p:nvPr/>
        </p:nvPicPr>
        <p:blipFill>
          <a:blip r:embed="rId5"/>
          <a:stretch>
            <a:fillRect/>
          </a:stretch>
        </p:blipFill>
        <p:spPr>
          <a:xfrm>
            <a:off x="1312164" y="2156085"/>
            <a:ext cx="6858000" cy="1174229"/>
          </a:xfrm>
          <a:prstGeom prst="rect">
            <a:avLst/>
          </a:prstGeom>
        </p:spPr>
      </p:pic>
      <p:sp>
        <p:nvSpPr>
          <p:cNvPr id="153" name="TextBox 152"/>
          <p:cNvSpPr txBox="1"/>
          <p:nvPr/>
        </p:nvSpPr>
        <p:spPr>
          <a:xfrm>
            <a:off x="1380744" y="3611879"/>
            <a:ext cx="6720840" cy="320040"/>
          </a:xfrm>
          <a:prstGeom prst="rect">
            <a:avLst/>
          </a:prstGeom>
          <a:noFill/>
        </p:spPr>
        <p:txBody>
          <a:bodyPr wrap="square" anchor="t" lIns="27432" rIns="27432" tIns="27432" bIns="27432">
            <a:spAutoFit/>
          </a:bodyPr>
          <a:lstStyle/>
          <a:p>
            <a:pPr algn="l">
              <a:lnSpc>
                <a:spcPct val="115000"/>
              </a:lnSpc>
              <a:spcAft>
                <a:spcPts val="150"/>
              </a:spcAft>
            </a:pPr>
            <a:r>
              <a:rPr sz="1000" b="0">
                <a:solidFill>
                  <a:srgbClr val="60666D"/>
                </a:solidFill>
                <a:latin typeface="Arial"/>
              </a:rPr>
              <a:t>Ngày ban hành · bbox [847, 274, 1337, 308]</a:t>
            </a:r>
          </a:p>
        </p:txBody>
      </p:sp>
      <p:sp>
        <p:nvSpPr>
          <p:cNvPr id="154" name="Rectangle 153"/>
          <p:cNvSpPr/>
          <p:nvPr/>
        </p:nvSpPr>
        <p:spPr>
          <a:xfrm>
            <a:off x="1243584" y="4251960"/>
            <a:ext cx="6995160" cy="2057400"/>
          </a:xfrm>
          <a:prstGeom prst="rect">
            <a:avLst/>
          </a:prstGeom>
          <a:solidFill>
            <a:srgbClr val="FFFFFF"/>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image.png"/>
          <p:cNvPicPr>
            <a:picLocks noChangeAspect="1"/>
          </p:cNvPicPr>
          <p:nvPr/>
        </p:nvPicPr>
        <p:blipFill>
          <a:blip r:embed="rId6"/>
          <a:stretch>
            <a:fillRect/>
          </a:stretch>
        </p:blipFill>
        <p:spPr>
          <a:xfrm>
            <a:off x="1312164" y="4362308"/>
            <a:ext cx="6858000" cy="1425222"/>
          </a:xfrm>
          <a:prstGeom prst="rect">
            <a:avLst/>
          </a:prstGeom>
        </p:spPr>
      </p:pic>
      <p:sp>
        <p:nvSpPr>
          <p:cNvPr id="156" name="TextBox 155"/>
          <p:cNvSpPr txBox="1"/>
          <p:nvPr/>
        </p:nvSpPr>
        <p:spPr>
          <a:xfrm>
            <a:off x="1380744" y="5943600"/>
            <a:ext cx="6720840" cy="320040"/>
          </a:xfrm>
          <a:prstGeom prst="rect">
            <a:avLst/>
          </a:prstGeom>
          <a:noFill/>
        </p:spPr>
        <p:txBody>
          <a:bodyPr wrap="square" anchor="t" lIns="27432" rIns="27432" tIns="27432" bIns="27432">
            <a:spAutoFit/>
          </a:bodyPr>
          <a:lstStyle/>
          <a:p>
            <a:pPr algn="l">
              <a:lnSpc>
                <a:spcPct val="115000"/>
              </a:lnSpc>
              <a:spcAft>
                <a:spcPts val="150"/>
              </a:spcAft>
            </a:pPr>
            <a:r>
              <a:rPr sz="1000" b="0">
                <a:solidFill>
                  <a:srgbClr val="60666D"/>
                </a:solidFill>
                <a:latin typeface="Arial"/>
              </a:rPr>
              <a:t>Cơ quan ban hành · bbox [236, 154, 663, 195]</a:t>
            </a:r>
          </a:p>
        </p:txBody>
      </p:sp>
      <p:sp>
        <p:nvSpPr>
          <p:cNvPr id="157" name="Rounded Rectangle 156"/>
          <p:cNvSpPr/>
          <p:nvPr/>
        </p:nvSpPr>
        <p:spPr>
          <a:xfrm>
            <a:off x="8549640" y="1920240"/>
            <a:ext cx="8595360" cy="868680"/>
          </a:xfrm>
          <a:prstGeom prst="roundRect">
            <a:avLst/>
          </a:prstGeom>
          <a:solidFill>
            <a:srgbClr val="EDF8F1"/>
          </a:solidFill>
          <a:ln w="9525">
            <a:solidFill>
              <a:srgbClr val="ED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8705088" y="1993392"/>
            <a:ext cx="8284464" cy="201168"/>
          </a:xfrm>
          <a:prstGeom prst="rect">
            <a:avLst/>
          </a:prstGeom>
          <a:noFill/>
        </p:spPr>
        <p:txBody>
          <a:bodyPr wrap="square" anchor="t" lIns="27432" rIns="27432" tIns="27432" bIns="27432">
            <a:spAutoFit/>
          </a:bodyPr>
          <a:lstStyle/>
          <a:p>
            <a:pPr algn="l">
              <a:lnSpc>
                <a:spcPct val="115000"/>
              </a:lnSpc>
              <a:spcAft>
                <a:spcPts val="150"/>
              </a:spcAft>
            </a:pPr>
            <a:r>
              <a:rPr sz="1000" b="1">
                <a:solidFill>
                  <a:srgbClr val="1A7F50"/>
                </a:solidFill>
                <a:latin typeface="Arial"/>
              </a:rPr>
              <a:t>GIÁ TRỊ ĐÚNG (GROUND TRUTH) · DOCUMENTDATE</a:t>
            </a:r>
          </a:p>
        </p:txBody>
      </p:sp>
      <p:sp>
        <p:nvSpPr>
          <p:cNvPr id="159" name="TextBox 158"/>
          <p:cNvSpPr txBox="1"/>
          <p:nvPr/>
        </p:nvSpPr>
        <p:spPr>
          <a:xfrm>
            <a:off x="8705088" y="2212848"/>
            <a:ext cx="8284464" cy="521207"/>
          </a:xfrm>
          <a:prstGeom prst="rect">
            <a:avLst/>
          </a:prstGeom>
          <a:noFill/>
        </p:spPr>
        <p:txBody>
          <a:bodyPr wrap="square" anchor="t" lIns="27432" rIns="27432" tIns="27432" bIns="27432">
            <a:spAutoFit/>
          </a:bodyPr>
          <a:lstStyle/>
          <a:p>
            <a:pPr algn="l">
              <a:lnSpc>
                <a:spcPct val="115000"/>
              </a:lnSpc>
              <a:spcAft>
                <a:spcPts val="240"/>
              </a:spcAft>
            </a:pPr>
            <a:r>
              <a:rPr sz="1600" b="1">
                <a:solidFill>
                  <a:srgbClr val="22282E"/>
                </a:solidFill>
                <a:latin typeface="Arial"/>
              </a:rPr>
              <a:t>29/08/2026</a:t>
            </a:r>
          </a:p>
        </p:txBody>
      </p:sp>
      <p:sp>
        <p:nvSpPr>
          <p:cNvPr id="160" name="Rounded Rectangle 159"/>
          <p:cNvSpPr/>
          <p:nvPr/>
        </p:nvSpPr>
        <p:spPr>
          <a:xfrm>
            <a:off x="8549640" y="2971800"/>
            <a:ext cx="8595360" cy="868680"/>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8705088" y="3044952"/>
            <a:ext cx="8284464" cy="201168"/>
          </a:xfrm>
          <a:prstGeom prst="rect">
            <a:avLst/>
          </a:prstGeom>
          <a:noFill/>
        </p:spPr>
        <p:txBody>
          <a:bodyPr wrap="square" anchor="t" lIns="27432" rIns="27432" tIns="27432" bIns="27432">
            <a:spAutoFit/>
          </a:bodyPr>
          <a:lstStyle/>
          <a:p>
            <a:pPr algn="l">
              <a:lnSpc>
                <a:spcPct val="115000"/>
              </a:lnSpc>
              <a:spcAft>
                <a:spcPts val="150"/>
              </a:spcAft>
            </a:pPr>
            <a:r>
              <a:rPr sz="1000" b="1">
                <a:solidFill>
                  <a:srgbClr val="EE0033"/>
                </a:solidFill>
                <a:latin typeface="Arial"/>
              </a:rPr>
              <a:t>OCR NỘI BỘ ĐỌC ĐƯỢC (ĐỌC SAI KÝ TỰ)</a:t>
            </a:r>
          </a:p>
        </p:txBody>
      </p:sp>
      <p:sp>
        <p:nvSpPr>
          <p:cNvPr id="162" name="TextBox 161"/>
          <p:cNvSpPr txBox="1"/>
          <p:nvPr/>
        </p:nvSpPr>
        <p:spPr>
          <a:xfrm>
            <a:off x="8705088" y="3264408"/>
            <a:ext cx="8284464" cy="521207"/>
          </a:xfrm>
          <a:prstGeom prst="rect">
            <a:avLst/>
          </a:prstGeom>
          <a:noFill/>
        </p:spPr>
        <p:txBody>
          <a:bodyPr wrap="square" anchor="t" lIns="27432" rIns="27432" tIns="27432" bIns="27432">
            <a:spAutoFit/>
          </a:bodyPr>
          <a:lstStyle/>
          <a:p>
            <a:pPr algn="l">
              <a:lnSpc>
                <a:spcPct val="115000"/>
              </a:lnSpc>
              <a:spcAft>
                <a:spcPts val="240"/>
              </a:spcAft>
            </a:pPr>
            <a:r>
              <a:rPr sz="1600" b="1">
                <a:solidFill>
                  <a:srgbClr val="22282E"/>
                </a:solidFill>
                <a:latin typeface="Arial"/>
              </a:rPr>
              <a:t>19/08/2026 (Nhận nhầm số 2 thành số 1 do vết scan)</a:t>
            </a:r>
          </a:p>
        </p:txBody>
      </p:sp>
      <p:sp>
        <p:nvSpPr>
          <p:cNvPr id="163" name="Rounded Rectangle 162"/>
          <p:cNvSpPr/>
          <p:nvPr/>
        </p:nvSpPr>
        <p:spPr>
          <a:xfrm>
            <a:off x="8549640" y="4251960"/>
            <a:ext cx="8595360" cy="868680"/>
          </a:xfrm>
          <a:prstGeom prst="roundRect">
            <a:avLst/>
          </a:prstGeom>
          <a:solidFill>
            <a:srgbClr val="EDF8F1"/>
          </a:solidFill>
          <a:ln w="9525">
            <a:solidFill>
              <a:srgbClr val="ED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8705088" y="4325112"/>
            <a:ext cx="8284464" cy="201168"/>
          </a:xfrm>
          <a:prstGeom prst="rect">
            <a:avLst/>
          </a:prstGeom>
          <a:noFill/>
        </p:spPr>
        <p:txBody>
          <a:bodyPr wrap="square" anchor="t" lIns="27432" rIns="27432" tIns="27432" bIns="27432">
            <a:spAutoFit/>
          </a:bodyPr>
          <a:lstStyle/>
          <a:p>
            <a:pPr algn="l">
              <a:lnSpc>
                <a:spcPct val="115000"/>
              </a:lnSpc>
              <a:spcAft>
                <a:spcPts val="150"/>
              </a:spcAft>
            </a:pPr>
            <a:r>
              <a:rPr sz="1000" b="1">
                <a:solidFill>
                  <a:srgbClr val="1A7F50"/>
                </a:solidFill>
                <a:latin typeface="Arial"/>
              </a:rPr>
              <a:t>GIÁ TRỊ ĐÚNG (GROUND TRUTH) · OFFICESENDER</a:t>
            </a:r>
          </a:p>
        </p:txBody>
      </p:sp>
      <p:sp>
        <p:nvSpPr>
          <p:cNvPr id="165" name="TextBox 164"/>
          <p:cNvSpPr txBox="1"/>
          <p:nvPr/>
        </p:nvSpPr>
        <p:spPr>
          <a:xfrm>
            <a:off x="8705088" y="4544568"/>
            <a:ext cx="8284464" cy="521207"/>
          </a:xfrm>
          <a:prstGeom prst="rect">
            <a:avLst/>
          </a:prstGeom>
          <a:noFill/>
        </p:spPr>
        <p:txBody>
          <a:bodyPr wrap="square" anchor="t" lIns="27432" rIns="27432" tIns="27432" bIns="27432">
            <a:spAutoFit/>
          </a:bodyPr>
          <a:lstStyle/>
          <a:p>
            <a:pPr algn="l">
              <a:lnSpc>
                <a:spcPct val="115000"/>
              </a:lnSpc>
              <a:spcAft>
                <a:spcPts val="240"/>
              </a:spcAft>
            </a:pPr>
            <a:r>
              <a:rPr sz="1600" b="1">
                <a:solidFill>
                  <a:srgbClr val="22282E"/>
                </a:solidFill>
                <a:latin typeface="Arial"/>
              </a:rPr>
              <a:t>VĂN PHÒNG CHÍNH PHỦ</a:t>
            </a:r>
          </a:p>
        </p:txBody>
      </p:sp>
      <p:sp>
        <p:nvSpPr>
          <p:cNvPr id="166" name="Rounded Rectangle 165"/>
          <p:cNvSpPr/>
          <p:nvPr/>
        </p:nvSpPr>
        <p:spPr>
          <a:xfrm>
            <a:off x="8549640" y="5303520"/>
            <a:ext cx="8595360" cy="868680"/>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8705088" y="5376672"/>
            <a:ext cx="8284464" cy="201168"/>
          </a:xfrm>
          <a:prstGeom prst="rect">
            <a:avLst/>
          </a:prstGeom>
          <a:noFill/>
        </p:spPr>
        <p:txBody>
          <a:bodyPr wrap="square" anchor="t" lIns="27432" rIns="27432" tIns="27432" bIns="27432">
            <a:spAutoFit/>
          </a:bodyPr>
          <a:lstStyle/>
          <a:p>
            <a:pPr algn="l">
              <a:lnSpc>
                <a:spcPct val="115000"/>
              </a:lnSpc>
              <a:spcAft>
                <a:spcPts val="150"/>
              </a:spcAft>
            </a:pPr>
            <a:r>
              <a:rPr sz="1000" b="1">
                <a:solidFill>
                  <a:srgbClr val="EE0033"/>
                </a:solidFill>
                <a:latin typeface="Arial"/>
              </a:rPr>
              <a:t>OCR NỘI BỘ ĐỌC ĐƯỢC (DÍNH CHỮ)</a:t>
            </a:r>
          </a:p>
        </p:txBody>
      </p:sp>
      <p:sp>
        <p:nvSpPr>
          <p:cNvPr id="168" name="TextBox 167"/>
          <p:cNvSpPr txBox="1"/>
          <p:nvPr/>
        </p:nvSpPr>
        <p:spPr>
          <a:xfrm>
            <a:off x="8705088" y="5596128"/>
            <a:ext cx="8284464" cy="521207"/>
          </a:xfrm>
          <a:prstGeom prst="rect">
            <a:avLst/>
          </a:prstGeom>
          <a:noFill/>
        </p:spPr>
        <p:txBody>
          <a:bodyPr wrap="square" anchor="t" lIns="27432" rIns="27432" tIns="27432" bIns="27432">
            <a:spAutoFit/>
          </a:bodyPr>
          <a:lstStyle/>
          <a:p>
            <a:pPr algn="l">
              <a:lnSpc>
                <a:spcPct val="115000"/>
              </a:lnSpc>
              <a:spcAft>
                <a:spcPts val="240"/>
              </a:spcAft>
            </a:pPr>
            <a:r>
              <a:rPr sz="1600" b="1">
                <a:solidFill>
                  <a:srgbClr val="22282E"/>
                </a:solidFill>
                <a:latin typeface="Arial"/>
              </a:rPr>
              <a:t>VĂN PHÒNG CHÍNH PHỦNH PHỦ</a:t>
            </a:r>
          </a:p>
        </p:txBody>
      </p:sp>
      <p:sp>
        <p:nvSpPr>
          <p:cNvPr id="169" name="TextBox 168"/>
          <p:cNvSpPr txBox="1"/>
          <p:nvPr/>
        </p:nvSpPr>
        <p:spPr>
          <a:xfrm>
            <a:off x="8567928" y="6492240"/>
            <a:ext cx="8549640" cy="1828800"/>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Đánh giá nghiệp vụ: Lỗi phát sinh do bước OCR nhận dạng ký tự thô từ bản scan chất lượng kém. Cần cải thiện tiền xử lý ảnh và áp dụng luật kiểm tra logic ngày tháng.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Dấu mộc đỏ che khuất và chữ ký đè chữ</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field_errors.csv · File 29+CT-TTg trang 1 &amp; 4 · Dấu mộc &amp; Vùng ký</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16</a:t>
            </a:r>
          </a:p>
        </p:txBody>
      </p:sp>
      <p:sp>
        <p:nvSpPr>
          <p:cNvPr id="149" name="Rounded Rectangle 148"/>
          <p:cNvSpPr/>
          <p:nvPr/>
        </p:nvSpPr>
        <p:spPr>
          <a:xfrm>
            <a:off x="1243584" y="1280160"/>
            <a:ext cx="2907791"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816351"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04 · PHÂN TÍCH LỖI</a:t>
            </a:r>
          </a:p>
        </p:txBody>
      </p:sp>
      <p:sp>
        <p:nvSpPr>
          <p:cNvPr id="151" name="Rectangle 150"/>
          <p:cNvSpPr/>
          <p:nvPr/>
        </p:nvSpPr>
        <p:spPr>
          <a:xfrm>
            <a:off x="1243584" y="1874519"/>
            <a:ext cx="4553712" cy="6858000"/>
          </a:xfrm>
          <a:prstGeom prst="rect">
            <a:avLst/>
          </a:prstGeom>
          <a:solidFill>
            <a:srgbClr val="FFFFFF"/>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image.jpg"/>
          <p:cNvPicPr>
            <a:picLocks noChangeAspect="1"/>
          </p:cNvPicPr>
          <p:nvPr/>
        </p:nvPicPr>
        <p:blipFill>
          <a:blip r:embed="rId5"/>
          <a:stretch>
            <a:fillRect/>
          </a:stretch>
        </p:blipFill>
        <p:spPr>
          <a:xfrm>
            <a:off x="1312164" y="1982266"/>
            <a:ext cx="4416552" cy="6231027"/>
          </a:xfrm>
          <a:prstGeom prst="rect">
            <a:avLst/>
          </a:prstGeom>
        </p:spPr>
      </p:pic>
      <p:sp>
        <p:nvSpPr>
          <p:cNvPr id="153" name="TextBox 152"/>
          <p:cNvSpPr txBox="1"/>
          <p:nvPr/>
        </p:nvSpPr>
        <p:spPr>
          <a:xfrm>
            <a:off x="1380744" y="8366760"/>
            <a:ext cx="4279392" cy="320040"/>
          </a:xfrm>
          <a:prstGeom prst="rect">
            <a:avLst/>
          </a:prstGeom>
          <a:noFill/>
        </p:spPr>
        <p:txBody>
          <a:bodyPr wrap="square" anchor="t" lIns="27432" rIns="27432" tIns="27432" bIns="27432">
            <a:spAutoFit/>
          </a:bodyPr>
          <a:lstStyle/>
          <a:p>
            <a:pPr algn="l">
              <a:lnSpc>
                <a:spcPct val="115000"/>
              </a:lnSpc>
              <a:spcAft>
                <a:spcPts val="150"/>
              </a:spcAft>
            </a:pPr>
            <a:r>
              <a:rPr sz="1000" b="0">
                <a:solidFill>
                  <a:srgbClr val="60666D"/>
                </a:solidFill>
                <a:latin typeface="Arial"/>
              </a:rPr>
              <a:t>Trang 1 · Con dấu đỏ Hỏa tốc bị mờ</a:t>
            </a:r>
          </a:p>
        </p:txBody>
      </p:sp>
      <p:sp>
        <p:nvSpPr>
          <p:cNvPr id="154" name="Rectangle 153"/>
          <p:cNvSpPr/>
          <p:nvPr/>
        </p:nvSpPr>
        <p:spPr>
          <a:xfrm>
            <a:off x="5980176" y="1874519"/>
            <a:ext cx="4553712" cy="6858000"/>
          </a:xfrm>
          <a:prstGeom prst="rect">
            <a:avLst/>
          </a:prstGeom>
          <a:solidFill>
            <a:srgbClr val="FFFFFF"/>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image.jpg"/>
          <p:cNvPicPr>
            <a:picLocks noChangeAspect="1"/>
          </p:cNvPicPr>
          <p:nvPr/>
        </p:nvPicPr>
        <p:blipFill>
          <a:blip r:embed="rId6"/>
          <a:stretch>
            <a:fillRect/>
          </a:stretch>
        </p:blipFill>
        <p:spPr>
          <a:xfrm>
            <a:off x="6048756" y="1961024"/>
            <a:ext cx="4416552" cy="6273511"/>
          </a:xfrm>
          <a:prstGeom prst="rect">
            <a:avLst/>
          </a:prstGeom>
        </p:spPr>
      </p:pic>
      <p:sp>
        <p:nvSpPr>
          <p:cNvPr id="156" name="TextBox 155"/>
          <p:cNvSpPr txBox="1"/>
          <p:nvPr/>
        </p:nvSpPr>
        <p:spPr>
          <a:xfrm>
            <a:off x="6117336" y="8366760"/>
            <a:ext cx="4279392" cy="320040"/>
          </a:xfrm>
          <a:prstGeom prst="rect">
            <a:avLst/>
          </a:prstGeom>
          <a:noFill/>
        </p:spPr>
        <p:txBody>
          <a:bodyPr wrap="square" anchor="t" lIns="27432" rIns="27432" tIns="27432" bIns="27432">
            <a:spAutoFit/>
          </a:bodyPr>
          <a:lstStyle/>
          <a:p>
            <a:pPr algn="l">
              <a:lnSpc>
                <a:spcPct val="115000"/>
              </a:lnSpc>
              <a:spcAft>
                <a:spcPts val="150"/>
              </a:spcAft>
            </a:pPr>
            <a:r>
              <a:rPr sz="1000" b="0">
                <a:solidFill>
                  <a:srgbClr val="60666D"/>
                </a:solidFill>
                <a:latin typeface="Arial"/>
              </a:rPr>
              <a:t>Trang 4 · Chữ ký đè lên tên người ký</a:t>
            </a:r>
          </a:p>
        </p:txBody>
      </p:sp>
      <p:sp>
        <p:nvSpPr>
          <p:cNvPr id="157" name="Rounded Rectangle 156"/>
          <p:cNvSpPr/>
          <p:nvPr/>
        </p:nvSpPr>
        <p:spPr>
          <a:xfrm>
            <a:off x="10780776" y="1874519"/>
            <a:ext cx="6382512" cy="1234440"/>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0936224" y="1947672"/>
            <a:ext cx="6071616" cy="201168"/>
          </a:xfrm>
          <a:prstGeom prst="rect">
            <a:avLst/>
          </a:prstGeom>
          <a:noFill/>
        </p:spPr>
        <p:txBody>
          <a:bodyPr wrap="square" anchor="t" lIns="27432" rIns="27432" tIns="27432" bIns="27432">
            <a:spAutoFit/>
          </a:bodyPr>
          <a:lstStyle/>
          <a:p>
            <a:pPr algn="l">
              <a:lnSpc>
                <a:spcPct val="115000"/>
              </a:lnSpc>
              <a:spcAft>
                <a:spcPts val="150"/>
              </a:spcAft>
            </a:pPr>
            <a:r>
              <a:rPr sz="1000" b="1">
                <a:solidFill>
                  <a:srgbClr val="EE0033"/>
                </a:solidFill>
                <a:latin typeface="Arial"/>
              </a:rPr>
              <a:t>ĐỘ KHẨN (PRIORITY_LEVEL)</a:t>
            </a:r>
          </a:p>
        </p:txBody>
      </p:sp>
      <p:sp>
        <p:nvSpPr>
          <p:cNvPr id="159" name="TextBox 158"/>
          <p:cNvSpPr txBox="1"/>
          <p:nvPr/>
        </p:nvSpPr>
        <p:spPr>
          <a:xfrm>
            <a:off x="10936224" y="2167127"/>
            <a:ext cx="6071616" cy="886968"/>
          </a:xfrm>
          <a:prstGeom prst="rect">
            <a:avLst/>
          </a:prstGeom>
          <a:noFill/>
        </p:spPr>
        <p:txBody>
          <a:bodyPr wrap="square" anchor="t" lIns="27432" rIns="27432" tIns="27432" bIns="27432">
            <a:spAutoFit/>
          </a:bodyPr>
          <a:lstStyle/>
          <a:p>
            <a:pPr algn="l">
              <a:lnSpc>
                <a:spcPct val="115000"/>
              </a:lnSpc>
              <a:spcAft>
                <a:spcPts val="240"/>
              </a:spcAft>
            </a:pPr>
            <a:r>
              <a:rPr sz="1600" b="1">
                <a:solidFill>
                  <a:srgbClr val="22282E"/>
                </a:solidFill>
                <a:latin typeface="Arial"/>
              </a:rPr>
              <a:t>GT: 1_HỎA TỐC  →  Dự đoán: 0_BÌNH THƯỜNG</a:t>
            </a:r>
          </a:p>
        </p:txBody>
      </p:sp>
      <p:sp>
        <p:nvSpPr>
          <p:cNvPr id="160" name="Rounded Rectangle 159"/>
          <p:cNvSpPr/>
          <p:nvPr/>
        </p:nvSpPr>
        <p:spPr>
          <a:xfrm>
            <a:off x="10780776" y="3291840"/>
            <a:ext cx="6382512" cy="1234440"/>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0936224" y="3364992"/>
            <a:ext cx="6071616" cy="201168"/>
          </a:xfrm>
          <a:prstGeom prst="rect">
            <a:avLst/>
          </a:prstGeom>
          <a:noFill/>
        </p:spPr>
        <p:txBody>
          <a:bodyPr wrap="square" anchor="t" lIns="27432" rIns="27432" tIns="27432" bIns="27432">
            <a:spAutoFit/>
          </a:bodyPr>
          <a:lstStyle/>
          <a:p>
            <a:pPr algn="l">
              <a:lnSpc>
                <a:spcPct val="115000"/>
              </a:lnSpc>
              <a:spcAft>
                <a:spcPts val="150"/>
              </a:spcAft>
            </a:pPr>
            <a:r>
              <a:rPr sz="1000" b="1">
                <a:solidFill>
                  <a:srgbClr val="EE0033"/>
                </a:solidFill>
                <a:latin typeface="Arial"/>
              </a:rPr>
              <a:t>HỌ TÊN NGƯỜI KÝ (SIGNER)</a:t>
            </a:r>
          </a:p>
        </p:txBody>
      </p:sp>
      <p:sp>
        <p:nvSpPr>
          <p:cNvPr id="162" name="TextBox 161"/>
          <p:cNvSpPr txBox="1"/>
          <p:nvPr/>
        </p:nvSpPr>
        <p:spPr>
          <a:xfrm>
            <a:off x="10936224" y="3584448"/>
            <a:ext cx="6071616" cy="886968"/>
          </a:xfrm>
          <a:prstGeom prst="rect">
            <a:avLst/>
          </a:prstGeom>
          <a:noFill/>
        </p:spPr>
        <p:txBody>
          <a:bodyPr wrap="square" anchor="t" lIns="27432" rIns="27432" tIns="27432" bIns="27432">
            <a:spAutoFit/>
          </a:bodyPr>
          <a:lstStyle/>
          <a:p>
            <a:pPr algn="l">
              <a:lnSpc>
                <a:spcPct val="115000"/>
              </a:lnSpc>
              <a:spcAft>
                <a:spcPts val="240"/>
              </a:spcAft>
            </a:pPr>
            <a:r>
              <a:rPr sz="1600" b="1">
                <a:solidFill>
                  <a:srgbClr val="22282E"/>
                </a:solidFill>
                <a:latin typeface="Arial"/>
              </a:rPr>
              <a:t>GT: Hồ Quốc Dũng  →  OCR đọc: Huốc Dũng</a:t>
            </a:r>
          </a:p>
        </p:txBody>
      </p:sp>
      <p:sp>
        <p:nvSpPr>
          <p:cNvPr id="163" name="Rounded Rectangle 162"/>
          <p:cNvSpPr/>
          <p:nvPr/>
        </p:nvSpPr>
        <p:spPr>
          <a:xfrm>
            <a:off x="10780776" y="4709160"/>
            <a:ext cx="6382512" cy="1234440"/>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0936224" y="4782312"/>
            <a:ext cx="6071616" cy="201168"/>
          </a:xfrm>
          <a:prstGeom prst="rect">
            <a:avLst/>
          </a:prstGeom>
          <a:noFill/>
        </p:spPr>
        <p:txBody>
          <a:bodyPr wrap="square" anchor="t" lIns="27432" rIns="27432" tIns="27432" bIns="27432">
            <a:spAutoFit/>
          </a:bodyPr>
          <a:lstStyle/>
          <a:p>
            <a:pPr algn="l">
              <a:lnSpc>
                <a:spcPct val="115000"/>
              </a:lnSpc>
              <a:spcAft>
                <a:spcPts val="150"/>
              </a:spcAft>
            </a:pPr>
            <a:r>
              <a:rPr sz="1000" b="1">
                <a:solidFill>
                  <a:srgbClr val="EE0033"/>
                </a:solidFill>
                <a:latin typeface="Arial"/>
              </a:rPr>
              <a:t>CHỨC DANH NGƯỜI KÝ (SIGNER_TITLE)</a:t>
            </a:r>
          </a:p>
        </p:txBody>
      </p:sp>
      <p:sp>
        <p:nvSpPr>
          <p:cNvPr id="165" name="TextBox 164"/>
          <p:cNvSpPr txBox="1"/>
          <p:nvPr/>
        </p:nvSpPr>
        <p:spPr>
          <a:xfrm>
            <a:off x="10936224" y="5001768"/>
            <a:ext cx="6071616" cy="886968"/>
          </a:xfrm>
          <a:prstGeom prst="rect">
            <a:avLst/>
          </a:prstGeom>
          <a:noFill/>
        </p:spPr>
        <p:txBody>
          <a:bodyPr wrap="square" anchor="t" lIns="27432" rIns="27432" tIns="27432" bIns="27432">
            <a:spAutoFit/>
          </a:bodyPr>
          <a:lstStyle/>
          <a:p>
            <a:pPr algn="l">
              <a:lnSpc>
                <a:spcPct val="115000"/>
              </a:lnSpc>
              <a:spcAft>
                <a:spcPts val="225"/>
              </a:spcAft>
            </a:pPr>
            <a:r>
              <a:rPr sz="1500" b="1">
                <a:solidFill>
                  <a:srgbClr val="22282E"/>
                </a:solidFill>
                <a:latin typeface="Arial"/>
              </a:rPr>
              <a:t>GT: KT. THỦ TƯỚNG PHÓ THỦ TƯỚNG  →  Bỏ sót</a:t>
            </a:r>
          </a:p>
        </p:txBody>
      </p:sp>
      <p:sp>
        <p:nvSpPr>
          <p:cNvPr id="166" name="TextBox 165"/>
          <p:cNvSpPr txBox="1"/>
          <p:nvPr/>
        </p:nvSpPr>
        <p:spPr>
          <a:xfrm>
            <a:off x="10835640" y="6263640"/>
            <a:ext cx="6309360" cy="2194560"/>
          </a:xfrm>
          <a:prstGeom prst="rect">
            <a:avLst/>
          </a:prstGeom>
          <a:noFill/>
        </p:spPr>
        <p:txBody>
          <a:bodyPr wrap="square" anchor="t" lIns="27432" rIns="27432" tIns="27432" bIns="27432">
            <a:spAutoFit/>
          </a:bodyPr>
          <a:lstStyle/>
          <a:p>
            <a:pPr algn="l">
              <a:lnSpc>
                <a:spcPct val="115000"/>
              </a:lnSpc>
              <a:spcAft>
                <a:spcPts val="240"/>
              </a:spcAft>
            </a:pPr>
            <a:r>
              <a:rPr sz="1600" b="0">
                <a:solidFill>
                  <a:srgbClr val="22282E"/>
                </a:solidFill>
                <a:latin typeface="Arial"/>
              </a:rPr>
              <a:t>Đánh giá nghiệp vụ: Dấu đỏ che khuất chữ và chữ ký đè lên text là thách thức lớn nhất ở vùng ký. Cần thêm module bóc tách lớp màu (color separation) để lọc con dấu đỏ.</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Phân vùng Layout: Trích yếu lẫn tên cơ quan &amp; Bắt nhầm anchor</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field_errors.csv · File 12+NQ-PVIRe &amp; 240+TB-PVIRe · Phân vùng Layout</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17</a:t>
            </a:r>
          </a:p>
        </p:txBody>
      </p:sp>
      <p:sp>
        <p:nvSpPr>
          <p:cNvPr id="149" name="Rounded Rectangle 148"/>
          <p:cNvSpPr/>
          <p:nvPr/>
        </p:nvSpPr>
        <p:spPr>
          <a:xfrm>
            <a:off x="1243584" y="1280160"/>
            <a:ext cx="2907791"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816351"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04 · PHÂN TÍCH LỖI</a:t>
            </a:r>
          </a:p>
        </p:txBody>
      </p:sp>
      <p:sp>
        <p:nvSpPr>
          <p:cNvPr id="151" name="Rectangle 150"/>
          <p:cNvSpPr/>
          <p:nvPr/>
        </p:nvSpPr>
        <p:spPr>
          <a:xfrm>
            <a:off x="1243584" y="1920240"/>
            <a:ext cx="7699248" cy="3657600"/>
          </a:xfrm>
          <a:prstGeom prst="rect">
            <a:avLst/>
          </a:prstGeom>
          <a:solidFill>
            <a:srgbClr val="FFFFFF"/>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image.png"/>
          <p:cNvPicPr>
            <a:picLocks noChangeAspect="1"/>
          </p:cNvPicPr>
          <p:nvPr/>
        </p:nvPicPr>
        <p:blipFill>
          <a:blip r:embed="rId5"/>
          <a:stretch>
            <a:fillRect/>
          </a:stretch>
        </p:blipFill>
        <p:spPr>
          <a:xfrm>
            <a:off x="1312164" y="2012877"/>
            <a:ext cx="7562088" cy="3060845"/>
          </a:xfrm>
          <a:prstGeom prst="rect">
            <a:avLst/>
          </a:prstGeom>
        </p:spPr>
      </p:pic>
      <p:sp>
        <p:nvSpPr>
          <p:cNvPr id="153" name="TextBox 152"/>
          <p:cNvSpPr txBox="1"/>
          <p:nvPr/>
        </p:nvSpPr>
        <p:spPr>
          <a:xfrm>
            <a:off x="1380744" y="5212079"/>
            <a:ext cx="7424927" cy="320040"/>
          </a:xfrm>
          <a:prstGeom prst="rect">
            <a:avLst/>
          </a:prstGeom>
          <a:noFill/>
        </p:spPr>
        <p:txBody>
          <a:bodyPr wrap="square" anchor="t" lIns="27432" rIns="27432" tIns="27432" bIns="27432">
            <a:spAutoFit/>
          </a:bodyPr>
          <a:lstStyle/>
          <a:p>
            <a:pPr algn="l">
              <a:lnSpc>
                <a:spcPct val="115000"/>
              </a:lnSpc>
              <a:spcAft>
                <a:spcPts val="150"/>
              </a:spcAft>
            </a:pPr>
            <a:r>
              <a:rPr sz="1000" b="0">
                <a:solidFill>
                  <a:srgbClr val="60666D"/>
                </a:solidFill>
                <a:latin typeface="Arial"/>
              </a:rPr>
              <a:t>12+NQ · Khung bbox trích yếu bị kéo dài lên trên</a:t>
            </a:r>
          </a:p>
        </p:txBody>
      </p:sp>
      <p:sp>
        <p:nvSpPr>
          <p:cNvPr id="154" name="Rectangle 153"/>
          <p:cNvSpPr/>
          <p:nvPr/>
        </p:nvSpPr>
        <p:spPr>
          <a:xfrm>
            <a:off x="9235440" y="1920240"/>
            <a:ext cx="7936992" cy="3657600"/>
          </a:xfrm>
          <a:prstGeom prst="rect">
            <a:avLst/>
          </a:prstGeom>
          <a:solidFill>
            <a:srgbClr val="FFFFFF"/>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image.png"/>
          <p:cNvPicPr>
            <a:picLocks noChangeAspect="1"/>
          </p:cNvPicPr>
          <p:nvPr/>
        </p:nvPicPr>
        <p:blipFill>
          <a:blip r:embed="rId6"/>
          <a:stretch>
            <a:fillRect/>
          </a:stretch>
        </p:blipFill>
        <p:spPr>
          <a:xfrm>
            <a:off x="9365694" y="1975104"/>
            <a:ext cx="7676483" cy="3136391"/>
          </a:xfrm>
          <a:prstGeom prst="rect">
            <a:avLst/>
          </a:prstGeom>
        </p:spPr>
      </p:pic>
      <p:sp>
        <p:nvSpPr>
          <p:cNvPr id="156" name="TextBox 155"/>
          <p:cNvSpPr txBox="1"/>
          <p:nvPr/>
        </p:nvSpPr>
        <p:spPr>
          <a:xfrm>
            <a:off x="9372600" y="5212079"/>
            <a:ext cx="7662671" cy="320040"/>
          </a:xfrm>
          <a:prstGeom prst="rect">
            <a:avLst/>
          </a:prstGeom>
          <a:noFill/>
        </p:spPr>
        <p:txBody>
          <a:bodyPr wrap="square" anchor="t" lIns="27432" rIns="27432" tIns="27432" bIns="27432">
            <a:spAutoFit/>
          </a:bodyPr>
          <a:lstStyle/>
          <a:p>
            <a:pPr algn="l">
              <a:lnSpc>
                <a:spcPct val="115000"/>
              </a:lnSpc>
              <a:spcAft>
                <a:spcPts val="150"/>
              </a:spcAft>
            </a:pPr>
            <a:r>
              <a:rPr sz="1000" b="0">
                <a:solidFill>
                  <a:srgbClr val="60666D"/>
                </a:solidFill>
                <a:latin typeface="Arial"/>
              </a:rPr>
              <a:t>240+TB · Bắt nhầm anchor 'Số:' làm tên cơ quan</a:t>
            </a:r>
          </a:p>
        </p:txBody>
      </p:sp>
      <p:sp>
        <p:nvSpPr>
          <p:cNvPr id="157" name="Rounded Rectangle 156"/>
          <p:cNvSpPr/>
          <p:nvPr/>
        </p:nvSpPr>
        <p:spPr>
          <a:xfrm>
            <a:off x="1243584" y="5852160"/>
            <a:ext cx="7699248" cy="251460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444752" y="6053328"/>
            <a:ext cx="7296912"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12+NQ-PVIRe · Trích yếu (title) bị thừa text</a:t>
            </a:r>
          </a:p>
        </p:txBody>
      </p:sp>
      <p:sp>
        <p:nvSpPr>
          <p:cNvPr id="159" name="TextBox 158"/>
          <p:cNvSpPr txBox="1"/>
          <p:nvPr/>
        </p:nvSpPr>
        <p:spPr>
          <a:xfrm>
            <a:off x="1444752" y="6601968"/>
            <a:ext cx="7296912" cy="1627632"/>
          </a:xfrm>
          <a:prstGeom prst="rect">
            <a:avLst/>
          </a:prstGeom>
          <a:noFill/>
        </p:spPr>
        <p:txBody>
          <a:bodyPr wrap="square" anchor="t" lIns="27432" rIns="27432" tIns="27432" bIns="27432">
            <a:spAutoFit/>
          </a:bodyPr>
          <a:lstStyle/>
          <a:p>
            <a:pPr algn="l">
              <a:lnSpc>
                <a:spcPct val="115000"/>
              </a:lnSpc>
              <a:spcAft>
                <a:spcPts val="240"/>
              </a:spcAft>
            </a:pPr>
            <a:r>
              <a:rPr sz="1600" b="0">
                <a:solidFill>
                  <a:srgbClr val="22282E"/>
                </a:solidFill>
                <a:latin typeface="Arial"/>
              </a:rPr>
              <a:t>GT: “Về việc chốt danh sách cổ đông…”</a:t>
            </a:r>
          </a:p>
          <a:p>
            <a:pPr algn="l">
              <a:lnSpc>
                <a:spcPct val="115000"/>
              </a:lnSpc>
              <a:spcAft>
                <a:spcPts val="240"/>
              </a:spcAft>
            </a:pPr>
            <a:r>
              <a:rPr sz="1600" b="0">
                <a:solidFill>
                  <a:srgbClr val="22282E"/>
                </a:solidFill>
                <a:latin typeface="Arial"/>
              </a:rPr>
              <a:t>OCR Nội bộ: Gom nhầm cả dòng “SỞ GIAO DỊCH CHỨNG KHOÁN HÀ NỘI… HỘI ĐỒNG QUẢN TRỊ” vào trích yếu.</a:t>
            </a:r>
          </a:p>
        </p:txBody>
      </p:sp>
      <p:sp>
        <p:nvSpPr>
          <p:cNvPr id="160" name="Rounded Rectangle 159"/>
          <p:cNvSpPr/>
          <p:nvPr/>
        </p:nvSpPr>
        <p:spPr>
          <a:xfrm>
            <a:off x="9235440" y="5852160"/>
            <a:ext cx="7936992" cy="251460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9436608" y="6053328"/>
            <a:ext cx="7534656"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240+TB-PVIRe · Bắt nhầm Cơ quan ban hành</a:t>
            </a:r>
          </a:p>
        </p:txBody>
      </p:sp>
      <p:sp>
        <p:nvSpPr>
          <p:cNvPr id="162" name="TextBox 161"/>
          <p:cNvSpPr txBox="1"/>
          <p:nvPr/>
        </p:nvSpPr>
        <p:spPr>
          <a:xfrm>
            <a:off x="9436608" y="6601968"/>
            <a:ext cx="7534656" cy="1627632"/>
          </a:xfrm>
          <a:prstGeom prst="rect">
            <a:avLst/>
          </a:prstGeom>
          <a:noFill/>
        </p:spPr>
        <p:txBody>
          <a:bodyPr wrap="square" anchor="t" lIns="27432" rIns="27432" tIns="27432" bIns="27432">
            <a:spAutoFit/>
          </a:bodyPr>
          <a:lstStyle/>
          <a:p>
            <a:pPr algn="l">
              <a:lnSpc>
                <a:spcPct val="115000"/>
              </a:lnSpc>
              <a:spcAft>
                <a:spcPts val="240"/>
              </a:spcAft>
            </a:pPr>
            <a:r>
              <a:rPr sz="1600" b="0">
                <a:solidFill>
                  <a:srgbClr val="22282E"/>
                </a:solidFill>
                <a:latin typeface="Arial"/>
              </a:rPr>
              <a:t>GT: “TỔNG CÔNG TY CỔ PHẦN TÁI BẢO HIỂM PVI”</a:t>
            </a:r>
          </a:p>
          <a:p>
            <a:pPr algn="l">
              <a:lnSpc>
                <a:spcPct val="115000"/>
              </a:lnSpc>
              <a:spcAft>
                <a:spcPts val="240"/>
              </a:spcAft>
            </a:pPr>
            <a:r>
              <a:rPr sz="1600" b="0">
                <a:solidFill>
                  <a:srgbClr val="22282E"/>
                </a:solidFill>
                <a:latin typeface="Arial"/>
              </a:rPr>
              <a:t>OCR Nội bộ: Trả ra nhãn “Số:” do anchor nhận diện nhầm vị trí góc trên bên trái.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Hậu xử lý trích xuất: Lọc nhiễu vùng Kính gửi</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field_errors.csv · File 2125+TB-ĐLTKV · Quy tắc Kính gửi</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18</a:t>
            </a:r>
          </a:p>
        </p:txBody>
      </p:sp>
      <p:sp>
        <p:nvSpPr>
          <p:cNvPr id="149" name="Rounded Rectangle 148"/>
          <p:cNvSpPr/>
          <p:nvPr/>
        </p:nvSpPr>
        <p:spPr>
          <a:xfrm>
            <a:off x="1243584" y="1280160"/>
            <a:ext cx="2907791"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816351"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04 · PHÂN TÍCH LỖI</a:t>
            </a:r>
          </a:p>
        </p:txBody>
      </p:sp>
      <p:sp>
        <p:nvSpPr>
          <p:cNvPr id="151" name="Rectangle 150"/>
          <p:cNvSpPr/>
          <p:nvPr/>
        </p:nvSpPr>
        <p:spPr>
          <a:xfrm>
            <a:off x="1243584" y="1920240"/>
            <a:ext cx="15910559" cy="2560320"/>
          </a:xfrm>
          <a:prstGeom prst="rect">
            <a:avLst/>
          </a:prstGeom>
          <a:solidFill>
            <a:srgbClr val="FFFFFF"/>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image.png"/>
          <p:cNvPicPr>
            <a:picLocks noChangeAspect="1"/>
          </p:cNvPicPr>
          <p:nvPr/>
        </p:nvPicPr>
        <p:blipFill>
          <a:blip r:embed="rId5"/>
          <a:stretch>
            <a:fillRect/>
          </a:stretch>
        </p:blipFill>
        <p:spPr>
          <a:xfrm>
            <a:off x="4176420" y="1975104"/>
            <a:ext cx="10044886" cy="2039111"/>
          </a:xfrm>
          <a:prstGeom prst="rect">
            <a:avLst/>
          </a:prstGeom>
        </p:spPr>
      </p:pic>
      <p:sp>
        <p:nvSpPr>
          <p:cNvPr id="153" name="TextBox 152"/>
          <p:cNvSpPr txBox="1"/>
          <p:nvPr/>
        </p:nvSpPr>
        <p:spPr>
          <a:xfrm>
            <a:off x="1380744" y="4114800"/>
            <a:ext cx="15636239" cy="320040"/>
          </a:xfrm>
          <a:prstGeom prst="rect">
            <a:avLst/>
          </a:prstGeom>
          <a:noFill/>
        </p:spPr>
        <p:txBody>
          <a:bodyPr wrap="square" anchor="t" lIns="27432" rIns="27432" tIns="27432" bIns="27432">
            <a:spAutoFit/>
          </a:bodyPr>
          <a:lstStyle/>
          <a:p>
            <a:pPr algn="l">
              <a:lnSpc>
                <a:spcPct val="115000"/>
              </a:lnSpc>
              <a:spcAft>
                <a:spcPts val="150"/>
              </a:spcAft>
            </a:pPr>
            <a:r>
              <a:rPr sz="1000" b="0">
                <a:solidFill>
                  <a:srgbClr val="60666D"/>
                </a:solidFill>
                <a:latin typeface="Arial"/>
              </a:rPr>
              <a:t>Vùng Kính gửi đầu văn bản · bbox [473, 616, 1450, 767]</a:t>
            </a:r>
          </a:p>
        </p:txBody>
      </p:sp>
      <p:sp>
        <p:nvSpPr>
          <p:cNvPr id="154" name="Rounded Rectangle 153"/>
          <p:cNvSpPr/>
          <p:nvPr/>
        </p:nvSpPr>
        <p:spPr>
          <a:xfrm>
            <a:off x="1243584" y="4754880"/>
            <a:ext cx="15910559" cy="1005840"/>
          </a:xfrm>
          <a:prstGeom prst="roundRect">
            <a:avLst/>
          </a:prstGeom>
          <a:solidFill>
            <a:srgbClr val="EDF8F1"/>
          </a:solidFill>
          <a:ln w="9525">
            <a:solidFill>
              <a:srgbClr val="ED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1399032" y="4828032"/>
            <a:ext cx="15599663" cy="201168"/>
          </a:xfrm>
          <a:prstGeom prst="rect">
            <a:avLst/>
          </a:prstGeom>
          <a:noFill/>
        </p:spPr>
        <p:txBody>
          <a:bodyPr wrap="square" anchor="t" lIns="27432" rIns="27432" tIns="27432" bIns="27432">
            <a:spAutoFit/>
          </a:bodyPr>
          <a:lstStyle/>
          <a:p>
            <a:pPr algn="l">
              <a:lnSpc>
                <a:spcPct val="115000"/>
              </a:lnSpc>
              <a:spcAft>
                <a:spcPts val="150"/>
              </a:spcAft>
            </a:pPr>
            <a:r>
              <a:rPr sz="1000" b="1">
                <a:solidFill>
                  <a:srgbClr val="1A7F50"/>
                </a:solidFill>
                <a:latin typeface="Arial"/>
              </a:rPr>
              <a:t>GIÁ TRỊ ĐÚNG (GROUND TRUTH) · FIRST_RECIPIENTS</a:t>
            </a:r>
          </a:p>
        </p:txBody>
      </p:sp>
      <p:sp>
        <p:nvSpPr>
          <p:cNvPr id="156" name="TextBox 155"/>
          <p:cNvSpPr txBox="1"/>
          <p:nvPr/>
        </p:nvSpPr>
        <p:spPr>
          <a:xfrm>
            <a:off x="1399032" y="5047488"/>
            <a:ext cx="15599663" cy="658368"/>
          </a:xfrm>
          <a:prstGeom prst="rect">
            <a:avLst/>
          </a:prstGeom>
          <a:noFill/>
        </p:spPr>
        <p:txBody>
          <a:bodyPr wrap="square" anchor="t" lIns="27432" rIns="27432" tIns="27432" bIns="27432">
            <a:spAutoFit/>
          </a:bodyPr>
          <a:lstStyle/>
          <a:p>
            <a:pPr algn="l">
              <a:lnSpc>
                <a:spcPct val="115000"/>
              </a:lnSpc>
              <a:spcAft>
                <a:spcPts val="254"/>
              </a:spcAft>
            </a:pPr>
            <a:r>
              <a:rPr sz="1700" b="1">
                <a:solidFill>
                  <a:srgbClr val="22282E"/>
                </a:solidFill>
                <a:latin typeface="Arial"/>
              </a:rPr>
              <a:t>Ủy ban Chứng khoán Nhà nước; Sở Giao dịch Chứng khoán Hà Nội; Trung tâm Lưu ký Chứng khoán Việt Nam.</a:t>
            </a:r>
          </a:p>
        </p:txBody>
      </p:sp>
      <p:sp>
        <p:nvSpPr>
          <p:cNvPr id="157" name="Rounded Rectangle 156"/>
          <p:cNvSpPr/>
          <p:nvPr/>
        </p:nvSpPr>
        <p:spPr>
          <a:xfrm>
            <a:off x="1243584" y="5943600"/>
            <a:ext cx="15910559" cy="1051560"/>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399032" y="6016752"/>
            <a:ext cx="15599663" cy="201168"/>
          </a:xfrm>
          <a:prstGeom prst="rect">
            <a:avLst/>
          </a:prstGeom>
          <a:noFill/>
        </p:spPr>
        <p:txBody>
          <a:bodyPr wrap="square" anchor="t" lIns="27432" rIns="27432" tIns="27432" bIns="27432">
            <a:spAutoFit/>
          </a:bodyPr>
          <a:lstStyle/>
          <a:p>
            <a:pPr algn="l">
              <a:lnSpc>
                <a:spcPct val="115000"/>
              </a:lnSpc>
              <a:spcAft>
                <a:spcPts val="150"/>
              </a:spcAft>
            </a:pPr>
            <a:r>
              <a:rPr sz="1000" b="1">
                <a:solidFill>
                  <a:srgbClr val="EE0033"/>
                </a:solidFill>
                <a:latin typeface="Arial"/>
              </a:rPr>
              <a:t>KẾT QUẢ OCR NỘI BỘ (DÍNH TEXT RÁC TỪ CON DẤU)</a:t>
            </a:r>
          </a:p>
        </p:txBody>
      </p:sp>
      <p:sp>
        <p:nvSpPr>
          <p:cNvPr id="159" name="TextBox 158"/>
          <p:cNvSpPr txBox="1"/>
          <p:nvPr/>
        </p:nvSpPr>
        <p:spPr>
          <a:xfrm>
            <a:off x="1399032" y="6236208"/>
            <a:ext cx="15599663" cy="704087"/>
          </a:xfrm>
          <a:prstGeom prst="rect">
            <a:avLst/>
          </a:prstGeom>
          <a:noFill/>
        </p:spPr>
        <p:txBody>
          <a:bodyPr wrap="square" anchor="t" lIns="27432" rIns="27432" tIns="27432" bIns="27432">
            <a:spAutoFit/>
          </a:bodyPr>
          <a:lstStyle/>
          <a:p>
            <a:pPr algn="l">
              <a:lnSpc>
                <a:spcPct val="115000"/>
              </a:lnSpc>
              <a:spcAft>
                <a:spcPts val="254"/>
              </a:spcAft>
            </a:pPr>
            <a:r>
              <a:rPr sz="1700" b="1">
                <a:solidFill>
                  <a:srgbClr val="22282E"/>
                </a:solidFill>
                <a:latin typeface="Arial"/>
              </a:rPr>
              <a:t>Uỷ ban Chứng khoán Nhà nước; số 1.772; Sở Giao dịch Chứng khoán Hà Nội; Trung tâm Lưu ký Chứng khoán Việt Nam.</a:t>
            </a:r>
          </a:p>
        </p:txBody>
      </p:sp>
      <p:sp>
        <p:nvSpPr>
          <p:cNvPr id="160" name="TextBox 159"/>
          <p:cNvSpPr txBox="1"/>
          <p:nvPr/>
        </p:nvSpPr>
        <p:spPr>
          <a:xfrm>
            <a:off x="1325880" y="7315200"/>
            <a:ext cx="15590520" cy="1005840"/>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Đánh giá nghiệp vụ: Chuỗi 'số 1.772' là text từ dấu công văn đến lọt vào vùng Kính gửi. Đã bổ sung bộ lọc stub tự động để loại bỏ các số hiệu lạc dòng.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Rà soát tính chuẩn xác của nhãn Ground Truth (GT)</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field_errors.csv · File 03+BC.HĐQT &amp; 27+2026+VBHN · Chuẩn hóa GT</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19</a:t>
            </a:r>
          </a:p>
        </p:txBody>
      </p:sp>
      <p:sp>
        <p:nvSpPr>
          <p:cNvPr id="149" name="Rounded Rectangle 148"/>
          <p:cNvSpPr/>
          <p:nvPr/>
        </p:nvSpPr>
        <p:spPr>
          <a:xfrm>
            <a:off x="1243584" y="1280160"/>
            <a:ext cx="2907791"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816351"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04 · PHÂN TÍCH LỖI</a:t>
            </a:r>
          </a:p>
        </p:txBody>
      </p:sp>
      <p:sp>
        <p:nvSpPr>
          <p:cNvPr id="151" name="Rectangle 150"/>
          <p:cNvSpPr/>
          <p:nvPr/>
        </p:nvSpPr>
        <p:spPr>
          <a:xfrm>
            <a:off x="1243584" y="1920240"/>
            <a:ext cx="7708392" cy="3017520"/>
          </a:xfrm>
          <a:prstGeom prst="rect">
            <a:avLst/>
          </a:prstGeom>
          <a:solidFill>
            <a:srgbClr val="FFFFFF"/>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image.png"/>
          <p:cNvPicPr>
            <a:picLocks noChangeAspect="1"/>
          </p:cNvPicPr>
          <p:nvPr/>
        </p:nvPicPr>
        <p:blipFill>
          <a:blip r:embed="rId5"/>
          <a:stretch>
            <a:fillRect/>
          </a:stretch>
        </p:blipFill>
        <p:spPr>
          <a:xfrm>
            <a:off x="2583112" y="1975104"/>
            <a:ext cx="5029334" cy="2496311"/>
          </a:xfrm>
          <a:prstGeom prst="rect">
            <a:avLst/>
          </a:prstGeom>
        </p:spPr>
      </p:pic>
      <p:sp>
        <p:nvSpPr>
          <p:cNvPr id="153" name="TextBox 152"/>
          <p:cNvSpPr txBox="1"/>
          <p:nvPr/>
        </p:nvSpPr>
        <p:spPr>
          <a:xfrm>
            <a:off x="1380744" y="4572000"/>
            <a:ext cx="7434071" cy="320040"/>
          </a:xfrm>
          <a:prstGeom prst="rect">
            <a:avLst/>
          </a:prstGeom>
          <a:noFill/>
        </p:spPr>
        <p:txBody>
          <a:bodyPr wrap="square" anchor="t" lIns="27432" rIns="27432" tIns="27432" bIns="27432">
            <a:spAutoFit/>
          </a:bodyPr>
          <a:lstStyle/>
          <a:p>
            <a:pPr algn="l">
              <a:lnSpc>
                <a:spcPct val="115000"/>
              </a:lnSpc>
              <a:spcAft>
                <a:spcPts val="150"/>
              </a:spcAft>
            </a:pPr>
            <a:r>
              <a:rPr sz="1000" b="0">
                <a:solidFill>
                  <a:srgbClr val="60666D"/>
                </a:solidFill>
                <a:latin typeface="Arial"/>
              </a:rPr>
              <a:t>Ảnh gốc: “Số 03/BC HĐQT”</a:t>
            </a:r>
          </a:p>
        </p:txBody>
      </p:sp>
      <p:sp>
        <p:nvSpPr>
          <p:cNvPr id="154" name="Rectangle 153"/>
          <p:cNvSpPr/>
          <p:nvPr/>
        </p:nvSpPr>
        <p:spPr>
          <a:xfrm>
            <a:off x="9235440" y="1920240"/>
            <a:ext cx="7936992" cy="3017520"/>
          </a:xfrm>
          <a:prstGeom prst="rect">
            <a:avLst/>
          </a:prstGeom>
          <a:solidFill>
            <a:srgbClr val="FFFFFF"/>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image.png"/>
          <p:cNvPicPr>
            <a:picLocks noChangeAspect="1"/>
          </p:cNvPicPr>
          <p:nvPr/>
        </p:nvPicPr>
        <p:blipFill>
          <a:blip r:embed="rId6"/>
          <a:stretch>
            <a:fillRect/>
          </a:stretch>
        </p:blipFill>
        <p:spPr>
          <a:xfrm>
            <a:off x="9304020" y="2537560"/>
            <a:ext cx="7799831" cy="1371399"/>
          </a:xfrm>
          <a:prstGeom prst="rect">
            <a:avLst/>
          </a:prstGeom>
        </p:spPr>
      </p:pic>
      <p:sp>
        <p:nvSpPr>
          <p:cNvPr id="156" name="TextBox 155"/>
          <p:cNvSpPr txBox="1"/>
          <p:nvPr/>
        </p:nvSpPr>
        <p:spPr>
          <a:xfrm>
            <a:off x="9372600" y="4572000"/>
            <a:ext cx="7662671" cy="320040"/>
          </a:xfrm>
          <a:prstGeom prst="rect">
            <a:avLst/>
          </a:prstGeom>
          <a:noFill/>
        </p:spPr>
        <p:txBody>
          <a:bodyPr wrap="square" anchor="t" lIns="27432" rIns="27432" tIns="27432" bIns="27432">
            <a:spAutoFit/>
          </a:bodyPr>
          <a:lstStyle/>
          <a:p>
            <a:pPr algn="l">
              <a:lnSpc>
                <a:spcPct val="115000"/>
              </a:lnSpc>
              <a:spcAft>
                <a:spcPts val="150"/>
              </a:spcAft>
            </a:pPr>
            <a:r>
              <a:rPr sz="1000" b="0">
                <a:solidFill>
                  <a:srgbClr val="60666D"/>
                </a:solidFill>
                <a:latin typeface="Arial"/>
              </a:rPr>
              <a:t>Ảnh gốc: “Số 27/2026/VBHN-NĐ-BTC”</a:t>
            </a:r>
          </a:p>
        </p:txBody>
      </p:sp>
      <p:sp>
        <p:nvSpPr>
          <p:cNvPr id="157" name="Rounded Rectangle 156"/>
          <p:cNvSpPr/>
          <p:nvPr/>
        </p:nvSpPr>
        <p:spPr>
          <a:xfrm>
            <a:off x="1243584" y="5166360"/>
            <a:ext cx="7708392" cy="324612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444752" y="5367528"/>
            <a:ext cx="7306055"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03+BC.HĐQT · Dấu chấm hay gạch nối</a:t>
            </a:r>
          </a:p>
        </p:txBody>
      </p:sp>
      <p:sp>
        <p:nvSpPr>
          <p:cNvPr id="159" name="TextBox 158"/>
          <p:cNvSpPr txBox="1"/>
          <p:nvPr/>
        </p:nvSpPr>
        <p:spPr>
          <a:xfrm>
            <a:off x="1444752" y="5916168"/>
            <a:ext cx="7306055" cy="2359152"/>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GT gắn nhãn: 03/BC.HĐQT</a:t>
            </a:r>
          </a:p>
          <a:p>
            <a:pPr algn="l">
              <a:lnSpc>
                <a:spcPct val="115000"/>
              </a:lnSpc>
              <a:spcAft>
                <a:spcPts val="254"/>
              </a:spcAft>
            </a:pPr>
            <a:r>
              <a:rPr sz="1700" b="0">
                <a:solidFill>
                  <a:srgbClr val="22282E"/>
                </a:solidFill>
                <a:latin typeface="Arial"/>
              </a:rPr>
              <a:t>OCR Nội bộ chuẩn hóa: 03/BC-HĐQT (đổi dấu cách thành '-').</a:t>
            </a:r>
          </a:p>
          <a:p>
            <a:pPr algn="l">
              <a:lnSpc>
                <a:spcPct val="115000"/>
              </a:lnSpc>
              <a:spcAft>
                <a:spcPts val="254"/>
              </a:spcAft>
            </a:pPr>
            <a:r>
              <a:rPr sz="1700" b="0">
                <a:solidFill>
                  <a:srgbClr val="22282E"/>
                </a:solidFill>
                <a:latin typeface="Arial"/>
              </a:rPr>
              <a:t>Cần thống nhất quy tắc gán nhãn GT chuẩn cho các ký tự phân cách.</a:t>
            </a:r>
          </a:p>
        </p:txBody>
      </p:sp>
      <p:sp>
        <p:nvSpPr>
          <p:cNvPr id="160" name="Rounded Rectangle 159"/>
          <p:cNvSpPr/>
          <p:nvPr/>
        </p:nvSpPr>
        <p:spPr>
          <a:xfrm>
            <a:off x="9235440" y="5166360"/>
            <a:ext cx="7936992" cy="324612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9436608" y="5367528"/>
            <a:ext cx="7534656"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27+2026+VBHN · Ký tự có dấu trong GT</a:t>
            </a:r>
          </a:p>
        </p:txBody>
      </p:sp>
      <p:sp>
        <p:nvSpPr>
          <p:cNvPr id="162" name="TextBox 161"/>
          <p:cNvSpPr txBox="1"/>
          <p:nvPr/>
        </p:nvSpPr>
        <p:spPr>
          <a:xfrm>
            <a:off x="9436608" y="5916168"/>
            <a:ext cx="7534656" cy="2359152"/>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GT gắn nhãn: …-ND-BTC (viết thiếu dấu 'Đ')</a:t>
            </a:r>
          </a:p>
          <a:p>
            <a:pPr algn="l">
              <a:lnSpc>
                <a:spcPct val="115000"/>
              </a:lnSpc>
              <a:spcAft>
                <a:spcPts val="254"/>
              </a:spcAft>
            </a:pPr>
            <a:r>
              <a:rPr sz="1700" b="0">
                <a:solidFill>
                  <a:srgbClr val="22282E"/>
                </a:solidFill>
                <a:latin typeface="Arial"/>
              </a:rPr>
              <a:t>OCR Nội bộ nhận dạng: …-NĐ-BTC (đúng theo ảnh gốc).</a:t>
            </a:r>
          </a:p>
          <a:p>
            <a:pPr algn="l">
              <a:lnSpc>
                <a:spcPct val="115000"/>
              </a:lnSpc>
              <a:spcAft>
                <a:spcPts val="254"/>
              </a:spcAft>
            </a:pPr>
            <a:r>
              <a:rPr sz="1700" b="0">
                <a:solidFill>
                  <a:srgbClr val="22282E"/>
                </a:solidFill>
                <a:latin typeface="Arial"/>
              </a:rPr>
              <a:t>Cần người review xác nhận cập nhật GT, tránh chấm phạt oan cho mô hình.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Đánh giá tính khả thi của giải pháp OCR Nội bộ</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Tổng hợp đánh giá PoC · Văn phòng số (VPS)</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20</a:t>
            </a:r>
          </a:p>
        </p:txBody>
      </p:sp>
      <p:sp>
        <p:nvSpPr>
          <p:cNvPr id="149" name="Rounded Rectangle 148"/>
          <p:cNvSpPr/>
          <p:nvPr/>
        </p:nvSpPr>
        <p:spPr>
          <a:xfrm>
            <a:off x="1243584" y="1280160"/>
            <a:ext cx="2404872"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313432"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05 · ĐÁNH GIÁ</a:t>
            </a:r>
          </a:p>
        </p:txBody>
      </p:sp>
      <p:sp>
        <p:nvSpPr>
          <p:cNvPr id="151" name="Rounded Rectangle 150"/>
          <p:cNvSpPr/>
          <p:nvPr/>
        </p:nvSpPr>
        <p:spPr>
          <a:xfrm>
            <a:off x="1243584" y="1920240"/>
            <a:ext cx="7717536" cy="525780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444752" y="2121408"/>
            <a:ext cx="7315199"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Đã chứng minh thành công</a:t>
            </a:r>
          </a:p>
        </p:txBody>
      </p:sp>
      <p:sp>
        <p:nvSpPr>
          <p:cNvPr id="153" name="TextBox 152"/>
          <p:cNvSpPr txBox="1"/>
          <p:nvPr/>
        </p:nvSpPr>
        <p:spPr>
          <a:xfrm>
            <a:off x="1444752" y="2670048"/>
            <a:ext cx="7315199" cy="4370831"/>
          </a:xfrm>
          <a:prstGeom prst="rect">
            <a:avLst/>
          </a:prstGeom>
          <a:noFill/>
        </p:spPr>
        <p:txBody>
          <a:bodyPr wrap="square" anchor="t" lIns="27432" rIns="27432" tIns="27432" bIns="27432">
            <a:spAutoFit/>
          </a:bodyPr>
          <a:lstStyle/>
          <a:p>
            <a:pPr algn="l">
              <a:lnSpc>
                <a:spcPct val="115000"/>
              </a:lnSpc>
              <a:spcAft>
                <a:spcPts val="270"/>
              </a:spcAft>
            </a:pPr>
            <a:r>
              <a:rPr sz="1800" b="0">
                <a:solidFill>
                  <a:srgbClr val="22282E"/>
                </a:solidFill>
                <a:latin typeface="Arial"/>
              </a:rPr>
              <a:t>✔ Làm chủ 100% pipeline xử lý tự động end-to-end từ PDF đến JSON 13 trường.</a:t>
            </a:r>
          </a:p>
          <a:p>
            <a:pPr algn="l">
              <a:lnSpc>
                <a:spcPct val="115000"/>
              </a:lnSpc>
              <a:spcAft>
                <a:spcPts val="270"/>
              </a:spcAft>
            </a:pPr>
          </a:p>
          <a:p>
            <a:pPr algn="l">
              <a:lnSpc>
                <a:spcPct val="115000"/>
              </a:lnSpc>
              <a:spcAft>
                <a:spcPts val="270"/>
              </a:spcAft>
            </a:pPr>
            <a:r>
              <a:rPr sz="1800" b="0">
                <a:solidFill>
                  <a:srgbClr val="22282E"/>
                </a:solidFill>
                <a:latin typeface="Arial"/>
              </a:rPr>
              <a:t>✔ Tự chủ hoàn toàn về công nghệ, bảo mật dữ liệu văn bản hành chính tuyệt đối.</a:t>
            </a:r>
          </a:p>
          <a:p>
            <a:pPr algn="l">
              <a:lnSpc>
                <a:spcPct val="115000"/>
              </a:lnSpc>
              <a:spcAft>
                <a:spcPts val="270"/>
              </a:spcAft>
            </a:pPr>
          </a:p>
          <a:p>
            <a:pPr algn="l">
              <a:lnSpc>
                <a:spcPct val="115000"/>
              </a:lnSpc>
              <a:spcAft>
                <a:spcPts val="270"/>
              </a:spcAft>
            </a:pPr>
            <a:r>
              <a:rPr sz="1800" b="0">
                <a:solidFill>
                  <a:srgbClr val="22282E"/>
                </a:solidFill>
                <a:latin typeface="Arial"/>
              </a:rPr>
              <a:t>✔ Tiết kiệm chi phí vận hành so với việc gọi API thương mại trả phí theo trang.</a:t>
            </a:r>
          </a:p>
          <a:p>
            <a:pPr algn="l">
              <a:lnSpc>
                <a:spcPct val="115000"/>
              </a:lnSpc>
              <a:spcAft>
                <a:spcPts val="270"/>
              </a:spcAft>
            </a:pPr>
          </a:p>
          <a:p>
            <a:pPr algn="l">
              <a:lnSpc>
                <a:spcPct val="115000"/>
              </a:lnSpc>
              <a:spcAft>
                <a:spcPts val="270"/>
              </a:spcAft>
            </a:pPr>
            <a:r>
              <a:rPr sz="1800" b="0">
                <a:solidFill>
                  <a:srgbClr val="22282E"/>
                </a:solidFill>
                <a:latin typeface="Arial"/>
              </a:rPr>
              <a:t>✔ Xây dựng được hệ thống benchmark, bộ đo lường và quy trình audit truy vết lỗi chuẩn mực.</a:t>
            </a:r>
          </a:p>
        </p:txBody>
      </p:sp>
      <p:sp>
        <p:nvSpPr>
          <p:cNvPr id="154" name="Rounded Rectangle 153"/>
          <p:cNvSpPr/>
          <p:nvPr/>
        </p:nvSpPr>
        <p:spPr>
          <a:xfrm>
            <a:off x="9235440" y="1920240"/>
            <a:ext cx="7936992" cy="5257800"/>
          </a:xfrm>
          <a:prstGeom prst="roundRect">
            <a:avLst/>
          </a:prstGeom>
          <a:solidFill>
            <a:srgbClr val="FDF2F3"/>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436608" y="2121408"/>
            <a:ext cx="7534656"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Thách thức cần vượt qua</a:t>
            </a:r>
          </a:p>
        </p:txBody>
      </p:sp>
      <p:sp>
        <p:nvSpPr>
          <p:cNvPr id="156" name="TextBox 155"/>
          <p:cNvSpPr txBox="1"/>
          <p:nvPr/>
        </p:nvSpPr>
        <p:spPr>
          <a:xfrm>
            <a:off x="9436608" y="2670048"/>
            <a:ext cx="7534656" cy="4370831"/>
          </a:xfrm>
          <a:prstGeom prst="rect">
            <a:avLst/>
          </a:prstGeom>
          <a:noFill/>
        </p:spPr>
        <p:txBody>
          <a:bodyPr wrap="square" anchor="t" lIns="27432" rIns="27432" tIns="27432" bIns="27432">
            <a:spAutoFit/>
          </a:bodyPr>
          <a:lstStyle/>
          <a:p>
            <a:pPr algn="l">
              <a:lnSpc>
                <a:spcPct val="115000"/>
              </a:lnSpc>
              <a:spcAft>
                <a:spcPts val="270"/>
              </a:spcAft>
            </a:pPr>
            <a:r>
              <a:rPr sz="1800" b="0">
                <a:solidFill>
                  <a:srgbClr val="22282E"/>
                </a:solidFill>
                <a:latin typeface="Arial"/>
              </a:rPr>
              <a:t>✖ Tỷ lệ Document Success (36%) còn cách mục tiêu PoC 80%.</a:t>
            </a:r>
          </a:p>
          <a:p>
            <a:pPr algn="l">
              <a:lnSpc>
                <a:spcPct val="115000"/>
              </a:lnSpc>
              <a:spcAft>
                <a:spcPts val="270"/>
              </a:spcAft>
            </a:pPr>
          </a:p>
          <a:p>
            <a:pPr algn="l">
              <a:lnSpc>
                <a:spcPct val="115000"/>
              </a:lnSpc>
              <a:spcAft>
                <a:spcPts val="270"/>
              </a:spcAft>
            </a:pPr>
            <a:r>
              <a:rPr sz="1800" b="0">
                <a:solidFill>
                  <a:srgbClr val="22282E"/>
                </a:solidFill>
                <a:latin typeface="Arial"/>
              </a:rPr>
              <a:t>✖ Độ chính xác ở các trường Ngày ban hành, Trích yếu và Chức danh ký cần được cải thiện.</a:t>
            </a:r>
          </a:p>
          <a:p>
            <a:pPr algn="l">
              <a:lnSpc>
                <a:spcPct val="115000"/>
              </a:lnSpc>
              <a:spcAft>
                <a:spcPts val="270"/>
              </a:spcAft>
            </a:pPr>
          </a:p>
          <a:p>
            <a:pPr algn="l">
              <a:lnSpc>
                <a:spcPct val="115000"/>
              </a:lnSpc>
              <a:spcAft>
                <a:spcPts val="270"/>
              </a:spcAft>
            </a:pPr>
            <a:r>
              <a:rPr sz="1800" b="0">
                <a:solidFill>
                  <a:srgbClr val="22282E"/>
                </a:solidFill>
                <a:latin typeface="Arial"/>
              </a:rPr>
              <a:t>✖ Cần xử lý triệt để các trường hợp scan khó: dấu đỏ che chữ, chữ viết tay và trang xoay nghiêng.</a:t>
            </a:r>
          </a:p>
        </p:txBody>
      </p:sp>
      <p:sp>
        <p:nvSpPr>
          <p:cNvPr id="157" name="Rounded Rectangle 156"/>
          <p:cNvSpPr/>
          <p:nvPr/>
        </p:nvSpPr>
        <p:spPr>
          <a:xfrm>
            <a:off x="1243584" y="7452360"/>
            <a:ext cx="15910559" cy="749808"/>
          </a:xfrm>
          <a:prstGeom prst="roundRect">
            <a:avLst/>
          </a:prstGeom>
          <a:solidFill>
            <a:srgbClr val="FDF2F3"/>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463040" y="7562088"/>
            <a:ext cx="15453359" cy="530352"/>
          </a:xfrm>
          <a:prstGeom prst="rect">
            <a:avLst/>
          </a:prstGeom>
          <a:noFill/>
        </p:spPr>
        <p:txBody>
          <a:bodyPr wrap="square" anchor="t" lIns="27432" rIns="27432" tIns="27432" bIns="27432">
            <a:spAutoFit/>
          </a:bodyPr>
          <a:lstStyle/>
          <a:p>
            <a:pPr algn="l">
              <a:lnSpc>
                <a:spcPct val="115000"/>
              </a:lnSpc>
              <a:spcAft>
                <a:spcPts val="292"/>
              </a:spcAft>
            </a:pPr>
            <a:r>
              <a:rPr sz="1950" b="1">
                <a:solidFill>
                  <a:srgbClr val="172235"/>
                </a:solidFill>
                <a:latin typeface="Arial"/>
              </a:rPr>
              <a:t>Kết luận: Giải pháp nội bộ hoàn toàn khả thi để tiếp tục hoàn thiện và tiến tới triển khai thử nghiệm UAT.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p4"/>
          <p:cNvSpPr/>
          <p:nvPr/>
        </p:nvSpPr>
        <p:spPr>
          <a:xfrm>
            <a:off x="15829237" y="0"/>
            <a:ext cx="2281823" cy="1427090"/>
          </a:xfrm>
          <a:custGeom>
            <a:rect b="b" l="l" r="r" t="t"/>
            <a:pathLst>
              <a:path extrusionOk="0" h="1427090" w="2281823">
                <a:moveTo>
                  <a:pt x="0" y="0"/>
                </a:moveTo>
                <a:lnTo>
                  <a:pt x="2281823" y="0"/>
                </a:lnTo>
                <a:lnTo>
                  <a:pt x="2281823" y="1427090"/>
                </a:lnTo>
                <a:lnTo>
                  <a:pt x="0" y="1427090"/>
                </a:lnTo>
                <a:lnTo>
                  <a:pt x="0" y="0"/>
                </a:lnTo>
                <a:close/>
              </a:path>
            </a:pathLst>
          </a:custGeom>
          <a:blipFill rotWithShape="1">
            <a:blip r:embed="rId2">
              <a:alphaModFix/>
            </a:blip>
            <a:stretch>
              <a:fillRect b="0" l="0" r="0" t="0"/>
            </a:stretch>
          </a:blipFill>
          <a:ln>
            <a:noFill/>
          </a:ln>
        </p:spPr>
      </p:sp>
      <p:sp>
        <p:nvSpPr>
          <p:cNvPr id="137" name="Google Shape;137;p4"/>
          <p:cNvSpPr/>
          <p:nvPr/>
        </p:nvSpPr>
        <p:spPr>
          <a:xfrm rot="5400000">
            <a:off x="904917" y="323426"/>
            <a:ext cx="957316" cy="957232"/>
          </a:xfrm>
          <a:custGeom>
            <a:rect b="b" l="l" r="r" t="t"/>
            <a:pathLst>
              <a:path extrusionOk="0"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4"/>
          <p:cNvGrpSpPr/>
          <p:nvPr/>
        </p:nvGrpSpPr>
        <p:grpSpPr>
          <a:xfrm rot="5400000">
            <a:off x="2801443" y="-1142413"/>
            <a:ext cx="956242" cy="3889984"/>
            <a:chOff x="0" y="0"/>
            <a:chExt cx="667469" cy="2715260"/>
          </a:xfrm>
        </p:grpSpPr>
        <p:sp>
          <p:nvSpPr>
            <p:cNvPr id="139" name="Google Shape;139;p4"/>
            <p:cNvSpPr/>
            <p:nvPr/>
          </p:nvSpPr>
          <p:spPr>
            <a:xfrm>
              <a:off x="0" y="0"/>
              <a:ext cx="667469" cy="2715260"/>
            </a:xfrm>
            <a:custGeom>
              <a:rect b="b" l="l" r="r" t="t"/>
              <a:pathLst>
                <a:path extrusionOk="0" h="2715260" w="667469">
                  <a:moveTo>
                    <a:pt x="222610" y="19070"/>
                  </a:moveTo>
                  <a:cubicBezTo>
                    <a:pt x="256719" y="7556"/>
                    <a:pt x="295733" y="0"/>
                    <a:pt x="333914" y="0"/>
                  </a:cubicBezTo>
                  <a:cubicBezTo>
                    <a:pt x="372098" y="0"/>
                    <a:pt x="408839" y="6476"/>
                    <a:pt x="442698" y="17990"/>
                  </a:cubicBezTo>
                  <a:cubicBezTo>
                    <a:pt x="443419" y="18350"/>
                    <a:pt x="444139" y="18350"/>
                    <a:pt x="444859" y="18710"/>
                  </a:cubicBezTo>
                  <a:cubicBezTo>
                    <a:pt x="572014" y="64765"/>
                    <a:pt x="665669" y="186379"/>
                    <a:pt x="667469" y="370761"/>
                  </a:cubicBezTo>
                  <a:lnTo>
                    <a:pt x="667469" y="2715260"/>
                  </a:lnTo>
                  <a:lnTo>
                    <a:pt x="0" y="2715260"/>
                  </a:lnTo>
                  <a:lnTo>
                    <a:pt x="0" y="372501"/>
                  </a:lnTo>
                  <a:cubicBezTo>
                    <a:pt x="1801" y="185660"/>
                    <a:pt x="94015" y="64045"/>
                    <a:pt x="222610" y="19070"/>
                  </a:cubicBezTo>
                  <a:close/>
                </a:path>
              </a:pathLst>
            </a:cu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0" y="117475"/>
              <a:ext cx="667469" cy="259778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4"/>
          <p:cNvSpPr/>
          <p:nvPr/>
        </p:nvSpPr>
        <p:spPr>
          <a:xfrm>
            <a:off x="246716" y="323384"/>
            <a:ext cx="957257" cy="957257"/>
          </a:xfrm>
          <a:custGeom>
            <a:rect b="b" l="l" r="r" t="t"/>
            <a:pathLst>
              <a:path extrusionOk="0" h="1369822" w="1369822">
                <a:moveTo>
                  <a:pt x="0" y="684911"/>
                </a:moveTo>
                <a:cubicBezTo>
                  <a:pt x="0" y="306705"/>
                  <a:pt x="306705" y="0"/>
                  <a:pt x="684911" y="0"/>
                </a:cubicBezTo>
                <a:cubicBezTo>
                  <a:pt x="1063117" y="0"/>
                  <a:pt x="1369822" y="306705"/>
                  <a:pt x="1369822" y="684911"/>
                </a:cubicBezTo>
                <a:cubicBezTo>
                  <a:pt x="1369822" y="1063117"/>
                  <a:pt x="1063117" y="1369822"/>
                  <a:pt x="684911" y="1369822"/>
                </a:cubicBezTo>
                <a:cubicBezTo>
                  <a:pt x="306705" y="1369822"/>
                  <a:pt x="0" y="1063244"/>
                  <a:pt x="0" y="684911"/>
                </a:cubicBezTo>
                <a:close/>
              </a:path>
            </a:pathLst>
          </a:custGeom>
          <a:solidFill>
            <a:srgbClr val="EE0033">
              <a:alpha val="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03522" y="480190"/>
            <a:ext cx="643704" cy="643704"/>
          </a:xfrm>
          <a:custGeom>
            <a:rect b="b" l="l" r="r" t="t"/>
            <a:pathLst>
              <a:path extrusionOk="0" h="921131" w="921131">
                <a:moveTo>
                  <a:pt x="0" y="460502"/>
                </a:moveTo>
                <a:cubicBezTo>
                  <a:pt x="0" y="206248"/>
                  <a:pt x="206248" y="0"/>
                  <a:pt x="460502" y="0"/>
                </a:cubicBezTo>
                <a:cubicBezTo>
                  <a:pt x="714756" y="0"/>
                  <a:pt x="921131" y="206248"/>
                  <a:pt x="921131" y="460502"/>
                </a:cubicBezTo>
                <a:cubicBezTo>
                  <a:pt x="921131" y="714756"/>
                  <a:pt x="714883" y="921131"/>
                  <a:pt x="460502" y="921131"/>
                </a:cubicBezTo>
                <a:cubicBezTo>
                  <a:pt x="206121" y="921131"/>
                  <a:pt x="0" y="714883"/>
                  <a:pt x="0" y="460502"/>
                </a:cubicBezTo>
                <a:close/>
              </a:path>
            </a:pathLst>
          </a:custGeom>
          <a:solidFill>
            <a:srgbClr val="EE0033">
              <a:alpha val="1960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578274" y="654943"/>
            <a:ext cx="294206" cy="294206"/>
          </a:xfrm>
          <a:custGeom>
            <a:rect b="b" l="l" r="r" t="t"/>
            <a:pathLst>
              <a:path extrusionOk="0" h="421005" w="421005">
                <a:moveTo>
                  <a:pt x="0" y="210439"/>
                </a:moveTo>
                <a:cubicBezTo>
                  <a:pt x="0" y="94234"/>
                  <a:pt x="94234" y="0"/>
                  <a:pt x="210439" y="0"/>
                </a:cubicBezTo>
                <a:cubicBezTo>
                  <a:pt x="326644" y="0"/>
                  <a:pt x="421005" y="94234"/>
                  <a:pt x="421005" y="210439"/>
                </a:cubicBezTo>
                <a:cubicBezTo>
                  <a:pt x="421005" y="326644"/>
                  <a:pt x="326771" y="421005"/>
                  <a:pt x="210439" y="421005"/>
                </a:cubicBezTo>
                <a:cubicBezTo>
                  <a:pt x="94107" y="421005"/>
                  <a:pt x="0" y="326771"/>
                  <a:pt x="0" y="210439"/>
                </a:cubicBezTo>
                <a:close/>
              </a:path>
            </a:pathLst>
          </a:custGeom>
          <a:solidFill>
            <a:srgbClr val="EE0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0" y="9805374"/>
            <a:ext cx="18464608" cy="538937"/>
          </a:xfrm>
          <a:custGeom>
            <a:rect b="b" l="l" r="r" t="t"/>
            <a:pathLst>
              <a:path extrusionOk="0" h="538937" w="18464608">
                <a:moveTo>
                  <a:pt x="0" y="0"/>
                </a:moveTo>
                <a:lnTo>
                  <a:pt x="18464608" y="0"/>
                </a:lnTo>
                <a:lnTo>
                  <a:pt x="18464608" y="538937"/>
                </a:lnTo>
                <a:lnTo>
                  <a:pt x="0" y="538937"/>
                </a:lnTo>
                <a:lnTo>
                  <a:pt x="0" y="0"/>
                </a:lnTo>
                <a:close/>
              </a:path>
            </a:pathLst>
          </a:custGeom>
          <a:blipFill rotWithShape="1">
            <a:blip r:embed="rId3">
              <a:alphaModFix/>
            </a:blip>
            <a:stretch>
              <a:fillRect b="-50949" l="0" r="0" t="-50949"/>
            </a:stretch>
          </a:blipFill>
          <a:ln>
            <a:noFill/>
          </a:ln>
        </p:spPr>
      </p:sp>
      <p:sp>
        <p:nvSpPr>
          <p:cNvPr id="145" name="Google Shape;145;p4"/>
          <p:cNvSpPr/>
          <p:nvPr/>
        </p:nvSpPr>
        <p:spPr>
          <a:xfrm>
            <a:off x="15976039" y="9890331"/>
            <a:ext cx="1235636" cy="272110"/>
          </a:xfrm>
          <a:custGeom>
            <a:rect b="b" l="l" r="r" t="t"/>
            <a:pathLst>
              <a:path extrusionOk="0" h="272110" w="1235636">
                <a:moveTo>
                  <a:pt x="0" y="0"/>
                </a:moveTo>
                <a:lnTo>
                  <a:pt x="1235636" y="0"/>
                </a:lnTo>
                <a:lnTo>
                  <a:pt x="1235636" y="272110"/>
                </a:lnTo>
                <a:lnTo>
                  <a:pt x="0" y="272110"/>
                </a:lnTo>
                <a:lnTo>
                  <a:pt x="0" y="0"/>
                </a:lnTo>
                <a:close/>
              </a:path>
            </a:pathLst>
          </a:custGeom>
          <a:blipFill rotWithShape="1">
            <a:blip r:embed="rId4">
              <a:alphaModFix/>
            </a:blip>
            <a:stretch>
              <a:fillRect b="-2009" l="0" r="-1521" t="0"/>
            </a:stretch>
          </a:blipFill>
          <a:ln>
            <a:noFill/>
          </a:ln>
        </p:spPr>
      </p:sp>
      <p:sp>
        <p:nvSpPr>
          <p:cNvPr id="146" name="TextBox 145"/>
          <p:cNvSpPr txBox="1"/>
          <p:nvPr/>
        </p:nvSpPr>
        <p:spPr>
          <a:xfrm>
            <a:off x="1216152" y="530352"/>
            <a:ext cx="14173200" cy="621792"/>
          </a:xfrm>
          <a:prstGeom prst="rect">
            <a:avLst/>
          </a:prstGeom>
          <a:noFill/>
        </p:spPr>
        <p:txBody>
          <a:bodyPr wrap="square" anchor="t" lIns="27432" rIns="27432" tIns="27432" bIns="27432">
            <a:spAutoFit/>
          </a:bodyPr>
          <a:lstStyle/>
          <a:p>
            <a:pPr algn="l">
              <a:lnSpc>
                <a:spcPct val="115000"/>
              </a:lnSpc>
              <a:spcAft>
                <a:spcPts val="405"/>
              </a:spcAft>
            </a:pPr>
            <a:r>
              <a:rPr sz="2700" b="1">
                <a:solidFill>
                  <a:srgbClr val="172235"/>
                </a:solidFill>
                <a:latin typeface="Arial"/>
              </a:rPr>
              <a:t>Lộ trình cải thiện &amp; Kế hoạch hành động</a:t>
            </a:r>
          </a:p>
        </p:txBody>
      </p:sp>
      <p:sp>
        <p:nvSpPr>
          <p:cNvPr id="147" name="TextBox 146"/>
          <p:cNvSpPr txBox="1"/>
          <p:nvPr/>
        </p:nvSpPr>
        <p:spPr>
          <a:xfrm>
            <a:off x="1234440" y="9418320"/>
            <a:ext cx="13075920" cy="320040"/>
          </a:xfrm>
          <a:prstGeom prst="rect">
            <a:avLst/>
          </a:prstGeom>
          <a:noFill/>
        </p:spPr>
        <p:txBody>
          <a:bodyPr wrap="square" anchor="t" lIns="27432" rIns="27432" tIns="27432" bIns="27432">
            <a:spAutoFit/>
          </a:bodyPr>
          <a:lstStyle/>
          <a:p>
            <a:pPr algn="l">
              <a:lnSpc>
                <a:spcPct val="115000"/>
              </a:lnSpc>
              <a:spcAft>
                <a:spcPts val="135"/>
              </a:spcAft>
            </a:pPr>
            <a:r>
              <a:rPr sz="900" b="0">
                <a:solidFill>
                  <a:srgbClr val="60666D"/>
                </a:solidFill>
                <a:latin typeface="Arial"/>
              </a:rPr>
              <a:t>Nguồn: Kế hoạch R&amp;D giai đoạn tiếp theo · VPS OCR Team</a:t>
            </a:r>
          </a:p>
        </p:txBody>
      </p:sp>
      <p:sp>
        <p:nvSpPr>
          <p:cNvPr id="148" name="TextBox 147"/>
          <p:cNvSpPr txBox="1"/>
          <p:nvPr/>
        </p:nvSpPr>
        <p:spPr>
          <a:xfrm>
            <a:off x="17172432" y="9418320"/>
            <a:ext cx="594360" cy="320040"/>
          </a:xfrm>
          <a:prstGeom prst="rect">
            <a:avLst/>
          </a:prstGeom>
          <a:noFill/>
        </p:spPr>
        <p:txBody>
          <a:bodyPr wrap="square" anchor="t" lIns="27432" rIns="27432" tIns="27432" bIns="27432">
            <a:spAutoFit/>
          </a:bodyPr>
          <a:lstStyle/>
          <a:p>
            <a:pPr algn="r">
              <a:lnSpc>
                <a:spcPct val="115000"/>
              </a:lnSpc>
              <a:spcAft>
                <a:spcPts val="150"/>
              </a:spcAft>
            </a:pPr>
            <a:r>
              <a:rPr sz="1000" b="0">
                <a:solidFill>
                  <a:srgbClr val="EE0033"/>
                </a:solidFill>
                <a:latin typeface="Arial"/>
              </a:rPr>
              <a:t>21</a:t>
            </a:r>
          </a:p>
        </p:txBody>
      </p:sp>
      <p:sp>
        <p:nvSpPr>
          <p:cNvPr id="149" name="Rounded Rectangle 148"/>
          <p:cNvSpPr/>
          <p:nvPr/>
        </p:nvSpPr>
        <p:spPr>
          <a:xfrm>
            <a:off x="1243584" y="1280160"/>
            <a:ext cx="2404872" cy="347472"/>
          </a:xfrm>
          <a:prstGeom prst="roundRect">
            <a:avLst/>
          </a:prstGeom>
          <a:solidFill>
            <a:srgbClr val="FDF2F3"/>
          </a:solidFill>
          <a:ln w="9525">
            <a:solidFill>
              <a:srgbClr val="FDF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289304" y="1298448"/>
            <a:ext cx="2313432" cy="292608"/>
          </a:xfrm>
          <a:prstGeom prst="rect">
            <a:avLst/>
          </a:prstGeom>
          <a:noFill/>
        </p:spPr>
        <p:txBody>
          <a:bodyPr wrap="square" anchor="t" lIns="27432" rIns="27432" tIns="27432" bIns="27432">
            <a:spAutoFit/>
          </a:bodyPr>
          <a:lstStyle/>
          <a:p>
            <a:pPr algn="ctr">
              <a:lnSpc>
                <a:spcPct val="115000"/>
              </a:lnSpc>
              <a:spcAft>
                <a:spcPts val="157"/>
              </a:spcAft>
            </a:pPr>
            <a:r>
              <a:rPr sz="1050" b="1">
                <a:solidFill>
                  <a:srgbClr val="EE0033"/>
                </a:solidFill>
                <a:latin typeface="Arial"/>
              </a:rPr>
              <a:t>06 · KẾ HOẠCH</a:t>
            </a:r>
          </a:p>
        </p:txBody>
      </p:sp>
      <p:sp>
        <p:nvSpPr>
          <p:cNvPr id="151" name="Rounded Rectangle 150"/>
          <p:cNvSpPr/>
          <p:nvPr/>
        </p:nvSpPr>
        <p:spPr>
          <a:xfrm>
            <a:off x="1243584" y="1874519"/>
            <a:ext cx="5029200" cy="530352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444752" y="2075688"/>
            <a:ext cx="4626864"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01 · Tối ưu Dữ liệu</a:t>
            </a:r>
          </a:p>
        </p:txBody>
      </p:sp>
      <p:sp>
        <p:nvSpPr>
          <p:cNvPr id="153" name="TextBox 152"/>
          <p:cNvSpPr txBox="1"/>
          <p:nvPr/>
        </p:nvSpPr>
        <p:spPr>
          <a:xfrm>
            <a:off x="1444752" y="2624328"/>
            <a:ext cx="4626864" cy="4416552"/>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 Bổ sung mẫu scan khó: văn bản có dấu đỏ đậm, chữ ký đè, chữ viết tay và văn bản dài.</a:t>
            </a:r>
          </a:p>
          <a:p>
            <a:pPr algn="l">
              <a:lnSpc>
                <a:spcPct val="115000"/>
              </a:lnSpc>
              <a:spcAft>
                <a:spcPts val="254"/>
              </a:spcAft>
            </a:pPr>
          </a:p>
          <a:p>
            <a:pPr algn="l">
              <a:lnSpc>
                <a:spcPct val="115000"/>
              </a:lnSpc>
              <a:spcAft>
                <a:spcPts val="254"/>
              </a:spcAft>
            </a:pPr>
            <a:r>
              <a:rPr sz="1700" b="0">
                <a:solidFill>
                  <a:srgbClr val="22282E"/>
                </a:solidFill>
                <a:latin typeface="Arial"/>
              </a:rPr>
              <a:t>• Rà soát và chuẩn hóa 100% bộ Ground Truth (GT) theo đúng quy chuẩn thống nhất với BA.</a:t>
            </a:r>
          </a:p>
          <a:p>
            <a:pPr algn="l">
              <a:lnSpc>
                <a:spcPct val="115000"/>
              </a:lnSpc>
              <a:spcAft>
                <a:spcPts val="254"/>
              </a:spcAft>
            </a:pPr>
          </a:p>
          <a:p>
            <a:pPr algn="l">
              <a:lnSpc>
                <a:spcPct val="115000"/>
              </a:lnSpc>
              <a:spcAft>
                <a:spcPts val="254"/>
              </a:spcAft>
            </a:pPr>
            <a:r>
              <a:rPr sz="1700" b="0">
                <a:solidFill>
                  <a:srgbClr val="22282E"/>
                </a:solidFill>
                <a:latin typeface="Arial"/>
              </a:rPr>
              <a:t>• Chia tập dữ liệu Train / Dev / Test chuẩn mực phục vụ fine-tuning.</a:t>
            </a:r>
          </a:p>
        </p:txBody>
      </p:sp>
      <p:sp>
        <p:nvSpPr>
          <p:cNvPr id="154" name="Rounded Rectangle 153"/>
          <p:cNvSpPr/>
          <p:nvPr/>
        </p:nvSpPr>
        <p:spPr>
          <a:xfrm>
            <a:off x="6473952" y="1874519"/>
            <a:ext cx="5029200" cy="530352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675120" y="2075688"/>
            <a:ext cx="4626864"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02 · Nâng cấp Kỹ thuật</a:t>
            </a:r>
          </a:p>
        </p:txBody>
      </p:sp>
      <p:sp>
        <p:nvSpPr>
          <p:cNvPr id="156" name="TextBox 155"/>
          <p:cNvSpPr txBox="1"/>
          <p:nvPr/>
        </p:nvSpPr>
        <p:spPr>
          <a:xfrm>
            <a:off x="6675120" y="2624328"/>
            <a:ext cx="4626864" cy="4416552"/>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 Tập trung xử lý theo thứ tự ưu tiên: Cơ quan → Số KH → Ngày → Trích yếu → Họ tên → Chức danh.</a:t>
            </a:r>
          </a:p>
          <a:p>
            <a:pPr algn="l">
              <a:lnSpc>
                <a:spcPct val="115000"/>
              </a:lnSpc>
              <a:spcAft>
                <a:spcPts val="254"/>
              </a:spcAft>
            </a:pPr>
          </a:p>
          <a:p>
            <a:pPr algn="l">
              <a:lnSpc>
                <a:spcPct val="115000"/>
              </a:lnSpc>
              <a:spcAft>
                <a:spcPts val="254"/>
              </a:spcAft>
            </a:pPr>
            <a:r>
              <a:rPr sz="1700" b="0">
                <a:solidFill>
                  <a:srgbClr val="22282E"/>
                </a:solidFill>
                <a:latin typeface="Arial"/>
              </a:rPr>
              <a:t>• Bổ sung module khử dấu đỏ &amp; nâng cấp thuật toán phân vùng Layout Parser.</a:t>
            </a:r>
          </a:p>
          <a:p>
            <a:pPr algn="l">
              <a:lnSpc>
                <a:spcPct val="115000"/>
              </a:lnSpc>
              <a:spcAft>
                <a:spcPts val="254"/>
              </a:spcAft>
            </a:pPr>
          </a:p>
          <a:p>
            <a:pPr algn="l">
              <a:lnSpc>
                <a:spcPct val="115000"/>
              </a:lnSpc>
              <a:spcAft>
                <a:spcPts val="254"/>
              </a:spcAft>
            </a:pPr>
            <a:r>
              <a:rPr sz="1700" b="0">
                <a:solidFill>
                  <a:srgbClr val="22282E"/>
                </a:solidFill>
                <a:latin typeface="Arial"/>
              </a:rPr>
              <a:t>• Fine-tune VietOCR chuyên biệt cho font chữ hành chính và chữ số ngày tháng.</a:t>
            </a:r>
          </a:p>
        </p:txBody>
      </p:sp>
      <p:sp>
        <p:nvSpPr>
          <p:cNvPr id="157" name="Rounded Rectangle 156"/>
          <p:cNvSpPr/>
          <p:nvPr/>
        </p:nvSpPr>
        <p:spPr>
          <a:xfrm>
            <a:off x="11704320" y="1874519"/>
            <a:ext cx="5468112" cy="5303520"/>
          </a:xfrm>
          <a:prstGeom prst="roundRect">
            <a:avLst/>
          </a:prstGeom>
          <a:solidFill>
            <a:srgbClr val="F5F7FA"/>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1905488" y="2075688"/>
            <a:ext cx="5065776" cy="548640"/>
          </a:xfrm>
          <a:prstGeom prst="rect">
            <a:avLst/>
          </a:prstGeom>
          <a:noFill/>
        </p:spPr>
        <p:txBody>
          <a:bodyPr wrap="square" anchor="t" lIns="27432" rIns="27432" tIns="27432" bIns="27432">
            <a:spAutoFit/>
          </a:bodyPr>
          <a:lstStyle/>
          <a:p>
            <a:pPr algn="l">
              <a:lnSpc>
                <a:spcPct val="115000"/>
              </a:lnSpc>
              <a:spcAft>
                <a:spcPts val="270"/>
              </a:spcAft>
            </a:pPr>
            <a:r>
              <a:rPr sz="1800" b="1">
                <a:solidFill>
                  <a:srgbClr val="172235"/>
                </a:solidFill>
                <a:latin typeface="Arial"/>
              </a:rPr>
              <a:t>03 · Thử nghiệm &amp; Triển khai</a:t>
            </a:r>
          </a:p>
        </p:txBody>
      </p:sp>
      <p:sp>
        <p:nvSpPr>
          <p:cNvPr id="159" name="TextBox 158"/>
          <p:cNvSpPr txBox="1"/>
          <p:nvPr/>
        </p:nvSpPr>
        <p:spPr>
          <a:xfrm>
            <a:off x="11905488" y="2624328"/>
            <a:ext cx="5065776" cy="4416552"/>
          </a:xfrm>
          <a:prstGeom prst="rect">
            <a:avLst/>
          </a:prstGeom>
          <a:noFill/>
        </p:spPr>
        <p:txBody>
          <a:bodyPr wrap="square" anchor="t" lIns="27432" rIns="27432" tIns="27432" bIns="27432">
            <a:spAutoFit/>
          </a:bodyPr>
          <a:lstStyle/>
          <a:p>
            <a:pPr algn="l">
              <a:lnSpc>
                <a:spcPct val="115000"/>
              </a:lnSpc>
              <a:spcAft>
                <a:spcPts val="254"/>
              </a:spcAft>
            </a:pPr>
            <a:r>
              <a:rPr sz="1700" b="0">
                <a:solidFill>
                  <a:srgbClr val="22282E"/>
                </a:solidFill>
                <a:latin typeface="Arial"/>
              </a:rPr>
              <a:t>• Tự động hóa kiểm thử hồi quy (Regression Test) sau mỗi phiên bản cập nhật.</a:t>
            </a:r>
          </a:p>
          <a:p>
            <a:pPr algn="l">
              <a:lnSpc>
                <a:spcPct val="115000"/>
              </a:lnSpc>
              <a:spcAft>
                <a:spcPts val="254"/>
              </a:spcAft>
            </a:pPr>
          </a:p>
          <a:p>
            <a:pPr algn="l">
              <a:lnSpc>
                <a:spcPct val="115000"/>
              </a:lnSpc>
              <a:spcAft>
                <a:spcPts val="254"/>
              </a:spcAft>
            </a:pPr>
            <a:r>
              <a:rPr sz="1700" b="0">
                <a:solidFill>
                  <a:srgbClr val="22282E"/>
                </a:solidFill>
                <a:latin typeface="Arial"/>
              </a:rPr>
              <a:t>• Đạt ngưỡng Document Success ≥ 80% trước khi tối ưu tốc độ và tài nguyên GPU.</a:t>
            </a:r>
          </a:p>
          <a:p>
            <a:pPr algn="l">
              <a:lnSpc>
                <a:spcPct val="115000"/>
              </a:lnSpc>
              <a:spcAft>
                <a:spcPts val="254"/>
              </a:spcAft>
            </a:pPr>
          </a:p>
          <a:p>
            <a:pPr algn="l">
              <a:lnSpc>
                <a:spcPct val="115000"/>
              </a:lnSpc>
              <a:spcAft>
                <a:spcPts val="254"/>
              </a:spcAft>
            </a:pPr>
            <a:r>
              <a:rPr sz="1700" b="0">
                <a:solidFill>
                  <a:srgbClr val="22282E"/>
                </a:solidFill>
                <a:latin typeface="Arial"/>
              </a:rPr>
              <a:t>• Tiến hành thử nghiệm thực tế có kiểm soát tại môi trường UAT của Văn phòng số (VPS).</a:t>
            </a:r>
          </a:p>
        </p:txBody>
      </p:sp>
      <p:sp>
        <p:nvSpPr>
          <p:cNvPr id="160" name="Rounded Rectangle 159"/>
          <p:cNvSpPr/>
          <p:nvPr/>
        </p:nvSpPr>
        <p:spPr>
          <a:xfrm>
            <a:off x="1243584" y="7498079"/>
            <a:ext cx="15910559" cy="749808"/>
          </a:xfrm>
          <a:prstGeom prst="roundRect">
            <a:avLst/>
          </a:prstGeom>
          <a:solidFill>
            <a:srgbClr val="FDF2F3"/>
          </a:solidFill>
          <a:ln w="9525">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463040" y="7607807"/>
            <a:ext cx="15453359" cy="530352"/>
          </a:xfrm>
          <a:prstGeom prst="rect">
            <a:avLst/>
          </a:prstGeom>
          <a:noFill/>
        </p:spPr>
        <p:txBody>
          <a:bodyPr wrap="square" anchor="t" lIns="27432" rIns="27432" tIns="27432" bIns="27432">
            <a:spAutoFit/>
          </a:bodyPr>
          <a:lstStyle/>
          <a:p>
            <a:pPr algn="l">
              <a:lnSpc>
                <a:spcPct val="115000"/>
              </a:lnSpc>
              <a:spcAft>
                <a:spcPts val="292"/>
              </a:spcAft>
            </a:pPr>
            <a:r>
              <a:rPr sz="1950" b="1">
                <a:solidFill>
                  <a:srgbClr val="172235"/>
                </a:solidFill>
                <a:latin typeface="Arial"/>
              </a:rPr>
              <a:t>Mục tiêu: Đạt Document Success ≥ 80% trong đợt cập nhật tiếp theo để sẵn sàng thử nghiệm UAT.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0" name="Google Shape;460;p24"/>
          <p:cNvSpPr/>
          <p:nvPr/>
        </p:nvSpPr>
        <p:spPr>
          <a:xfrm>
            <a:off x="0" y="7296"/>
            <a:ext cx="18424729" cy="10433003"/>
          </a:xfrm>
          <a:custGeom>
            <a:rect b="b" l="l" r="r" t="t"/>
            <a:pathLst>
              <a:path extrusionOk="0" h="10433003" w="18424729">
                <a:moveTo>
                  <a:pt x="0" y="0"/>
                </a:moveTo>
                <a:lnTo>
                  <a:pt x="18424729" y="0"/>
                </a:lnTo>
                <a:lnTo>
                  <a:pt x="18424729" y="10433003"/>
                </a:lnTo>
                <a:lnTo>
                  <a:pt x="0" y="10433003"/>
                </a:lnTo>
                <a:lnTo>
                  <a:pt x="0" y="0"/>
                </a:lnTo>
                <a:close/>
              </a:path>
            </a:pathLst>
          </a:custGeom>
          <a:blipFill rotWithShape="1">
            <a:blip r:embed="rId2">
              <a:alphaModFix/>
            </a:blip>
            <a:stretch>
              <a:fillRect b="0" l="0" r="0" t="0"/>
            </a:stretch>
          </a:blipFill>
          <a:ln>
            <a:noFill/>
          </a:ln>
        </p:spPr>
      </p:sp>
      <p:sp>
        <p:nvSpPr>
          <p:cNvPr id="461" name="Google Shape;461;p24"/>
          <p:cNvSpPr/>
          <p:nvPr/>
        </p:nvSpPr>
        <p:spPr>
          <a:xfrm>
            <a:off x="-799601" y="3364833"/>
            <a:ext cx="7992570" cy="9672442"/>
          </a:xfrm>
          <a:custGeom>
            <a:rect b="b" l="l" r="r" t="t"/>
            <a:pathLst>
              <a:path extrusionOk="0" h="9672442" w="7992570">
                <a:moveTo>
                  <a:pt x="0" y="0"/>
                </a:moveTo>
                <a:lnTo>
                  <a:pt x="7992570" y="0"/>
                </a:lnTo>
                <a:lnTo>
                  <a:pt x="7992570" y="9672443"/>
                </a:lnTo>
                <a:lnTo>
                  <a:pt x="0" y="9672443"/>
                </a:lnTo>
                <a:lnTo>
                  <a:pt x="0" y="0"/>
                </a:lnTo>
                <a:close/>
              </a:path>
            </a:pathLst>
          </a:custGeom>
          <a:blipFill rotWithShape="1">
            <a:blip r:embed="rId3">
              <a:alphaModFix amt="36000"/>
            </a:blip>
            <a:stretch>
              <a:fillRect b="-165" l="0" r="-105" t="0"/>
            </a:stretch>
          </a:blipFill>
          <a:ln>
            <a:noFill/>
          </a:ln>
        </p:spPr>
      </p:sp>
      <p:sp>
        <p:nvSpPr>
          <p:cNvPr id="462" name="Google Shape;462;p24"/>
          <p:cNvSpPr/>
          <p:nvPr/>
        </p:nvSpPr>
        <p:spPr>
          <a:xfrm>
            <a:off x="-343810" y="3752988"/>
            <a:ext cx="7080989" cy="8569268"/>
          </a:xfrm>
          <a:custGeom>
            <a:rect b="b" l="l" r="r" t="t"/>
            <a:pathLst>
              <a:path extrusionOk="0" h="8569268" w="7080989">
                <a:moveTo>
                  <a:pt x="0" y="0"/>
                </a:moveTo>
                <a:lnTo>
                  <a:pt x="7080988" y="0"/>
                </a:lnTo>
                <a:lnTo>
                  <a:pt x="7080988" y="8569268"/>
                </a:lnTo>
                <a:lnTo>
                  <a:pt x="0" y="8569268"/>
                </a:lnTo>
                <a:lnTo>
                  <a:pt x="0" y="0"/>
                </a:lnTo>
                <a:close/>
              </a:path>
            </a:pathLst>
          </a:custGeom>
          <a:blipFill rotWithShape="1">
            <a:blip r:embed="rId3">
              <a:alphaModFix amt="52998"/>
            </a:blip>
            <a:stretch>
              <a:fillRect b="-273" l="0" r="-213" t="0"/>
            </a:stretch>
          </a:blipFill>
          <a:ln>
            <a:noFill/>
          </a:ln>
        </p:spPr>
      </p:sp>
      <p:sp>
        <p:nvSpPr>
          <p:cNvPr id="463" name="Google Shape;463;p24"/>
          <p:cNvSpPr/>
          <p:nvPr/>
        </p:nvSpPr>
        <p:spPr>
          <a:xfrm>
            <a:off x="169718" y="4120710"/>
            <a:ext cx="6135651" cy="7425240"/>
          </a:xfrm>
          <a:custGeom>
            <a:rect b="b" l="l" r="r" t="t"/>
            <a:pathLst>
              <a:path extrusionOk="0" h="7425240" w="6135651">
                <a:moveTo>
                  <a:pt x="0" y="0"/>
                </a:moveTo>
                <a:lnTo>
                  <a:pt x="6135650" y="0"/>
                </a:lnTo>
                <a:lnTo>
                  <a:pt x="6135650" y="7425240"/>
                </a:lnTo>
                <a:lnTo>
                  <a:pt x="0" y="7425240"/>
                </a:lnTo>
                <a:lnTo>
                  <a:pt x="0" y="0"/>
                </a:lnTo>
                <a:close/>
              </a:path>
            </a:pathLst>
          </a:custGeom>
          <a:blipFill rotWithShape="1">
            <a:blip r:embed="rId4">
              <a:alphaModFix/>
            </a:blip>
            <a:stretch>
              <a:fillRect b="-190" l="0" r="-129" t="0"/>
            </a:stretch>
          </a:blipFill>
          <a:ln>
            <a:noFill/>
          </a:ln>
        </p:spPr>
      </p:sp>
      <p:sp>
        <p:nvSpPr>
          <p:cNvPr id="464" name="Google Shape;464;p24"/>
          <p:cNvSpPr/>
          <p:nvPr/>
        </p:nvSpPr>
        <p:spPr>
          <a:xfrm>
            <a:off x="671276" y="5575282"/>
            <a:ext cx="5024638" cy="2162561"/>
          </a:xfrm>
          <a:custGeom>
            <a:rect b="b" l="l" r="r" t="t"/>
            <a:pathLst>
              <a:path extrusionOk="0" h="2162561" w="5024638">
                <a:moveTo>
                  <a:pt x="0" y="0"/>
                </a:moveTo>
                <a:lnTo>
                  <a:pt x="5024638" y="0"/>
                </a:lnTo>
                <a:lnTo>
                  <a:pt x="5024638" y="2162561"/>
                </a:lnTo>
                <a:lnTo>
                  <a:pt x="0" y="2162561"/>
                </a:lnTo>
                <a:lnTo>
                  <a:pt x="0" y="0"/>
                </a:lnTo>
                <a:close/>
              </a:path>
            </a:pathLst>
          </a:custGeom>
          <a:blipFill rotWithShape="1">
            <a:blip r:embed="rId5">
              <a:alphaModFix/>
            </a:blip>
            <a:stretch>
              <a:fillRect b="-422" l="0" r="-422" t="0"/>
            </a:stretch>
          </a:blipFill>
          <a:ln>
            <a:noFill/>
          </a:ln>
        </p:spPr>
      </p:sp>
      <p:sp>
        <p:nvSpPr>
          <p:cNvPr id="465" name="Google Shape;465;p24"/>
          <p:cNvSpPr/>
          <p:nvPr/>
        </p:nvSpPr>
        <p:spPr>
          <a:xfrm>
            <a:off x="11314051" y="2232108"/>
            <a:ext cx="2989596" cy="1689122"/>
          </a:xfrm>
          <a:custGeom>
            <a:rect b="b" l="l" r="r" t="t"/>
            <a:pathLst>
              <a:path extrusionOk="0" h="1689122" w="2989596">
                <a:moveTo>
                  <a:pt x="0" y="0"/>
                </a:moveTo>
                <a:lnTo>
                  <a:pt x="2989595" y="0"/>
                </a:lnTo>
                <a:lnTo>
                  <a:pt x="2989595" y="1689122"/>
                </a:lnTo>
                <a:lnTo>
                  <a:pt x="0" y="1689122"/>
                </a:lnTo>
                <a:lnTo>
                  <a:pt x="0" y="0"/>
                </a:lnTo>
                <a:close/>
              </a:path>
            </a:pathLst>
          </a:custGeom>
          <a:blipFill rotWithShape="1">
            <a:blip r:embed="rId6">
              <a:alphaModFix/>
            </a:blip>
            <a:stretch>
              <a:fillRect b="0" l="0" r="0" t="0"/>
            </a:stretch>
          </a:blipFill>
          <a:ln>
            <a:noFill/>
          </a:ln>
        </p:spPr>
      </p:sp>
      <p:pic>
        <p:nvPicPr>
          <p:cNvPr id="466" name="Picture 465" descr="image.png"/>
          <p:cNvPicPr>
            <a:picLocks noChangeAspect="1"/>
          </p:cNvPicPr>
          <p:nvPr/>
        </p:nvPicPr>
        <p:blipFill>
          <a:blip r:embed="rId7"/>
          <a:stretch>
            <a:fillRect/>
          </a:stretch>
        </p:blipFill>
        <p:spPr>
          <a:xfrm>
            <a:off x="14813280" y="640080"/>
            <a:ext cx="2743200" cy="1715014"/>
          </a:xfrm>
          <a:prstGeom prst="rect">
            <a:avLst/>
          </a:prstGeom>
        </p:spPr>
      </p:pic>
      <p:sp>
        <p:nvSpPr>
          <p:cNvPr id="467" name="TextBox 466"/>
          <p:cNvSpPr txBox="1"/>
          <p:nvPr/>
        </p:nvSpPr>
        <p:spPr>
          <a:xfrm>
            <a:off x="7132320" y="3474720"/>
            <a:ext cx="10149840" cy="1280160"/>
          </a:xfrm>
          <a:prstGeom prst="rect">
            <a:avLst/>
          </a:prstGeom>
          <a:noFill/>
        </p:spPr>
        <p:txBody>
          <a:bodyPr wrap="square" anchor="t" lIns="27432" rIns="27432" tIns="27432" bIns="27432">
            <a:spAutoFit/>
          </a:bodyPr>
          <a:lstStyle/>
          <a:p>
            <a:pPr algn="l">
              <a:lnSpc>
                <a:spcPct val="115000"/>
              </a:lnSpc>
              <a:spcAft>
                <a:spcPts val="719"/>
              </a:spcAft>
            </a:pPr>
            <a:r>
              <a:rPr sz="4800" b="1">
                <a:solidFill>
                  <a:srgbClr val="FFFFFF"/>
                </a:solidFill>
                <a:latin typeface="Arial"/>
              </a:rPr>
              <a:t>TRÂN TRỌNG CẢM ƠN!</a:t>
            </a:r>
          </a:p>
        </p:txBody>
      </p:sp>
      <p:sp>
        <p:nvSpPr>
          <p:cNvPr id="468" name="TextBox 467"/>
          <p:cNvSpPr txBox="1"/>
          <p:nvPr/>
        </p:nvSpPr>
        <p:spPr>
          <a:xfrm>
            <a:off x="7178040" y="4937760"/>
            <a:ext cx="10058400" cy="1645920"/>
          </a:xfrm>
          <a:prstGeom prst="rect">
            <a:avLst/>
          </a:prstGeom>
          <a:noFill/>
        </p:spPr>
        <p:txBody>
          <a:bodyPr wrap="square" anchor="t" lIns="27432" rIns="27432" tIns="27432" bIns="27432">
            <a:spAutoFit/>
          </a:bodyPr>
          <a:lstStyle/>
          <a:p>
            <a:pPr algn="l">
              <a:lnSpc>
                <a:spcPct val="120000"/>
              </a:lnSpc>
              <a:spcAft>
                <a:spcPts val="315"/>
              </a:spcAft>
            </a:pPr>
            <a:r>
              <a:rPr sz="2100" b="0">
                <a:solidFill>
                  <a:srgbClr val="FFFFFF"/>
                </a:solidFill>
                <a:latin typeface="Arial"/>
              </a:rPr>
              <a:t>Nhóm dự án rất mong nhận được ý kiến đóng góp &amp; chỉ đạo từ Ban Lãnh đạo!</a:t>
            </a:r>
          </a:p>
          <a:p>
            <a:pPr algn="l">
              <a:lnSpc>
                <a:spcPct val="120000"/>
              </a:lnSpc>
              <a:spcAft>
                <a:spcPts val="315"/>
              </a:spcAft>
            </a:pPr>
          </a:p>
          <a:p>
            <a:pPr algn="l">
              <a:lnSpc>
                <a:spcPct val="120000"/>
              </a:lnSpc>
              <a:spcAft>
                <a:spcPts val="315"/>
              </a:spcAft>
            </a:pPr>
            <a:r>
              <a:rPr sz="2100" b="0">
                <a:solidFill>
                  <a:srgbClr val="FFFFFF"/>
                </a:solidFill>
                <a:latin typeface="Arial"/>
              </a:rPr>
              <a:t>Liên hệ: Nhóm Phát triển OCR Văn bản hành chính (VPS / AI Solutions)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quanpv2</dc:creator>
  <dc:title>Báo cáo thử nghiệm AI OCR Văn bản hành chính (VBHC)</dc:title>
  <dc:subject>VPS OCR Demo Report · Full inference v5 &amp; VAI Benchmark</dc:subject>
</cp:coreProperties>
</file>