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</p:sldIdLst>
  <p:sldSz cy="10287000" cx="18288000"/>
  <p:notesSz cx="6858000" cy="9144000"/>
  <p:embeddedFontLst>
    <p:embeddedFont>
      <p:font typeface="Sarabun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bgJkpCgMk8TZQvb5PFdEftNLl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0" Type="http://schemas.openxmlformats.org/officeDocument/2006/relationships/font" Target="fonts/Sarabun-bold.fntdata"/><Relationship Id="rId31" Type="http://schemas.openxmlformats.org/officeDocument/2006/relationships/font" Target="fonts/Sarabun-boldItalic.fntdata"/><Relationship Id="rId32" Type="http://customschemas.google.com/relationships/presentationmetadata" Target="metadata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vi-V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4.jpg"/><Relationship Id="rId6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8.jpg"/><Relationship Id="rId6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32.png"/></Relationships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" name="Google Shape;89;p1"/>
          <p:cNvSpPr/>
          <p:nvPr/>
        </p:nvSpPr>
        <p:spPr>
          <a:xfrm>
            <a:off x="-136729" y="-146003"/>
            <a:ext cx="18424729" cy="10433003"/>
          </a:xfrm>
          <a:custGeom>
            <a:rect b="b" l="l" r="r" t="t"/>
            <a:pathLst>
              <a:path extrusionOk="0" h="10433003" w="18424729">
                <a:moveTo>
                  <a:pt x="0" y="0"/>
                </a:moveTo>
                <a:lnTo>
                  <a:pt x="18424729" y="0"/>
                </a:lnTo>
                <a:lnTo>
                  <a:pt x="18424729" y="10433003"/>
                </a:lnTo>
                <a:lnTo>
                  <a:pt x="0" y="10433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-167825" y="6726704"/>
            <a:ext cx="18623649" cy="3560296"/>
          </a:xfrm>
          <a:custGeom>
            <a:rect b="b" l="l" r="r" t="t"/>
            <a:pathLst>
              <a:path extrusionOk="0" h="3560296" w="18623649">
                <a:moveTo>
                  <a:pt x="0" y="0"/>
                </a:moveTo>
                <a:lnTo>
                  <a:pt x="18623649" y="0"/>
                </a:lnTo>
                <a:lnTo>
                  <a:pt x="18623649" y="3560296"/>
                </a:lnTo>
                <a:lnTo>
                  <a:pt x="0" y="3560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3612" l="-32916" r="-32916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-799601" y="3364833"/>
            <a:ext cx="7992570" cy="9672442"/>
          </a:xfrm>
          <a:custGeom>
            <a:rect b="b" l="l" r="r" t="t"/>
            <a:pathLst>
              <a:path extrusionOk="0" h="9672442" w="7992570">
                <a:moveTo>
                  <a:pt x="0" y="0"/>
                </a:moveTo>
                <a:lnTo>
                  <a:pt x="7992570" y="0"/>
                </a:lnTo>
                <a:lnTo>
                  <a:pt x="7992570" y="9672443"/>
                </a:lnTo>
                <a:lnTo>
                  <a:pt x="0" y="9672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6000"/>
            </a:blip>
            <a:stretch>
              <a:fillRect b="-165" l="0" r="-105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-343810" y="3752988"/>
            <a:ext cx="7080989" cy="8569268"/>
          </a:xfrm>
          <a:custGeom>
            <a:rect b="b" l="l" r="r" t="t"/>
            <a:pathLst>
              <a:path extrusionOk="0" h="8569268" w="7080989">
                <a:moveTo>
                  <a:pt x="0" y="0"/>
                </a:moveTo>
                <a:lnTo>
                  <a:pt x="7080988" y="0"/>
                </a:lnTo>
                <a:lnTo>
                  <a:pt x="7080988" y="8569268"/>
                </a:lnTo>
                <a:lnTo>
                  <a:pt x="0" y="85692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8"/>
            </a:blip>
            <a:stretch>
              <a:fillRect b="-273" l="0" r="-213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69718" y="4120710"/>
            <a:ext cx="6135651" cy="7425240"/>
          </a:xfrm>
          <a:custGeom>
            <a:rect b="b" l="l" r="r" t="t"/>
            <a:pathLst>
              <a:path extrusionOk="0" h="7425240" w="6135651">
                <a:moveTo>
                  <a:pt x="0" y="0"/>
                </a:moveTo>
                <a:lnTo>
                  <a:pt x="6135650" y="0"/>
                </a:lnTo>
                <a:lnTo>
                  <a:pt x="6135650" y="7425240"/>
                </a:lnTo>
                <a:lnTo>
                  <a:pt x="0" y="7425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90" l="0" r="-129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725226" y="5597957"/>
            <a:ext cx="5024638" cy="2162561"/>
          </a:xfrm>
          <a:custGeom>
            <a:rect b="b" l="l" r="r" t="t"/>
            <a:pathLst>
              <a:path extrusionOk="0" h="2162561" w="5024638">
                <a:moveTo>
                  <a:pt x="0" y="0"/>
                </a:moveTo>
                <a:lnTo>
                  <a:pt x="5024638" y="0"/>
                </a:lnTo>
                <a:lnTo>
                  <a:pt x="5024638" y="2162561"/>
                </a:lnTo>
                <a:lnTo>
                  <a:pt x="0" y="2162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22" l="0" r="-422" t="0"/>
            </a:stretch>
          </a:blipFill>
          <a:ln>
            <a:noFill/>
          </a:ln>
        </p:spPr>
      </p:sp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0" y="685800"/>
            <a:ext cx="2743200" cy="1715014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7360920" y="3566160"/>
            <a:ext cx="987552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16"/>
              </a:spcAft>
            </a:pPr>
            <a:r>
              <a:rPr sz="4400" b="1">
                <a:solidFill>
                  <a:srgbClr val="FFFFFF"/>
                </a:solidFill>
                <a:latin typeface="Sarabun"/>
              </a:rPr>
              <a:t>AI OCR cho văn bản</a:t>
            </a:r>
          </a:p>
          <a:p>
            <a:pPr algn="l">
              <a:lnSpc>
                <a:spcPct val="112000"/>
              </a:lnSpc>
              <a:spcAft>
                <a:spcPts val="616"/>
              </a:spcAft>
            </a:pPr>
            <a:r>
              <a:rPr sz="4400" b="1">
                <a:solidFill>
                  <a:srgbClr val="FFFFFF"/>
                </a:solidFill>
                <a:latin typeface="Sarabun"/>
              </a:rPr>
              <a:t>hành chính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88352" y="5623560"/>
            <a:ext cx="96926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22"/>
              </a:spcAft>
            </a:pPr>
            <a:r>
              <a:rPr sz="2300" b="0">
                <a:solidFill>
                  <a:srgbClr val="FFFFFF"/>
                </a:solidFill>
                <a:latin typeface="Arial"/>
              </a:rPr>
              <a:t>Demo pipeline 01 · Văn phòng số / VPS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88352" y="6793992"/>
            <a:ext cx="969264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Báo cáo 29/09/2026  |  Full inference: 35/100 tài liệu đạt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Từ nhập liệu thủ công đến dữ liệu có cấu trúc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outline báo cáo · mục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02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404872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2768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01 · BỐI CẢNH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34440" y="1883664"/>
            <a:ext cx="5029200" cy="52120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63040" y="2066544"/>
            <a:ext cx="45720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63040" y="2743200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Hiện trạng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63040" y="3429000"/>
            <a:ext cx="4572000" cy="3438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Nhân viên đọc PDF rồi nhập lại số ký hiệu, ngày ban hành, cơ quan, trích yếu… vào hệ thống.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64808" y="1883664"/>
            <a:ext cx="5029200" cy="52120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693408" y="2066544"/>
            <a:ext cx="45720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693408" y="2743200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Pain point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693408" y="3429000"/>
            <a:ext cx="4572000" cy="3438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Khối lượng xử lý lớn làm tăng thời gian, nhân lực kiểm tra và nguy cơ sai sót; khó mở rộng theo nhu cầu.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686032" y="1883664"/>
            <a:ext cx="5394960" cy="52120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1914632" y="2066544"/>
            <a:ext cx="49377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914632" y="2743200"/>
            <a:ext cx="49377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Mục tiêu PoC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914632" y="3429000"/>
            <a:ext cx="4937760" cy="3438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Kiểm chứng giải pháp OCR/KIE in-house có thể tùy chỉnh theo nghiệp vụ và từng bước thử nghiệm tại UAT VPS.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243584" y="7452360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63040" y="7589520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Đây là bước đánh giá khả thi, chưa phải cam kết thay thế dịch vụ hiện tại.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Viettel Agile: học từ dữ liệu thật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outline báo cáo · mục 1; chuẩn benchmark §6, §9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03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404872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2768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01 · BỐI CẢNH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2121408"/>
            <a:ext cx="3017520" cy="26974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Aware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Nhận diện pain point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471416" y="2121408"/>
            <a:ext cx="3017520" cy="26974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00016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Go Through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700016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Khảo sát nghiệp vụ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699248" y="2121408"/>
            <a:ext cx="3017520" cy="26974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927848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Implement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27848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Xây baseline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927080" y="2121408"/>
            <a:ext cx="3017520" cy="2697480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1155680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Learn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155680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Benchmark &amp; đo lỗi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4154911" y="2121408"/>
            <a:ext cx="3017520" cy="26974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383511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Enable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383511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Hướng tới áp dụng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243584" y="5230368"/>
            <a:ext cx="7726679" cy="30906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472184" y="5486400"/>
            <a:ext cx="7269479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Nhu cầu khách hàng là điểm xuất phát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472184" y="6172200"/>
            <a:ext cx="7269479" cy="19202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Đối chiếu biểu mẫu với BA để phân biệt trường nào OCR đọc từ PDF, trường nào người dùng nhập, trường nào hệ thống tự điền.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235440" y="5230368"/>
            <a:ext cx="7927848" cy="30906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464040" y="5486400"/>
            <a:ext cx="74706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Tối ưu có căn cứ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464040" y="6172200"/>
            <a:ext cx="7470648" cy="19202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Mọi thay đổi cần GT, benchmark, trace và regression test; không sửa luật chỉ vì một tên file hoặc một đáp án GT cụ thể.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Benchmark 100 PDF — đủ đa dạng để lộ điểm yếu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full inference manifest.json + predictions.jsonl · 100 PDF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02 · PHẠM VI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47088"/>
            <a:ext cx="3776472" cy="3063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029968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100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06624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văn bản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72184" y="3392424"/>
            <a:ext cx="33192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Có GT gắn theo tài liệu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285232" y="1847088"/>
            <a:ext cx="3776472" cy="3063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513832" y="2029968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2.249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13832" y="2706624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trang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513832" y="3392424"/>
            <a:ext cx="33192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1–353 trang / tài liệu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326880" y="1847088"/>
            <a:ext cx="3776472" cy="3063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555480" y="2029968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69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2706624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scan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55480" y="3392424"/>
            <a:ext cx="33192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Chất lượng OCR biến thiên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3368528" y="1847088"/>
            <a:ext cx="3776472" cy="3063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3597128" y="2029968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31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597128" y="2706624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điện tử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3597128" y="3392424"/>
            <a:ext cx="33192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Print / digital PDF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243584" y="5349240"/>
            <a:ext cx="7726679" cy="30906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472184" y="5605272"/>
            <a:ext cx="7269479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Loại văn bản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472184" y="6291072"/>
            <a:ext cx="7269479" cy="19202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Quyết định (30), Công văn (17), Nghị quyết, Thông báo, Thông tư, Kế hoạch…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Độ dài và cấu trúc bố cục đa dạng.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9235440" y="5349240"/>
            <a:ext cx="7927848" cy="30906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464040" y="5605272"/>
            <a:ext cx="74706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Nguồn và chủ thể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464040" y="6291072"/>
            <a:ext cx="7470648" cy="19202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Cơ quan Chính phủ, bộ/ngành, địa phương, sở giao dịch chứng khoán, doanh nghiệp… Có scan, dấu mộc, chữ viết tay; chưa đủ phủ lớp hiếm.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Định nghĩa đầu ra trước khi đo độ chính xác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docs/ocr_pipeline_benchmark_metrics.md · §1, §5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05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02 · PHẠM VI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56231"/>
            <a:ext cx="7726679" cy="5175504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12263"/>
            <a:ext cx="7269479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7 trường bắt buộc &amp; 5 trường đánh giá thêm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98063"/>
            <a:ext cx="7269479" cy="4005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7 trường required: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type · title · code · documentDate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officeSender · priority_level · security_level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5 trường optional được chấm: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recipients · signer · first_recipients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signer_title · province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235440" y="1856231"/>
            <a:ext cx="7927848" cy="5175504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464040" y="2112263"/>
            <a:ext cx="74706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13 key trong API, chỉ chấm 12 field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64040" y="2798063"/>
            <a:ext cx="7470648" cy="4005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Theo chuẩn hiện hành, receiverDate giữ trong schema nhưng phải trả chuỗi rỗng và không chấm. Bundle full inference lịch sử còn lưu giá trị legacy; bản báo cáo loại field này.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Document Success@5%: mọi required field có GT trong cùng một tài liệu đều phải đạt Exact hoặc Acceptable theo metric tương ứng.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7333488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63040" y="747064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Arial"/>
              </a:rPr>
              <a:t>Phân bucket: Exact / Acceptable / Wrong / Missing / Hallucination / Correct Absent.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Danh mục 13 trường API &amp; tiêu chí đánh giá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docs/ocr_pipeline_benchmark_metrics.md · §1, §5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06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02 · PHẠM VI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1243584" y="1874519"/>
          <a:ext cx="15910559" cy="713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103120"/>
                <a:gridCol w="3017520"/>
                <a:gridCol w="3749039"/>
                <a:gridCol w="3566160"/>
              </a:tblGrid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arabun"/>
                        </a:rPr>
                        <a:t>Mô tả ngắn tiếng Việt</a:t>
                      </a:r>
                    </a:p>
                  </a:txBody>
                  <a:tcPr anchor="ctr" marL="109728" marR="109728" marT="45720" marB="45720">
                    <a:solidFill>
                      <a:srgbClr val="1722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arabun"/>
                        </a:rPr>
                        <a:t>Key API</a:t>
                      </a:r>
                    </a:p>
                  </a:txBody>
                  <a:tcPr anchor="ctr" marL="109728" marR="109728" marT="45720" marB="45720">
                    <a:solidFill>
                      <a:srgbClr val="1722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arabun"/>
                        </a:rPr>
                        <a:t>Nhóm field</a:t>
                      </a:r>
                    </a:p>
                  </a:txBody>
                  <a:tcPr anchor="ctr" marL="109728" marR="109728" marT="45720" marB="45720">
                    <a:solidFill>
                      <a:srgbClr val="1722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arabun"/>
                        </a:rPr>
                        <a:t>Metric đánh giá</a:t>
                      </a:r>
                    </a:p>
                  </a:txBody>
                  <a:tcPr anchor="ctr" marL="109728" marR="109728" marT="45720" marB="45720">
                    <a:solidFill>
                      <a:srgbClr val="1722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arabun"/>
                        </a:rPr>
                        <a:t>Target F1 / NEM</a:t>
                      </a:r>
                    </a:p>
                  </a:txBody>
                  <a:tcPr anchor="ctr" marL="109728" marR="109728" marT="45720" marB="45720">
                    <a:solidFill>
                      <a:srgbClr val="172235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0033"/>
                          </a:solidFill>
                          <a:latin typeface="Arial"/>
                        </a:rPr>
                        <a:t>Loại văn bản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4494D"/>
                          </a:solidFill>
                          <a:latin typeface="Consolas"/>
                        </a:rPr>
                        <a:t>type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Critical + required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Exact (khớp tuyệt đối)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≥ 0.85 (NEM ≥ 0.75)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0033"/>
                          </a:solidFill>
                          <a:latin typeface="Arial"/>
                        </a:rPr>
                        <a:t>Trích yếu / Tiêu đề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4494D"/>
                          </a:solidFill>
                          <a:latin typeface="Consolas"/>
                        </a:rPr>
                        <a:t>title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Critical + required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F1@5% (CER ≤ 5%)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≥ 0.85 (NEM ≥ 0.75)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0033"/>
                          </a:solidFill>
                          <a:latin typeface="Arial"/>
                        </a:rPr>
                        <a:t>Số, ký hiệu văn bản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4494D"/>
                          </a:solidFill>
                          <a:latin typeface="Consolas"/>
                        </a:rPr>
                        <a:t>code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Critical + required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Exact (chuẩn hóa gạch nối)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≥ 0.85 (NEM ≥ 0.75)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0033"/>
                          </a:solidFill>
                          <a:latin typeface="Arial"/>
                        </a:rPr>
                        <a:t>Ngày ban hành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4494D"/>
                          </a:solidFill>
                          <a:latin typeface="Consolas"/>
                        </a:rPr>
                        <a:t>documentDate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Critical + required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Exact (chuẩn dd/mm/yyyy)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≥ 0.85 (NEM ≥ 0.75)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0033"/>
                          </a:solidFill>
                          <a:latin typeface="Arial"/>
                        </a:rPr>
                        <a:t>Cơ quan ban hành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4494D"/>
                          </a:solidFill>
                          <a:latin typeface="Consolas"/>
                        </a:rPr>
                        <a:t>officeSender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Critical + required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F1@5% (CER ≤ 5%)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≥ 0.85 (NEM ≥ 0.75)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0033"/>
                          </a:solidFill>
                          <a:latin typeface="Arial"/>
                        </a:rPr>
                        <a:t>Độ khẩn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4494D"/>
                          </a:solidFill>
                          <a:latin typeface="Consolas"/>
                        </a:rPr>
                        <a:t>priority_level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Critical + required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Exact (Enum 4 mức)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≥ 0.85 (NEM ≥ 0.75)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0033"/>
                          </a:solidFill>
                          <a:latin typeface="Arial"/>
                        </a:rPr>
                        <a:t>Độ mật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4494D"/>
                          </a:solidFill>
                          <a:latin typeface="Consolas"/>
                        </a:rPr>
                        <a:t>security_level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Critical + required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Exact (Enum 4 mức)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≥ 0.85 (NEM ≥ 0.75)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94D"/>
                          </a:solidFill>
                          <a:latin typeface="Arial"/>
                        </a:rPr>
                        <a:t>Nơi nhận cuối VB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4494D"/>
                          </a:solidFill>
                          <a:latin typeface="Consolas"/>
                        </a:rPr>
                        <a:t>recipients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Critical + optional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F1@5% (CER ≤ 5%)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≥ 0.85 (NEM ≥ 0.75)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94D"/>
                          </a:solidFill>
                          <a:latin typeface="Arial"/>
                        </a:rPr>
                        <a:t>Họ tên người ký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4494D"/>
                          </a:solidFill>
                          <a:latin typeface="Consolas"/>
                        </a:rPr>
                        <a:t>signer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Critical + optional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Exact (khớp tên)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≥ 0.85 (NEM ≥ 0.75)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94D"/>
                          </a:solidFill>
                          <a:latin typeface="Arial"/>
                        </a:rPr>
                        <a:t>Kính gửi đầu VB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4494D"/>
                          </a:solidFill>
                          <a:latin typeface="Consolas"/>
                        </a:rPr>
                        <a:t>first_recipients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Critical + optional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F1@5% (CER ≤ 5%)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≥ 0.85 (NEM ≥ 0.75)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94D"/>
                          </a:solidFill>
                          <a:latin typeface="Arial"/>
                        </a:rPr>
                        <a:t>Chức danh người ký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4494D"/>
                          </a:solidFill>
                          <a:latin typeface="Consolas"/>
                        </a:rPr>
                        <a:t>signer_title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Critical + optional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F1@5% (CER ≤ 5%)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≥ 0.85 (NEM ≥ 0.75)</a:t>
                      </a:r>
                    </a:p>
                  </a:txBody>
                  <a:tcPr anchor="ctr" marL="109728" marR="109728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94D"/>
                          </a:solidFill>
                          <a:latin typeface="Arial"/>
                        </a:rPr>
                        <a:t>Địa danh ban hành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4494D"/>
                          </a:solidFill>
                          <a:latin typeface="Consolas"/>
                        </a:rPr>
                        <a:t>province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Non-critical + optional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Exact (khớp địa danh)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94D"/>
                          </a:solidFill>
                          <a:latin typeface="Arial"/>
                        </a:rPr>
                        <a:t>F1 ≥ 0.85 (NEM ≥ 0.75)</a:t>
                      </a:r>
                    </a:p>
                  </a:txBody>
                  <a:tcPr anchor="ctr" marL="109728" marR="109728" marT="27432" marB="27432">
                    <a:solidFill>
                      <a:srgbClr val="F6F8FA"/>
                    </a:solidFill>
                  </a:tcPr>
                </a:tc>
              </a:tr>
              <a:tr h="5094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37A80"/>
                          </a:solidFill>
                          <a:latin typeface="Arial"/>
                        </a:rPr>
                        <a:t>Ngày tiếp nhận</a:t>
                      </a:r>
                    </a:p>
                  </a:txBody>
                  <a:tcPr anchor="ctr" marL="109728" marR="109728" marT="27432" marB="27432">
                    <a:solidFill>
                      <a:srgbClr val="FD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737A80"/>
                          </a:solidFill>
                          <a:latin typeface="Consolas"/>
                        </a:rPr>
                        <a:t>receiverDate</a:t>
                      </a:r>
                    </a:p>
                  </a:txBody>
                  <a:tcPr anchor="ctr" marL="109728" marR="109728" marT="27432" marB="27432">
                    <a:solidFill>
                      <a:srgbClr val="FD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737A80"/>
                          </a:solidFill>
                          <a:latin typeface="Arial"/>
                        </a:rPr>
                        <a:t>Out of scope</a:t>
                      </a:r>
                    </a:p>
                  </a:txBody>
                  <a:tcPr anchor="ctr" marL="109728" marR="109728" marT="27432" marB="27432">
                    <a:solidFill>
                      <a:srgbClr val="FD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737A80"/>
                          </a:solidFill>
                          <a:latin typeface="Arial"/>
                        </a:rPr>
                        <a:t>Không chấm (luôn trả "")</a:t>
                      </a:r>
                    </a:p>
                  </a:txBody>
                  <a:tcPr anchor="ctr" marL="109728" marR="109728" marT="27432" marB="27432">
                    <a:solidFill>
                      <a:srgbClr val="FD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737A80"/>
                          </a:solidFill>
                          <a:latin typeface="Arial"/>
                        </a:rPr>
                        <a:t>— (Ngoài phạm vi)</a:t>
                      </a:r>
                    </a:p>
                  </a:txBody>
                  <a:tcPr anchor="ctr" marL="109728" marR="109728" marT="27432" marB="27432">
                    <a:solidFill>
                      <a:srgbClr val="FD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Team đã xây gì, và pipeline chạy ra sao?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outline báo cáo · mục 2; chuẩn benchmark §6–§8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07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02 · PHẠM VI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08176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PDF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462272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626864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Layout + OCR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680960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845552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Extraction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899648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064240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Chuẩn hóa API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4118336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4282928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Benchmark + Evidence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243584" y="4005072"/>
            <a:ext cx="5074920" cy="320040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472184" y="4261104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Chuẩn bị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472184" y="4946904"/>
            <a:ext cx="4617720" cy="202996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Thu thập PDF; xây GT; chốt quy tắc nghiệp vụ và hợp đồng 13-field API với BA.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574536" y="4005072"/>
            <a:ext cx="5074920" cy="320040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803136" y="4261104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Thử nghiệm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803136" y="4946904"/>
            <a:ext cx="4617720" cy="202996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Các thành viên khảo sát pipeline riêng; chọn pipeline 01 làm baseline để demo.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1905488" y="4005072"/>
            <a:ext cx="5074920" cy="320040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2134088" y="4261104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Đo &amp; truy vết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2134088" y="4946904"/>
            <a:ext cx="4617720" cy="202996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Chấm chất lượng, thời gian, RAM/GPU; giữ ảnh trang, bbox và OCR nguồn để soi lỗi.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243584" y="7589520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463040" y="7726680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Số liệu trình bày lấy từ full inference (PDF → model → extraction), không trộn tài nguyên của replay.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Demo theo 3 mức độ: dễ → phổ biến → khó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full inference predictions.jsonl, document_success.csv, field_errors.csv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08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00253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187451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03 · DEMO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901952"/>
            <a:ext cx="5029200" cy="51023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084832"/>
            <a:ext cx="45720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61488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Case dễ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72184" y="3447288"/>
            <a:ext cx="4572000" cy="3328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3116+QĐ-BKHCN và 26/2026/NQ-HĐND: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Đầu ra sạch, không có field Wrong/Missing/Hallucination.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73952" y="1901952"/>
            <a:ext cx="5029200" cy="51023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702552" y="2084832"/>
            <a:ext cx="45720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02552" y="2761488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Case phổ biến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702552" y="3447288"/>
            <a:ext cx="4572000" cy="3328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Quyết định 1666 sạch 12 field;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Công văn 8906 đạt đủ 7 required nhưng miss 2 field optional.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704320" y="1901952"/>
            <a:ext cx="5468112" cy="51023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1932920" y="2084832"/>
            <a:ext cx="501091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932920" y="2761488"/>
            <a:ext cx="501091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Case khó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932920" y="3447288"/>
            <a:ext cx="5010912" cy="3328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8931, 8948, 29+CT-TTg: scan;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lỗi tập trung ở ngày ban hành, dấu khẩn, chữ ký và chức danh.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243584" y="7424927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63040" y="756208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Mỗi case: PDF đầu vào → 13 key đầu ra → GT/prediction → ảnh + trace → thời gian xử lý.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Văn bản rõ: trích xuất đúng và truy vết được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predictions.jsonl + field_errors.csv · full inference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09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00837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880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03 · DEMO / CASE DỄ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52728" y="1847088"/>
            <a:ext cx="6537960" cy="704088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1878" y="1906524"/>
            <a:ext cx="4579659" cy="6483096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9888" y="8503920"/>
            <a:ext cx="6263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3116+QĐ-BKHCN · trace trang 1 full inference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101583" y="1847088"/>
            <a:ext cx="9052560" cy="3236976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330183" y="2103120"/>
            <a:ext cx="8595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3116+QĐ-BKHCN · 2 trang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30183" y="2788920"/>
            <a:ext cx="8595360" cy="20665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4,37 s/file · Document Success PASS. Trong 12 field được chấm theo policy hiện hành: 10 Exact, title Acceptable, first_recipients Correct Absent.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101583" y="5321808"/>
            <a:ext cx="9052560" cy="312724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330183" y="5577840"/>
            <a:ext cx="8595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26+2026+NQ-HĐND · 5 trang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30183" y="6263640"/>
            <a:ext cx="8595360" cy="195681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7,93 s/file · Document Success PASS; không có cả bucket Acceptable, Wrong, Missing hoặc Hallucination.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2 dạng chiếm 47% tập mẫu: Quyết định và Công văn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predictions.jsonl + document_success.csv + field_errors.csv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10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108960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980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03 · DEMO / PHỔ BIẾN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892807"/>
            <a:ext cx="5120640" cy="617220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8646" y="1952243"/>
            <a:ext cx="3970514" cy="5614416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7680960"/>
            <a:ext cx="48463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1666+QĐ-TTg · scan 5 trang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547104" y="1892807"/>
            <a:ext cx="5120640" cy="617220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2166" y="1952243"/>
            <a:ext cx="3970514" cy="5614416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684264" y="7680960"/>
            <a:ext cx="48463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8906+VPCP-CN · print 2 trang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1905488" y="1892807"/>
            <a:ext cx="5257800" cy="2889504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2134088" y="2148839"/>
            <a:ext cx="48006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Quyết định 1666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134088" y="2834639"/>
            <a:ext cx="4800600" cy="1719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0">
                <a:solidFill>
                  <a:srgbClr val="44494D"/>
                </a:solidFill>
                <a:latin typeface="Arial"/>
              </a:rPr>
              <a:t>12,52 s/file · PASS;</a:t>
            </a:r>
          </a:p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0">
                <a:solidFill>
                  <a:srgbClr val="44494D"/>
                </a:solidFill>
                <a:latin typeface="Arial"/>
              </a:rPr>
              <a:t>Không field nào Wrong/Missing/Hallucination.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1905488" y="5020056"/>
            <a:ext cx="5257800" cy="30449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2134088" y="5276088"/>
            <a:ext cx="48006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Công văn 8906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2134088" y="5961888"/>
            <a:ext cx="4800600" cy="18745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0">
                <a:solidFill>
                  <a:srgbClr val="44494D"/>
                </a:solidFill>
                <a:latin typeface="Arial"/>
              </a:rPr>
              <a:t>4,89 s/file · 7/7 required đạt.</a:t>
            </a:r>
          </a:p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0">
                <a:solidFill>
                  <a:srgbClr val="44494D"/>
                </a:solidFill>
                <a:latin typeface="Arial"/>
              </a:rPr>
              <a:t>recipients và first_recipients Missing.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Header đúng chưa đồng nghĩa đúng cả văn bản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full inference document_success.csv + field_errors.csv + trace v2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11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606039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47802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03 · DEMO / KHÓ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975104"/>
            <a:ext cx="5047488" cy="5230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231136"/>
            <a:ext cx="459028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8931+VPCP-PL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916936"/>
            <a:ext cx="4590288" cy="405993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4,42 s · 1 trang scan.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Ngày 29→19; cơ quan dính chữ; Hỏa tốc thành Bình thường.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FAIL 3 required.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492240" y="1975104"/>
            <a:ext cx="5047488" cy="5230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720840" y="2231136"/>
            <a:ext cx="459028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8948+VPCP-CN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720840" y="2916936"/>
            <a:ext cx="4590288" cy="405993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6,50 s · 2 trang scan.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Ngày Missing, Kính gửi Missing; vùng chức danh lẫn OCR rác.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FAIL vì ngày.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1740896" y="1975104"/>
            <a:ext cx="5422392" cy="5230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969496" y="2231136"/>
            <a:ext cx="49651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29+CT-TTg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969496" y="2916936"/>
            <a:ext cx="4965192" cy="405993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7,76 s · 4 trang scan.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Header chính Exact; rớt Hỏa tốc, tên người ký sai, chức danh Missing.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FAIL vì độ khẩn.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243584" y="7607808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463040" y="774496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Các slide lỗi sau đây gắn GT/prediction với đúng ảnh và OCR trong trace; không suy đoán vị trí GT.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35/100 tài liệu đạt; PoC còn cách 45 tài liệu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summary.json · full inference v3 · metric v2.1 · Quadro RTX 5000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12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KẾT QUẢ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56231"/>
            <a:ext cx="5074920" cy="2944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039112"/>
            <a:ext cx="46177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35%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15768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Document Success@5%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72184" y="3401568"/>
            <a:ext cx="4617720" cy="11704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35 PASS / 100 văn bản. PoC ≥80%; stretch ≥90%.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519672" y="1856231"/>
            <a:ext cx="5074920" cy="2944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748272" y="2039112"/>
            <a:ext cx="46177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44,1 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2715768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Thời gian trung bình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748272" y="3401568"/>
            <a:ext cx="4617720" cy="11704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44,1 s / văn bản (wall-clock, 100 PDF; số trang biến thiên lớn).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795760" y="1856231"/>
            <a:ext cx="5376672" cy="2944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2024360" y="2039112"/>
            <a:ext cx="49194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2,48 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024360" y="2715768"/>
            <a:ext cx="49194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Giây / trang*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2024360" y="3401568"/>
            <a:ext cx="4919472" cy="11704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1,14–5,85 s; *TB của 100 tỷ số (giây/file ÷ trang/file).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243584" y="5138928"/>
            <a:ext cx="7726679" cy="322783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72184" y="5394960"/>
            <a:ext cx="7269479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RAM tiến trình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72184" y="6080760"/>
            <a:ext cx="7269479" cy="20573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Trung bình 2.745 MB · đỉnh 6.012 MB.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Benchmark chạy trên GPU Quadro RTX 5000.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9235440" y="5138928"/>
            <a:ext cx="7936992" cy="322783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464040" y="5394960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VRAM: phân biệt phạm vi đo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464040" y="6080760"/>
            <a:ext cx="7479792" cy="20573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Device VRAM toàn GPU: 3.077 / 6.793 MB (TB/đỉnh).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Process VRAM: chưa đo được; không gán 0 hay thay bằng allocator.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Điểm nghẽn: chức danh ký, trích yếu, ngày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full inference metrics.csv · receiverDate ngoài phạm vi chấm hiện hành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13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410711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2826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KẾT QUẢ THEO FIELD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65376"/>
            <a:ext cx="7735824" cy="632764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21408"/>
            <a:ext cx="7278624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Tín hiệu tích cực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807208"/>
            <a:ext cx="7278624" cy="5157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province: F1 = 0,984 — field duy nhất đạt đủ target đánh giá.</a:t>
            </a:r>
          </a:p>
          <a:p>
            <a:pPr algn="l">
              <a:lnSpc>
                <a:spcPct val="112000"/>
              </a:lnSpc>
              <a:spcAft>
                <a:spcPts val="280"/>
              </a:spcAft>
            </a:pPr>
          </a:p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type, security_level: F1 = 1,00 nhưng chưa đánh giá đầy đủ lớp hiếm / mẫu GT trống.</a:t>
            </a:r>
          </a:p>
          <a:p>
            <a:pPr algn="l">
              <a:lnSpc>
                <a:spcPct val="112000"/>
              </a:lnSpc>
              <a:spcAft>
                <a:spcPts val="280"/>
              </a:spcAft>
            </a:pPr>
          </a:p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Không có Hallucination trong các field có GT trống ở bundle này; không suy rộng sang lớp chưa phủ.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235440" y="1865376"/>
            <a:ext cx="7936992" cy="6327648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464040" y="2121408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Field cần ưu tiên (Bảng F1)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64040" y="2807208"/>
            <a:ext cx="7479792" cy="5157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signer_title     F1 0,380  ·  51 Wrong + 12 Missing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title            F1 0,670  ·  31 Wrong + 3 Missing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officeSender     F1 0,735  ·  24 Wrong + 4 Missing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documentDate     F1 0,785  ·  10 Wrong + 19 Missing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(Bảng chỉ số field gọn, không vẽ biểu đồ lỗi)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Một ký tự OCR có thể làm hỏng trường bắt buộc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field_errors.csv + trace v2 (8931+VPCP-PL) trang 1 · full inference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00837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880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OCR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956816"/>
            <a:ext cx="699516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164" y="2156085"/>
            <a:ext cx="6858000" cy="1174229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3584448"/>
            <a:ext cx="67208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Ngày ban hành · bbox [847, 274, 1337, 308]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243584" y="4297680"/>
            <a:ext cx="699516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164" y="4371452"/>
            <a:ext cx="6858000" cy="1425222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380744" y="5925312"/>
            <a:ext cx="67208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Cơ quan ban hành · bbox [236, 154, 663, 195]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549640" y="1956816"/>
            <a:ext cx="8622792" cy="868680"/>
          </a:xfrm>
          <a:prstGeom prst="roundRect">
            <a:avLst/>
          </a:prstGeom>
          <a:solidFill>
            <a:srgbClr val="F2F7F4"/>
          </a:solidFill>
          <a:ln w="7620">
            <a:solidFill>
              <a:srgbClr val="F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705088" y="2048256"/>
            <a:ext cx="831189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207055"/>
                </a:solidFill>
                <a:latin typeface="Arial"/>
              </a:rPr>
              <a:t>GT · DOCUMENTDATE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705088" y="2295144"/>
            <a:ext cx="8311896" cy="4663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29/08/2026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549640" y="3026664"/>
            <a:ext cx="8622792" cy="86868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705088" y="3118104"/>
            <a:ext cx="831189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PRED / OCR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705088" y="3364992"/>
            <a:ext cx="8311896" cy="4663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19/08/2026 · ngày 19 tháng 8 năm 2026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549640" y="4270248"/>
            <a:ext cx="8622792" cy="868680"/>
          </a:xfrm>
          <a:prstGeom prst="roundRect">
            <a:avLst/>
          </a:prstGeom>
          <a:solidFill>
            <a:srgbClr val="F2F7F4"/>
          </a:solidFill>
          <a:ln w="7620">
            <a:solidFill>
              <a:srgbClr val="F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705088" y="4361688"/>
            <a:ext cx="831189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207055"/>
                </a:solidFill>
                <a:latin typeface="Arial"/>
              </a:rPr>
              <a:t>GT · OFFICESENDER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705088" y="4608576"/>
            <a:ext cx="8311896" cy="4663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VĂN PHÒNG CHÍNH PHỦ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549640" y="5340096"/>
            <a:ext cx="8622792" cy="86868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705088" y="5431536"/>
            <a:ext cx="831189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PRED / OCR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705088" y="5678424"/>
            <a:ext cx="8311896" cy="4663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VĂN PHÒNG CHÍNH PHỦNH PHỦ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567928" y="6519672"/>
            <a:ext cx="8522208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Nhận định: Extraction bám theo OCR nguồn. Metadata có chữ viết tay nhưng chưa đủ bằng chứng để quy lỗi cụ thể cho chữ viết tay ở hai vùng này.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Header đúng, nhưng mức khẩn và cụm ký vẫn rớt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field_errors.csv + trace v2 (29+CT-TTg) trang 1 &amp; 4 · full inference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15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51129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38327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DẤU &amp; KÝ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892807"/>
            <a:ext cx="4553712" cy="6876288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164" y="1995982"/>
            <a:ext cx="4416552" cy="6231027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8385048"/>
            <a:ext cx="427939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Trang 1 · kiểm tra vùng dấu Hỏa tốc (pred không có evidence)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980176" y="1892807"/>
            <a:ext cx="4553712" cy="6876288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756" y="1974740"/>
            <a:ext cx="4416552" cy="6273511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117336" y="8385048"/>
            <a:ext cx="427939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Trang 4 · vùng ký, OCR đọc 'Huốc Dũng'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780776" y="1892807"/>
            <a:ext cx="6382512" cy="12344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936224" y="1984248"/>
            <a:ext cx="607161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PRIORITY_LEVEL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936224" y="2231136"/>
            <a:ext cx="6071616" cy="8321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1">
                <a:solidFill>
                  <a:srgbClr val="44494D"/>
                </a:solidFill>
                <a:latin typeface="Arial"/>
              </a:rPr>
              <a:t>1_HỎA TỐC → 0_BÌNH THƯỜNG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780776" y="3310128"/>
            <a:ext cx="6382512" cy="12344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936224" y="3401568"/>
            <a:ext cx="607161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SIGNER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936224" y="3648456"/>
            <a:ext cx="6071616" cy="8321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1">
                <a:solidFill>
                  <a:srgbClr val="44494D"/>
                </a:solidFill>
                <a:latin typeface="Arial"/>
              </a:rPr>
              <a:t>Hồ Quốc Dũng → Huốc Dũng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0780776" y="4727448"/>
            <a:ext cx="6382512" cy="1261872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936224" y="4818888"/>
            <a:ext cx="607161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SIGNER_TITLE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936224" y="5065776"/>
            <a:ext cx="6071616" cy="8595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96"/>
              </a:spcAft>
            </a:pPr>
            <a:r>
              <a:rPr sz="1400" b="1">
                <a:solidFill>
                  <a:srgbClr val="44494D"/>
                </a:solidFill>
                <a:latin typeface="Arial"/>
              </a:rPr>
              <a:t>KT. THỦ TƯỚNG PHÓ THỦ TƯỚNG → “ ”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835640" y="6291072"/>
            <a:ext cx="630936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0">
                <a:solidFill>
                  <a:srgbClr val="44494D"/>
                </a:solidFill>
                <a:latin typeface="Arial"/>
              </a:rPr>
              <a:t>Nhận định: Vùng dấu/chữ ký cần review ảnh màu; priority_level không có evidence. Chưa khẳng định dấu gây ra toàn bộ lỗi vùng ký nếu không khoanh trực tiếp được vùng bị đè.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Vùng text lẫn nội dung: trích yếu và cơ quan bị kéo sai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field_errors.csv + trace v2 (12+NQ-PVIRe &amp; 240+TB-PVIRe) · full inference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16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31012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18211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LAYOUT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947672"/>
            <a:ext cx="7699248" cy="370332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164" y="2049453"/>
            <a:ext cx="7562088" cy="3060845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5266944"/>
            <a:ext cx="7424927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12+NQ · khung đỏ là bbox prediction evidence text-after-document-type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235440" y="1947672"/>
            <a:ext cx="7936992" cy="370332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503" y="2007107"/>
            <a:ext cx="7698864" cy="3145536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9372600" y="5266944"/>
            <a:ext cx="7662671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240+TB · khung đỏ là bbox prediction evidence upper-left-organization ('Số:')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5897880"/>
            <a:ext cx="7699248" cy="249631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72184" y="6153912"/>
            <a:ext cx="72420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12+NQ-PVIRe · title Wrong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72184" y="6839712"/>
            <a:ext cx="7242048" cy="13258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GT: “Về việc chốt danh sách cổ đông…”</a:t>
            </a:r>
          </a:p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Pred: thêm “SỞ GIAO DỊCH CHỨNG KHOÁN HÀ NỘI … HỘI ĐỒNG QUẢN TRỊ”.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235440" y="5897880"/>
            <a:ext cx="7936992" cy="249631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464040" y="6153912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240+TB-PVIRe · officeSender Wrong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464040" y="6839712"/>
            <a:ext cx="7479792" cy="13258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GT: “TỔNG CÔNG TY CỔ PHẦN TÁI BẢO HIỂM PVI”</a:t>
            </a:r>
          </a:p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Pred: “Số:” — bắt nhầm anchor làm cơ quan ban hành.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OCR có text, hậu xử lý vẫn giữ nhầm một “stub”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field_errors.csv + trace v2 (2125+TB-ĐLTKV) · rule kinh-gui-anchor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17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712463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58444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EXTRACTION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956816"/>
            <a:ext cx="15910559" cy="2587752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8942" y="2016252"/>
            <a:ext cx="9999842" cy="202996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4160520"/>
            <a:ext cx="15636239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Vùng Kính gửi · bbox [473, 616, 1450, 767]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243584" y="4800600"/>
            <a:ext cx="15910559" cy="1005840"/>
          </a:xfrm>
          <a:prstGeom prst="roundRect">
            <a:avLst/>
          </a:prstGeom>
          <a:solidFill>
            <a:srgbClr val="F2F7F4"/>
          </a:solidFill>
          <a:ln w="7620">
            <a:solidFill>
              <a:srgbClr val="F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399032" y="4892040"/>
            <a:ext cx="15599663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207055"/>
                </a:solidFill>
                <a:latin typeface="Arial"/>
              </a:rPr>
              <a:t>GT · FIRST_RECIPIENTS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99032" y="5138928"/>
            <a:ext cx="15599663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Ủy ban Chứng khoán Nhà nước; Sở Giao dịch Chứng khoán Hà Nội; Trung tâm Lưu ký Chứng khoán Việt Nam.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5989320"/>
            <a:ext cx="15910559" cy="105156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399032" y="6080759"/>
            <a:ext cx="15599663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PREDICTION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399032" y="6327648"/>
            <a:ext cx="15599663" cy="6492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Uỷ ban Chứng khoán Nhà nước; số 1.772; Sở Giao dịch Chứng khoán Hà Nội; Trung tâm Lưu ký Chứng khoán Việt Nam.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325880" y="7424927"/>
            <a:ext cx="15590520" cy="9692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Nhận định: Nguồn OCR chứa 'số 1.772'. Lỗi đáng thử ở bước lọc stub khi tách danh sách; cần regression test để tránh xóa số thật trong tên người nhận.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Không thấy evidence ≠ GT ở vị trí mình đoán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field_errors.csv + trace v2 (8948+VPCP-CN) · không suy diễn vị trí GT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18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410711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2826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MISSING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883664"/>
            <a:ext cx="6510528" cy="6885432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6081" y="1943100"/>
            <a:ext cx="4525533" cy="632764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8385048"/>
            <a:ext cx="623620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Trang 1 do người review chọn để kiểm tra; không phải bbox GT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028431" y="1883664"/>
            <a:ext cx="9144000" cy="10058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183879" y="1975104"/>
            <a:ext cx="8833104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DOCUMENTDATE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183879" y="2221992"/>
            <a:ext cx="8833104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1">
                <a:solidFill>
                  <a:srgbClr val="44494D"/>
                </a:solidFill>
                <a:latin typeface="Arial"/>
              </a:rPr>
              <a:t>01/09/2026 → “ ” · Missing · không có evidence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028431" y="3127248"/>
            <a:ext cx="9144000" cy="12344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183879" y="3218688"/>
            <a:ext cx="8833104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FIRST_RECIPIENTS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183879" y="3465576"/>
            <a:ext cx="8833104" cy="8321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1">
                <a:solidFill>
                  <a:srgbClr val="44494D"/>
                </a:solidFill>
                <a:latin typeface="Arial"/>
              </a:rPr>
              <a:t>Bộ trưởng các Bộ…; Chủ tịch UBND… → “ ” · Missing · không có evidence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028431" y="4626864"/>
            <a:ext cx="9144000" cy="3675887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257031" y="4882896"/>
            <a:ext cx="86868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Nhận định có giới hạn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257031" y="5568696"/>
            <a:ext cx="8686800" cy="250545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Cần soi layout/OCR trang đầu và ranh giới văn bản trước khi quyết định fallback. Pipeline không bịa giá trị ngày khi không đọc được.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Bundle không có Hallucination ở field có GT trống; đây là tín hiệu tốt, nhưng không suy rộng sang lớp hiếm.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Không phải mọi bucket Wrong đều là OCR đọc sai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field_errors.csv + trace v2 · 03+BC.HĐQT &amp; 27+2026+VBHN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19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907791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77977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GT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920240"/>
            <a:ext cx="7708392" cy="306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3901" y="1979676"/>
            <a:ext cx="5047756" cy="2505456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4599432"/>
            <a:ext cx="7434071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OCR nguồn: “Số 03/BC HĐQT” · trang 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235440" y="1920240"/>
            <a:ext cx="7936992" cy="306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0" y="2546704"/>
            <a:ext cx="7799831" cy="1371399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9372600" y="4599432"/>
            <a:ext cx="7662671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OCR nguồn: “Số 27/2026/VBHN-NĐ-BTC” · trang 1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5212080"/>
            <a:ext cx="7708392" cy="32735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72184" y="5468112"/>
            <a:ext cx="72511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03+BC.HĐQT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72184" y="6153912"/>
            <a:ext cx="7251192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GT: 03/BC.HĐQT · Pred: 03/BC-HĐQT.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Quy tắc API biến dấu cách còn lại thành '-'; cần xác nhận cách gán GT đối với dấu chấm '.'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235440" y="5212080"/>
            <a:ext cx="7936992" cy="32735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464040" y="5468112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27+2026+VBHN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464040" y="6153912"/>
            <a:ext cx="7479792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GT: …-ND-BTC · Pred: …-NĐ-BTC.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Ảnh/trace ủng hộ chữ 'Đ'; cần reviewer xác nhận, không tự ý sửa GT.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229 ô field lỗi — phân loại sơ bộ 4 nhóm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full inference v3 field_errors.csv + trace + error_cause_full_inference_v3.csv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20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706624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57860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PHÂN BỐ LỖI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74519"/>
            <a:ext cx="3776472" cy="53492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057400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47,6%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34056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1">
                <a:solidFill>
                  <a:srgbClr val="44494D"/>
                </a:solidFill>
                <a:latin typeface="Sarabun"/>
              </a:rPr>
              <a:t>OCR / chính tả (109 ô)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72184" y="3419856"/>
            <a:ext cx="3319272" cy="3575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0">
                <a:solidFill>
                  <a:srgbClr val="44494D"/>
                </a:solidFill>
                <a:latin typeface="Arial"/>
              </a:rPr>
              <a:t>Nhận dạng sai ký tự, rác scan, dính chữ, đọc nhầm số/chữ (VD: ngày 29→19, Văn phòng Chính phủnh phủ, Huốc Dũng).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285232" y="1874519"/>
            <a:ext cx="3776472" cy="5349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513832" y="2057400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17,9%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13832" y="2734056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1">
                <a:solidFill>
                  <a:srgbClr val="44494D"/>
                </a:solidFill>
                <a:latin typeface="Sarabun"/>
              </a:rPr>
              <a:t>Trích xuất &amp; Layout (41 ô)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513832" y="3419856"/>
            <a:ext cx="3319272" cy="3575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0">
                <a:solidFill>
                  <a:srgbClr val="44494D"/>
                </a:solidFill>
                <a:latin typeface="Arial"/>
              </a:rPr>
              <a:t>Bắt nhầm phân vùng, kéo dài trích yếu lẫn tên cơ quan, giữ nhầm stub (2125), bắt nhầm anchor 'Số:' (240).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326880" y="1874519"/>
            <a:ext cx="3776472" cy="5349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555480" y="2057400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2,2%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2734056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1">
                <a:solidFill>
                  <a:srgbClr val="44494D"/>
                </a:solidFill>
                <a:latin typeface="Sarabun"/>
              </a:rPr>
              <a:t>Dấu mộc &amp; Vùng ký (5 ô)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55480" y="3419856"/>
            <a:ext cx="3319272" cy="3575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0">
                <a:solidFill>
                  <a:srgbClr val="44494D"/>
                </a:solidFill>
                <a:latin typeface="Arial"/>
              </a:rPr>
              <a:t>Dấu đỏ Hỏa tốc bị miss (29+CT), con dấu đỏ đè làm sai lệch chữ ký hoặc mất chức danh người ký.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3368528" y="1874519"/>
            <a:ext cx="3776472" cy="5349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3597128" y="2057400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32,3%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597128" y="2734056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1">
                <a:solidFill>
                  <a:srgbClr val="44494D"/>
                </a:solidFill>
                <a:latin typeface="Sarabun"/>
              </a:rPr>
              <a:t>Khác &amp; Cần review (74 ô)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3597128" y="3419856"/>
            <a:ext cx="3319272" cy="3575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10"/>
              </a:spcAft>
            </a:pPr>
            <a:r>
              <a:rPr sz="1500" b="0">
                <a:solidFill>
                  <a:srgbClr val="44494D"/>
                </a:solidFill>
                <a:latin typeface="Arial"/>
              </a:rPr>
              <a:t>Missing không có visual evidence (8948), nghi vấn quy tắc/chính sách gán nhãn GT (03/BC, 27/VBHN), cần rà soát thêm.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243584" y="7516368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463040" y="765352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1">
                <a:solidFill>
                  <a:srgbClr val="44494D"/>
                </a:solidFill>
                <a:latin typeface="Arial"/>
              </a:rPr>
              <a:t>Mẫu số: 229 ô lỗi (156 Wrong + 73 Missing trên 12 field). OCR nguồn là điểm nghẽn lớn nhất (47,6%).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Khả thi để tiếp tục R&amp;D; chưa đủ điều kiện thay thế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outline báo cáo · mục 5; kết quả full inference v3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21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404872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2768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05 · ĐÁNH GIÁ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938528"/>
            <a:ext cx="7717536" cy="525780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94560"/>
            <a:ext cx="7260336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Đã chứng minh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880360"/>
            <a:ext cx="7260336" cy="4087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• Pipeline chạy end-to-end trên 100 PDF, có API dữ liệu cấu trúc.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• Có GT, benchmark version hóa, ảnh trang, OCR và trace để lặp lại phân tích.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• Có case print/scan hoạt động tốt; có thể ưu tiên cải thiện theo từng trường.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235440" y="1938528"/>
            <a:ext cx="7936992" cy="5257800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464040" y="2194560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Chưa chứng minh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64040" y="2880360"/>
            <a:ext cx="7479792" cy="4087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• 35% Document Success còn cách target PoC 80%.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• Mẫu lớp mật/khẩn hiếm và tài liệu chụp nghiêng/ngang chưa đủ coverage.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• Chưa có đo chi phí và benchmark đối chứng đủ điều kiện để kết luận thay thế API hiện tại.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7470648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63040" y="760780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Arial"/>
              </a:rPr>
              <a:t>Cân bằng tổng quát hóa vs. overfit; chất lượng vs. GPU; hiểu ngữ cảnh vs. thời gian.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Ưu tiên accuracy, sau đó mới tối ưu vận hành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Nguồn: outline báo cáo · mục 6; chuẩn benchmark §6, §9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22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50545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3774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06 · TIẾP THEO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74519"/>
            <a:ext cx="5029200" cy="532180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30552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01 · Dữ liệu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816352"/>
            <a:ext cx="4572000" cy="41513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Bổ sung hard cases: dấu đỏ, chữ viết tay, trang nghiêng/ngang, lớp mật/khẩn và văn bản dài. Rà soát GT theo policy đã chốt; tách train/dev/test nếu fine-tune.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473952" y="1874519"/>
            <a:ext cx="5029200" cy="532180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702552" y="2130552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02 · Kỹ thuật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702552" y="2816352"/>
            <a:ext cx="4572000" cy="41513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Benchmark riêng OCR; thử model chữ viết tay và xử lý dấu/watermark; cải thiện ranh giới văn bản/trang cuối; chuẩn hóa tập giá trị hữu hạn khi có evidence.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1704320" y="1874519"/>
            <a:ext cx="5468112" cy="532180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932920" y="2130552"/>
            <a:ext cx="501091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03 · Kiểm chứng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932920" y="2816352"/>
            <a:ext cx="5010912" cy="41513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Regression test sau mỗi thay đổi.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Đạt accuracy target rồi mới tối ưu tốc độ → tài nguyên → chi phí → pilot/UAT có kiểm soát.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243584" y="7498079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463040" y="7635240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Arial"/>
              </a:rPr>
              <a:t>Cần thống nhất mốc review kế tiếp, bộ hard cases ưu tiên và tài nguyên GPU/chuyên môn.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60" name="Google Shape;460;p24"/>
          <p:cNvSpPr/>
          <p:nvPr/>
        </p:nvSpPr>
        <p:spPr>
          <a:xfrm>
            <a:off x="0" y="7296"/>
            <a:ext cx="18424729" cy="10433003"/>
          </a:xfrm>
          <a:custGeom>
            <a:rect b="b" l="l" r="r" t="t"/>
            <a:pathLst>
              <a:path extrusionOk="0" h="10433003" w="18424729">
                <a:moveTo>
                  <a:pt x="0" y="0"/>
                </a:moveTo>
                <a:lnTo>
                  <a:pt x="18424729" y="0"/>
                </a:lnTo>
                <a:lnTo>
                  <a:pt x="18424729" y="10433003"/>
                </a:lnTo>
                <a:lnTo>
                  <a:pt x="0" y="10433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1" name="Google Shape;461;p24"/>
          <p:cNvSpPr/>
          <p:nvPr/>
        </p:nvSpPr>
        <p:spPr>
          <a:xfrm>
            <a:off x="-799601" y="3364833"/>
            <a:ext cx="7992570" cy="9672442"/>
          </a:xfrm>
          <a:custGeom>
            <a:rect b="b" l="l" r="r" t="t"/>
            <a:pathLst>
              <a:path extrusionOk="0" h="9672442" w="7992570">
                <a:moveTo>
                  <a:pt x="0" y="0"/>
                </a:moveTo>
                <a:lnTo>
                  <a:pt x="7992570" y="0"/>
                </a:lnTo>
                <a:lnTo>
                  <a:pt x="7992570" y="9672443"/>
                </a:lnTo>
                <a:lnTo>
                  <a:pt x="0" y="9672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6000"/>
            </a:blip>
            <a:stretch>
              <a:fillRect b="-165" l="0" r="-105" t="0"/>
            </a:stretch>
          </a:blipFill>
          <a:ln>
            <a:noFill/>
          </a:ln>
        </p:spPr>
      </p:sp>
      <p:sp>
        <p:nvSpPr>
          <p:cNvPr id="462" name="Google Shape;462;p24"/>
          <p:cNvSpPr/>
          <p:nvPr/>
        </p:nvSpPr>
        <p:spPr>
          <a:xfrm>
            <a:off x="-343810" y="3752988"/>
            <a:ext cx="7080989" cy="8569268"/>
          </a:xfrm>
          <a:custGeom>
            <a:rect b="b" l="l" r="r" t="t"/>
            <a:pathLst>
              <a:path extrusionOk="0" h="8569268" w="7080989">
                <a:moveTo>
                  <a:pt x="0" y="0"/>
                </a:moveTo>
                <a:lnTo>
                  <a:pt x="7080988" y="0"/>
                </a:lnTo>
                <a:lnTo>
                  <a:pt x="7080988" y="8569268"/>
                </a:lnTo>
                <a:lnTo>
                  <a:pt x="0" y="85692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2998"/>
            </a:blip>
            <a:stretch>
              <a:fillRect b="-273" l="0" r="-213" t="0"/>
            </a:stretch>
          </a:blipFill>
          <a:ln>
            <a:noFill/>
          </a:ln>
        </p:spPr>
      </p:sp>
      <p:sp>
        <p:nvSpPr>
          <p:cNvPr id="463" name="Google Shape;463;p24"/>
          <p:cNvSpPr/>
          <p:nvPr/>
        </p:nvSpPr>
        <p:spPr>
          <a:xfrm>
            <a:off x="169718" y="4120710"/>
            <a:ext cx="6135651" cy="7425240"/>
          </a:xfrm>
          <a:custGeom>
            <a:rect b="b" l="l" r="r" t="t"/>
            <a:pathLst>
              <a:path extrusionOk="0" h="7425240" w="6135651">
                <a:moveTo>
                  <a:pt x="0" y="0"/>
                </a:moveTo>
                <a:lnTo>
                  <a:pt x="6135650" y="0"/>
                </a:lnTo>
                <a:lnTo>
                  <a:pt x="6135650" y="7425240"/>
                </a:lnTo>
                <a:lnTo>
                  <a:pt x="0" y="7425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0" l="0" r="-129" t="0"/>
            </a:stretch>
          </a:blipFill>
          <a:ln>
            <a:noFill/>
          </a:ln>
        </p:spPr>
      </p:sp>
      <p:sp>
        <p:nvSpPr>
          <p:cNvPr id="464" name="Google Shape;464;p24"/>
          <p:cNvSpPr/>
          <p:nvPr/>
        </p:nvSpPr>
        <p:spPr>
          <a:xfrm>
            <a:off x="671276" y="5575282"/>
            <a:ext cx="5024638" cy="2162561"/>
          </a:xfrm>
          <a:custGeom>
            <a:rect b="b" l="l" r="r" t="t"/>
            <a:pathLst>
              <a:path extrusionOk="0" h="2162561" w="5024638">
                <a:moveTo>
                  <a:pt x="0" y="0"/>
                </a:moveTo>
                <a:lnTo>
                  <a:pt x="5024638" y="0"/>
                </a:lnTo>
                <a:lnTo>
                  <a:pt x="5024638" y="2162561"/>
                </a:lnTo>
                <a:lnTo>
                  <a:pt x="0" y="2162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22" l="0" r="-422" t="0"/>
            </a:stretch>
          </a:blipFill>
          <a:ln>
            <a:noFill/>
          </a:ln>
        </p:spPr>
      </p:sp>
      <p:sp>
        <p:nvSpPr>
          <p:cNvPr id="465" name="Google Shape;465;p24"/>
          <p:cNvSpPr/>
          <p:nvPr/>
        </p:nvSpPr>
        <p:spPr>
          <a:xfrm>
            <a:off x="11314051" y="2232108"/>
            <a:ext cx="2989596" cy="1689122"/>
          </a:xfrm>
          <a:custGeom>
            <a:rect b="b" l="l" r="r" t="t"/>
            <a:pathLst>
              <a:path extrusionOk="0" h="1689122" w="2989596">
                <a:moveTo>
                  <a:pt x="0" y="0"/>
                </a:moveTo>
                <a:lnTo>
                  <a:pt x="2989595" y="0"/>
                </a:lnTo>
                <a:lnTo>
                  <a:pt x="2989595" y="1689122"/>
                </a:lnTo>
                <a:lnTo>
                  <a:pt x="0" y="16891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66" name="Picture 46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3280" y="640080"/>
            <a:ext cx="2743200" cy="1715014"/>
          </a:xfrm>
          <a:prstGeom prst="rect">
            <a:avLst/>
          </a:prstGeom>
        </p:spPr>
      </p:pic>
      <p:sp>
        <p:nvSpPr>
          <p:cNvPr id="467" name="TextBox 466"/>
          <p:cNvSpPr txBox="1"/>
          <p:nvPr/>
        </p:nvSpPr>
        <p:spPr>
          <a:xfrm>
            <a:off x="7104888" y="3867912"/>
            <a:ext cx="1014984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5000" b="1">
                <a:solidFill>
                  <a:srgbClr val="FFFFFF"/>
                </a:solidFill>
                <a:latin typeface="Sarabun"/>
              </a:rPr>
              <a:t>Xin cảm ơn!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132320" y="5193792"/>
            <a:ext cx="1010412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22"/>
              </a:spcAft>
            </a:pPr>
            <a:r>
              <a:rPr sz="2300" b="0">
                <a:solidFill>
                  <a:srgbClr val="FFFFFF"/>
                </a:solidFill>
                <a:latin typeface="Arial"/>
              </a:rPr>
              <a:t>35/100 hôm nay · 80/100 là mốc PoC</a:t>
            </a:r>
          </a:p>
          <a:p>
            <a:pPr algn="l">
              <a:lnSpc>
                <a:spcPct val="112000"/>
              </a:lnSpc>
              <a:spcAft>
                <a:spcPts val="322"/>
              </a:spcAft>
            </a:pPr>
            <a:r>
              <a:rPr sz="2300" b="0">
                <a:solidFill>
                  <a:srgbClr val="FFFFFF"/>
                </a:solidFill>
                <a:latin typeface="Arial"/>
              </a:rPr>
              <a:t>Xin feedback: thứ tự field ưu tiên, mức sai sót chấp nhận được và điều kiện pilot tại UAT.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quanpv2</dc:creator>
  <dc:title>Demo AI OCR văn bản hành chính · Viettel Solutions</dc:title>
  <dc:subject>Pipeline 01 · full inference 35/100 · 29/09/2026</dc:subject>
</cp:coreProperties>
</file>