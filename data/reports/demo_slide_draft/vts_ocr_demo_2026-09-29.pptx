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</p:sldIdLst>
  <p:sldSz cy="10287000" cx="18288000"/>
  <p:notesSz cx="6858000" cy="9144000"/>
  <p:embeddedFontLst>
    <p:embeddedFont>
      <p:font typeface="Sarabun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bgJkpCgMk8TZQvb5PFdEftNLl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0" Type="http://schemas.openxmlformats.org/officeDocument/2006/relationships/font" Target="fonts/Sarabun-bold.fntdata"/><Relationship Id="rId31" Type="http://schemas.openxmlformats.org/officeDocument/2006/relationships/font" Target="fonts/Sarabun-boldItalic.fntdata"/><Relationship Id="rId32" Type="http://customschemas.google.com/relationships/presentationmetadata" Target="metadata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vi-V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4.jpg"/><Relationship Id="rId6" Type="http://schemas.openxmlformats.org/officeDocument/2006/relationships/image" Target="../media/image35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8.jpg"/><Relationship Id="rId6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3.png"/><Relationship Id="rId7" Type="http://schemas.openxmlformats.org/officeDocument/2006/relationships/image" Target="../media/image32.png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9" name="Google Shape;89;p1"/>
          <p:cNvSpPr/>
          <p:nvPr/>
        </p:nvSpPr>
        <p:spPr>
          <a:xfrm>
            <a:off x="-136729" y="-146003"/>
            <a:ext cx="18424729" cy="10433003"/>
          </a:xfrm>
          <a:custGeom>
            <a:rect b="b" l="l" r="r" t="t"/>
            <a:pathLst>
              <a:path extrusionOk="0" h="10433003" w="18424729">
                <a:moveTo>
                  <a:pt x="0" y="0"/>
                </a:moveTo>
                <a:lnTo>
                  <a:pt x="18424729" y="0"/>
                </a:lnTo>
                <a:lnTo>
                  <a:pt x="18424729" y="10433003"/>
                </a:lnTo>
                <a:lnTo>
                  <a:pt x="0" y="1043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-167825" y="6726704"/>
            <a:ext cx="18623649" cy="3560296"/>
          </a:xfrm>
          <a:custGeom>
            <a:rect b="b" l="l" r="r" t="t"/>
            <a:pathLst>
              <a:path extrusionOk="0" h="3560296" w="18623649">
                <a:moveTo>
                  <a:pt x="0" y="0"/>
                </a:moveTo>
                <a:lnTo>
                  <a:pt x="18623649" y="0"/>
                </a:lnTo>
                <a:lnTo>
                  <a:pt x="18623649" y="3560296"/>
                </a:lnTo>
                <a:lnTo>
                  <a:pt x="0" y="35602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3612" l="-32916" r="-32916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-799601" y="3364833"/>
            <a:ext cx="7992570" cy="9672442"/>
          </a:xfrm>
          <a:custGeom>
            <a:rect b="b" l="l" r="r" t="t"/>
            <a:pathLst>
              <a:path extrusionOk="0" h="9672442" w="7992570">
                <a:moveTo>
                  <a:pt x="0" y="0"/>
                </a:moveTo>
                <a:lnTo>
                  <a:pt x="7992570" y="0"/>
                </a:lnTo>
                <a:lnTo>
                  <a:pt x="7992570" y="9672443"/>
                </a:lnTo>
                <a:lnTo>
                  <a:pt x="0" y="9672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6000"/>
            </a:blip>
            <a:stretch>
              <a:fillRect b="-165" l="0" r="-105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-343810" y="3752988"/>
            <a:ext cx="7080989" cy="8569268"/>
          </a:xfrm>
          <a:custGeom>
            <a:rect b="b" l="l" r="r" t="t"/>
            <a:pathLst>
              <a:path extrusionOk="0" h="8569268" w="7080989">
                <a:moveTo>
                  <a:pt x="0" y="0"/>
                </a:moveTo>
                <a:lnTo>
                  <a:pt x="7080988" y="0"/>
                </a:lnTo>
                <a:lnTo>
                  <a:pt x="7080988" y="8569268"/>
                </a:lnTo>
                <a:lnTo>
                  <a:pt x="0" y="856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2998"/>
            </a:blip>
            <a:stretch>
              <a:fillRect b="-273" l="0" r="-213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69718" y="4120710"/>
            <a:ext cx="6135651" cy="7425240"/>
          </a:xfrm>
          <a:custGeom>
            <a:rect b="b" l="l" r="r" t="t"/>
            <a:pathLst>
              <a:path extrusionOk="0" h="7425240" w="6135651">
                <a:moveTo>
                  <a:pt x="0" y="0"/>
                </a:moveTo>
                <a:lnTo>
                  <a:pt x="6135650" y="0"/>
                </a:lnTo>
                <a:lnTo>
                  <a:pt x="6135650" y="7425240"/>
                </a:lnTo>
                <a:lnTo>
                  <a:pt x="0" y="742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90" l="0" r="-129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725226" y="5597957"/>
            <a:ext cx="5024638" cy="2162561"/>
          </a:xfrm>
          <a:custGeom>
            <a:rect b="b" l="l" r="r" t="t"/>
            <a:pathLst>
              <a:path extrusionOk="0" h="2162561" w="5024638">
                <a:moveTo>
                  <a:pt x="0" y="0"/>
                </a:moveTo>
                <a:lnTo>
                  <a:pt x="5024638" y="0"/>
                </a:lnTo>
                <a:lnTo>
                  <a:pt x="5024638" y="2162561"/>
                </a:lnTo>
                <a:lnTo>
                  <a:pt x="0" y="2162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22" l="0" r="-422" t="0"/>
            </a:stretch>
          </a:blipFill>
          <a:ln>
            <a:noFill/>
          </a:ln>
        </p:spPr>
      </p:sp>
      <p:pic>
        <p:nvPicPr>
          <p:cNvPr id="95" name="Picture 9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0" y="685800"/>
            <a:ext cx="2743200" cy="1715014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7360920" y="3566160"/>
            <a:ext cx="9875520" cy="1554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16"/>
              </a:spcAft>
            </a:pPr>
            <a:r>
              <a:rPr sz="4400" b="1">
                <a:solidFill>
                  <a:srgbClr val="FFFFFF"/>
                </a:solidFill>
                <a:latin typeface="Sarabun"/>
              </a:rPr>
              <a:t>AI OCR cho văn bản</a:t>
            </a:r>
          </a:p>
          <a:p>
            <a:pPr algn="l">
              <a:lnSpc>
                <a:spcPct val="112000"/>
              </a:lnSpc>
              <a:spcAft>
                <a:spcPts val="616"/>
              </a:spcAft>
            </a:pPr>
            <a:r>
              <a:rPr sz="4400" b="1">
                <a:solidFill>
                  <a:srgbClr val="FFFFFF"/>
                </a:solidFill>
                <a:latin typeface="Sarabun"/>
              </a:rPr>
              <a:t>hành chính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88352" y="5623560"/>
            <a:ext cx="9692640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Demo pipeline 01 · Văn phòng số / VPS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388352" y="6793992"/>
            <a:ext cx="969264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Báo cáo 29/09/2026  |  Full inference: 35/100 tài liệu đạt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Từ nhập liệu thủ công đến dữ liệu có cấu trúc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1 · bài toán Văn phòng số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01 · BỐI CẢNH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34440" y="1883664"/>
            <a:ext cx="502920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63040" y="2066544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63040" y="2743200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Hiện trạng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63040" y="3429000"/>
            <a:ext cx="457200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Nhân viên đọc PDF rồi nhập lại số ký hiệu, ngày, cơ quan, trích yếu… vào hệ thống.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64808" y="1883664"/>
            <a:ext cx="502920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93408" y="2066544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693408" y="2743200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Pain point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693408" y="3429000"/>
            <a:ext cx="457200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Khối lượng xử lý lớn kéo theo thời gian, nhân lực kiểm tra và nguy cơ sai sót.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686032" y="1883664"/>
            <a:ext cx="5394960" cy="52120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914632" y="2066544"/>
            <a:ext cx="49377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914632" y="2743200"/>
            <a:ext cx="49377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Mục tiêu PoC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14632" y="3429000"/>
            <a:ext cx="4937760" cy="34381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Đánh giá OCR/KIE in-house có thể tùy chỉnh theo nghiệp vụ và thử nghiệm tại UAT VPS.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7452360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63040" y="758952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Đây là bước đánh giá khả thi, chưa phải cam kết thay thế API hiện tại.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Viettel Agile: học từ dữ liệu thật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1; benchmark policy §6, §9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01 · BỐI CẢNH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Aware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Nhận diện pain point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4471416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00016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Go Through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700016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Khảo sát nghiệp vụ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7699248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927848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Implement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927848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Xây baseline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927080" y="2121408"/>
            <a:ext cx="3017520" cy="2697480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1155680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Learn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155680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Đo và phân tích lỗi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4154911" y="2121408"/>
            <a:ext cx="3017520" cy="26974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383511" y="2377439"/>
            <a:ext cx="25603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Enable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383511" y="3063239"/>
            <a:ext cx="2560320" cy="1527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Hướng tới áp dụng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243584" y="5230368"/>
            <a:ext cx="7726679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472184" y="5486400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Xuất phát từ nghiệp vụ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472184" y="6172200"/>
            <a:ext cx="7269479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Đối chiếu với biểu mẫu/BA: trường nào OCR đọc, trường nào người dùng nhập, trường nào hệ thống tự điền?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9235440" y="5230368"/>
            <a:ext cx="7927848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9464040" y="5486400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Cải tiến có đo lường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464040" y="6172200"/>
            <a:ext cx="7470648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Mọi thay đổi cần GT, benchmark, trace và regression test; không đặc biệt hóa theo tên file hoặc đáp án.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Benchmark 100 PDF: đủ đa dạng để thấy điểm yếu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manifest.json + predictions.jsonl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100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văn bản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Có GT theo tài liệu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285232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513832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2.249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513832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trang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513832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1–353 trang/file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9326880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555480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69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9555480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bản scan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555480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Chất lượng OCR biến thiên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3368528" y="1847088"/>
            <a:ext cx="3776472" cy="306324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3597128" y="2029968"/>
            <a:ext cx="33192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31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597128" y="2706624"/>
            <a:ext cx="33192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bản điện tử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3597128" y="3392424"/>
            <a:ext cx="3319272" cy="12893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Print/digital PDF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243584" y="5349240"/>
            <a:ext cx="7726679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472184" y="5605272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Loại văn bản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472184" y="6291072"/>
            <a:ext cx="7269479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Quyết định (30), Công văn (17), Nghị quyết, Thông báo, Thông tư, Kế hoạch…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9235440" y="5349240"/>
            <a:ext cx="7927848" cy="309067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464040" y="5605272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Nguồn / chủ thể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464040" y="6291072"/>
            <a:ext cx="7470648" cy="192023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Chính phủ, bộ/ngành, địa phương, sở giao dịch chứng khoán và doanh nghiệp; chưa phủ đủ lớp hiếm.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Định nghĩa đầu ra trước khi đo chất lượng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docs/ocr_pipeline_benchmark_metrics.md · §1, §5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56231"/>
            <a:ext cx="7726679" cy="5175504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12263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7 trường required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98063"/>
            <a:ext cx="7269479" cy="4005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type · title · code · documentDate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officeSender · priority_level · security_level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5 trường khác được chấm: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recipients · signer · first_recipients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signer_title · province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856231"/>
            <a:ext cx="7927848" cy="5175504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12263"/>
            <a:ext cx="74706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API 13 key; benchmark 12 field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798063"/>
            <a:ext cx="7470648" cy="4005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Theo chuẩn hiện hành, receiverDate phải trả chuỗi rỗng và không chấm. Bundle lịch sử còn lưu giá trị legacy; bản báo cáo loại field này.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Document Success@5%: tất cả required field có GT trong một tài liệu đều đạt bucket hợp lệ.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733348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63040" y="747064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Exact / Acceptable / Wrong / Missing / Hallucination / Correct Absent.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Team đã xây gì, và pipeline chạy ra sao?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2; benchmark policy §6–§8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06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02 · PHẠM VI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08176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PDF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4462272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626864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Layout + OCR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7680960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845552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Extraction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899648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064240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API chuẩn hóa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4118336" y="2066543"/>
            <a:ext cx="2990088" cy="132588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4282928" y="2423160"/>
            <a:ext cx="2679192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Sarabun"/>
              </a:rPr>
              <a:t>GT + benchmark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243584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472184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Chuẩn bị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472184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Thu thập dữ liệu; làm GT; thống nhất quy tắc với BA.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6574536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03136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Thử nghiệm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03136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Khảo sát pipeline riêng; chọn pipeline 01 để demo.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11905488" y="4005072"/>
            <a:ext cx="5074920" cy="32004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2134088" y="4261104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Truy vết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2134088" y="4946904"/>
            <a:ext cx="4617720" cy="2029967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Đo accuracy, thời gian và RAM/GPU; giữ OCR, bbox, ảnh trang.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243584" y="7589520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463040" y="772668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Số liệu trình bày lấy từ full inference, không trộn tài nguyên của replay.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Demo theo 3 mức độ: dễ → phổ biến → khó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predictions.jsonl + document_success.csv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00253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18745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01952"/>
            <a:ext cx="5029200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84832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01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61488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dễ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447288"/>
            <a:ext cx="4572000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3116+QĐ-BKHCN; 26+2026+NQ-HĐND.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Không có Wrong/Missing/Hallucination.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473952" y="1901952"/>
            <a:ext cx="5029200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02552" y="2084832"/>
            <a:ext cx="45720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02552" y="2761488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phổ biến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02552" y="3447288"/>
            <a:ext cx="4572000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Quyết định 1666 sạch; Công văn 8906 đạt 7/7 required nhưng còn 2 Missing optional.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704320" y="1901952"/>
            <a:ext cx="5468112" cy="51023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1932920" y="2084832"/>
            <a:ext cx="501091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03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932920" y="2761488"/>
            <a:ext cx="50109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Case khó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32920" y="3447288"/>
            <a:ext cx="5010912" cy="33284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8931, 8948, 29+CT: scan; lỗi ngày, mức khẩn, chữ ký và chức danh.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7424927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63040" y="756208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PDF → output → GT/prediction → ảnh và trace → thời gian xử lý.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Văn bản rõ: trích xuất đúng và truy vết được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predictions.jsonl + field_errors.csv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00837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880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CASE DỄ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52728" y="1847088"/>
            <a:ext cx="6537960" cy="70408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1878" y="1906524"/>
            <a:ext cx="4579659" cy="648309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9888" y="8503920"/>
            <a:ext cx="62636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3116+QĐ-BKHCN · trace trang 1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101583" y="1847088"/>
            <a:ext cx="9052560" cy="3236976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330183" y="2103120"/>
            <a:ext cx="8595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3116+QĐ-BKHCN · 2 trang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330183" y="2788920"/>
            <a:ext cx="8595360" cy="20665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4,37 s/file · PASS. Theo 12 field hiện hành: 10 Exact, title Acceptable, first_recipients Correct Absent.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101583" y="5321808"/>
            <a:ext cx="9052560" cy="312724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330183" y="5577840"/>
            <a:ext cx="859536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26+2026+NQ-HĐND · 5 trang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30183" y="6263640"/>
            <a:ext cx="8595360" cy="195681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7,93 s/file · PASS; không có bucket Acceptable, Wrong, Missing hoặc Hallucination.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Quyết định và Công văn chiếm 47% tập mẫu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predictions.jsonl + field_errors.csv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09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108960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98094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PHỔ BIẾN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92807"/>
            <a:ext cx="5120640" cy="617220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8646" y="1952243"/>
            <a:ext cx="3970514" cy="561441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7680960"/>
            <a:ext cx="48463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1666+QĐ-TTg · scan 5 trang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547104" y="1892807"/>
            <a:ext cx="5120640" cy="617220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2166" y="1952243"/>
            <a:ext cx="3970514" cy="561441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684264" y="7680960"/>
            <a:ext cx="484632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8906+VPCP-CN · print 2 trang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905488" y="1892807"/>
            <a:ext cx="5257800" cy="2889504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134088" y="2148839"/>
            <a:ext cx="48006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Quyết định 1666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134088" y="2834639"/>
            <a:ext cx="4800600" cy="1719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12,52 s/file; không field nào Wrong/Missing/Hallucination.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1905488" y="5020056"/>
            <a:ext cx="5257800" cy="30449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2134088" y="5276088"/>
            <a:ext cx="48006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Công văn 8906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134088" y="5961888"/>
            <a:ext cx="4800600" cy="18745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4,89 s/file; 7/7 required đạt. recipients và first_recipients Missing.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Header đúng chưa đồng nghĩa đúng cả văn bản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field_errors.csv + document_success.csv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606039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478023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03 · DEMO / KHÓ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75104"/>
            <a:ext cx="5047488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231136"/>
            <a:ext cx="459028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8931+VPCP-PL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916936"/>
            <a:ext cx="4590288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4,42 s · 1 trang scan. Ngày 29→19; cơ quan dính chữ; Hỏa tốc thành Bình thường. FAIL 3 required.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92240" y="1975104"/>
            <a:ext cx="5047488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720840" y="2231136"/>
            <a:ext cx="459028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8948+VPCP-CN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20840" y="2916936"/>
            <a:ext cx="4590288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6,50 s · 2 trang scan. Mất ngày, mất Kính gửi; vùng chức danh lẫn OCR rác. FAIL vì ngày.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740896" y="1975104"/>
            <a:ext cx="5422392" cy="5230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969496" y="2231136"/>
            <a:ext cx="49651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29+CT-TTg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969496" y="2916936"/>
            <a:ext cx="4965192" cy="405993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7,76 s · 4 trang scan. Header chính Exact; rớt Hỏa tốc, tên ký sai, chức danh Missing.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43584" y="760780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63040" y="774496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94"/>
              </a:spcAft>
            </a:pPr>
            <a:r>
              <a:rPr sz="2100" b="1">
                <a:solidFill>
                  <a:srgbClr val="44494D"/>
                </a:solidFill>
                <a:latin typeface="Arial"/>
              </a:rPr>
              <a:t>Các slide lỗi sau đây gắn GT/prediction với đúng ảnh và OCR trong trace.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35/100 văn bản đạt; PoC còn cách 45 văn bản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summary.json · full inference v3 · metric v2.1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11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30428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17627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KẾT QUẢ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56231"/>
            <a:ext cx="5074920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039112"/>
            <a:ext cx="46177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35%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715768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Document Success@5%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472184" y="3401568"/>
            <a:ext cx="4617720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35 PASS / 100. PoC ≥80%; stretch ≥90%.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519672" y="1856231"/>
            <a:ext cx="5074920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48272" y="2039112"/>
            <a:ext cx="46177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44,1 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48272" y="2715768"/>
            <a:ext cx="461772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Thời gian trung bình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748272" y="3401568"/>
            <a:ext cx="4617720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44,1 s/file (wall-clock, 100 PDF).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11795760" y="1856231"/>
            <a:ext cx="5376672" cy="294436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2024360" y="2039112"/>
            <a:ext cx="491947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448"/>
              </a:spcAft>
            </a:pPr>
            <a:r>
              <a:rPr sz="3200" b="1">
                <a:solidFill>
                  <a:srgbClr val="EE0033"/>
                </a:solidFill>
                <a:latin typeface="Sarabun"/>
              </a:rPr>
              <a:t>2,48 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024360" y="2715768"/>
            <a:ext cx="491947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Giây/trang*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024360" y="3401568"/>
            <a:ext cx="4919472" cy="11704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1,14–5,85 s; *TB của giây/file ÷ trang/file.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243584" y="5138928"/>
            <a:ext cx="7726679" cy="322783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472184" y="5394960"/>
            <a:ext cx="7269479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RAM tiến trình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472184" y="6080760"/>
            <a:ext cx="7269479" cy="2057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Trung bình 2.745 MB · đỉnh 6.012 MB.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Benchmark chạy trên Quadro RTX 5000.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9235440" y="5138928"/>
            <a:ext cx="7936992" cy="322783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464040" y="5394960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VRAM: phân biệt phạm vi đo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464040" y="6080760"/>
            <a:ext cx="7479792" cy="205739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Device VRAM toàn GPU: 3.077 / 6.793 MB (TB/đỉnh). Process VRAM: chưa đo được; không gán 0 hay dùng allocator để thay.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Điểm nghẽn: chức danh ký, trích yếu, ngày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Full inference metrics.csv · receiverDate ngoài phạm vi hiện hành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12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41071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282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KẾT QUẢ THEO FIELD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65376"/>
            <a:ext cx="7735824" cy="632764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21408"/>
            <a:ext cx="7278624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Tín hiệu tích cực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07208"/>
            <a:ext cx="7278624" cy="5157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province: F1 = 0,984 — field duy nhất đạt đủ target.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type, security_level: F1 = 1,00 nhưng chưa đánh giá đủ lớp hiếm/mẫu GT trống.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Không có Hallucination trên những field có GT trống trong bundle này.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865376"/>
            <a:ext cx="7936992" cy="6327648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21408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Field cần ưu tiên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807208"/>
            <a:ext cx="7479792" cy="515721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signer_title  F1 0,380  ·  51 Wrong + 12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title  F1 0,670  ·  31 Wrong + 3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officeSender  F1 0,735  ·  24 Wrong + 4 Missing</a:t>
            </a:r>
          </a:p>
          <a:p>
            <a:pPr algn="l">
              <a:lnSpc>
                <a:spcPct val="112000"/>
              </a:lnSpc>
              <a:spcAft>
                <a:spcPts val="252"/>
              </a:spcAft>
            </a:pPr>
          </a:p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documentDate  F1 0,785  ·  10 Wrong + 19 Missing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OCR: một ký tự sai làm hỏng field required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8931+VPCP-PL · trace v2 trang 1 · issuance-date / upper-left-organization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13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00837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8803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OCR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56816"/>
            <a:ext cx="699516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2156085"/>
            <a:ext cx="6858000" cy="1174229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3584448"/>
            <a:ext cx="67208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Ngày · bbox [847, 274, 1337, 308]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243584" y="4297680"/>
            <a:ext cx="6995160" cy="201168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164" y="4371452"/>
            <a:ext cx="6858000" cy="1425222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380744" y="5925312"/>
            <a:ext cx="672084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Cơ quan · bbox [236, 154, 663, 195]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549640" y="1956816"/>
            <a:ext cx="8622792" cy="86868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705088" y="2048256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DOCUMENTDATE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705088" y="2295144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29/08/2026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549640" y="3026664"/>
            <a:ext cx="8622792" cy="86868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705088" y="3118104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 / OCR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705088" y="3364992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19/08/2026 · ngày 19 tháng 8 năm 2026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549640" y="4270248"/>
            <a:ext cx="8622792" cy="86868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705088" y="4361688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OFFICESENDER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8705088" y="4608576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VĂN PHÒNG CHÍNH PHỦ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8549640" y="5340096"/>
            <a:ext cx="8622792" cy="86868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705088" y="5431536"/>
            <a:ext cx="831189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 / OCR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705088" y="5678424"/>
            <a:ext cx="8311896" cy="4663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VĂN PHÒNG CHÍNH PHỦNH PHỦ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567928" y="6519672"/>
            <a:ext cx="8522208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Extraction bám OCR nguồn. Metadata có chữ viết tay nhưng chưa đủ evidence để quy hai lỗi này cụ thể cho chữ viết tay.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Dấu mộc / vùng ký: header đúng nhưng mức khẩn rớt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29+CT-TTg · trace v2 trang 1 &amp; 4 · signature-name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14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51129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38327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DẤU &amp; KÝ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92807"/>
            <a:ext cx="4553712" cy="6876288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1995982"/>
            <a:ext cx="4416552" cy="6231027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8385048"/>
            <a:ext cx="427939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1 · kiểm tra dấu Hỏa tốc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980176" y="1892807"/>
            <a:ext cx="4553712" cy="6876288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756" y="1974740"/>
            <a:ext cx="4416552" cy="6273511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6117336" y="8385048"/>
            <a:ext cx="4279392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4 · OCR 'Huốc Dũng'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0780776" y="1892807"/>
            <a:ext cx="6382512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0936224" y="198424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PRIORITY_LEVEL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36224" y="2231136"/>
            <a:ext cx="6071616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HỎA TỐC → BÌNH THƯỜNG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780776" y="3310128"/>
            <a:ext cx="6382512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936224" y="340156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SIGNER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936224" y="3648456"/>
            <a:ext cx="6071616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Hồ Quốc Dũng → Huốc Dũng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780776" y="4727448"/>
            <a:ext cx="6382512" cy="1261872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936224" y="4818888"/>
            <a:ext cx="6071616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SIGNER_TITLE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36224" y="5065776"/>
            <a:ext cx="6071616" cy="8595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96"/>
              </a:spcAft>
            </a:pPr>
            <a:r>
              <a:rPr sz="1400" b="1">
                <a:solidFill>
                  <a:srgbClr val="44494D"/>
                </a:solidFill>
                <a:latin typeface="Arial"/>
              </a:rPr>
              <a:t>KT. THỦ TƯỚNG PHÓ THỦ TƯỚNG → rỗng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835640" y="6291072"/>
            <a:ext cx="6309360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0">
                <a:solidFill>
                  <a:srgbClr val="44494D"/>
                </a:solidFill>
                <a:latin typeface="Arial"/>
              </a:rPr>
              <a:t>priority_level không có evidence. Cần review ảnh màu vùng dấu; chưa kết luận dấu gây ra tất cả các lỗi vùng ký.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Layout / crop: vùng text lẫn nội dung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12+NQ-PVIRe và 240+TB-PVIRe · trace v2 trang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15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310128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18211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LAYOUT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47672"/>
            <a:ext cx="7699248" cy="3703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2164" y="2049453"/>
            <a:ext cx="7562088" cy="3060845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5266944"/>
            <a:ext cx="7424927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12+NQ · khung đỏ = bbox prediction evidence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35440" y="1947672"/>
            <a:ext cx="7936992" cy="370332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4503" y="2007107"/>
            <a:ext cx="7698864" cy="3145536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9372600" y="5266944"/>
            <a:ext cx="76626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240+TB · bbox của 'Số:' nhận nhầm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897880"/>
            <a:ext cx="7699248" cy="249631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72184" y="6153912"/>
            <a:ext cx="7242048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title · Wrong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72184" y="6839712"/>
            <a:ext cx="7242048" cy="1325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GT: 'Về việc chốt danh sách cổ đông…'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Pred: thêm tổ chức và HỘI ĐỒNG QUẢN TRỊ.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35440" y="5897880"/>
            <a:ext cx="7936992" cy="249631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464040" y="6153912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officeSender · Wrong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64040" y="6839712"/>
            <a:ext cx="7479792" cy="132587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GT: TỔNG CÔNG TY CỔ PHẦN TÁI BẢO HIỂM PVI</a:t>
            </a:r>
          </a:p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0">
                <a:solidFill>
                  <a:srgbClr val="44494D"/>
                </a:solidFill>
                <a:latin typeface="Arial"/>
              </a:rPr>
              <a:t>Pred: 'Số:' — bắt nhầm anchor.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Extraction: OCR có text, hậu xử lý giữ nhầm stub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2125+TB-ĐLTKV · trace v2 trang 1 · kinh-gui-anchor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16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712463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584447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EXTRACTION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56816"/>
            <a:ext cx="15910559" cy="2587752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8942" y="2016252"/>
            <a:ext cx="9999842" cy="202996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4160520"/>
            <a:ext cx="15636239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Kính gửi · bbox [473, 616, 1450, 767]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243584" y="4800600"/>
            <a:ext cx="15910559" cy="1005840"/>
          </a:xfrm>
          <a:prstGeom prst="roundRect">
            <a:avLst/>
          </a:prstGeom>
          <a:solidFill>
            <a:srgbClr val="F2F7F4"/>
          </a:solidFill>
          <a:ln w="7620">
            <a:solidFill>
              <a:srgbClr val="F2F7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399032" y="4892040"/>
            <a:ext cx="15599663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207055"/>
                </a:solidFill>
                <a:latin typeface="Arial"/>
              </a:rPr>
              <a:t>GT · FIRST_RECIPIENTS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99032" y="5138928"/>
            <a:ext cx="15599663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Ủy ban Chứng khoán Nhà nước; Sở Giao dịch Chứng khoán Hà Nội; Trung tâm Lưu ký…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989320"/>
            <a:ext cx="15910559" cy="105156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399032" y="6080759"/>
            <a:ext cx="15599663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PREDICTION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399032" y="6327648"/>
            <a:ext cx="15599663" cy="6492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38"/>
              </a:spcAft>
            </a:pPr>
            <a:r>
              <a:rPr sz="1700" b="1">
                <a:solidFill>
                  <a:srgbClr val="44494D"/>
                </a:solidFill>
                <a:latin typeface="Arial"/>
              </a:rPr>
              <a:t>Uỷ ban Chứng khoán Nhà nước; số 1.772; Sở Giao dịch Chứng khoán Hà Nội; Trung tâm…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325880" y="7424927"/>
            <a:ext cx="15590520" cy="96926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Thử lọc stub khi tách danh sách; regression test để không xóa số thật trong tên người nhận.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Missing: không thấy evidence ≠ biết vị trí GT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8948+VPCP-CN · trace v2 trang 1 · Missing không có evidence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17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341071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328269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MISSING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883664"/>
            <a:ext cx="6510528" cy="6885432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6081" y="1943100"/>
            <a:ext cx="4525533" cy="6327648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8385048"/>
            <a:ext cx="6236208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Trang 1 do người review chọn; chưa là bbox GT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028431" y="1883664"/>
            <a:ext cx="9144000" cy="10058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183879" y="1975104"/>
            <a:ext cx="8833104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DOCUMENTDATE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183879" y="2221992"/>
            <a:ext cx="8833104" cy="6035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1">
                <a:solidFill>
                  <a:srgbClr val="44494D"/>
                </a:solidFill>
                <a:latin typeface="Arial"/>
              </a:rPr>
              <a:t>01/09/2026 → rỗng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8028431" y="3127248"/>
            <a:ext cx="9144000" cy="1234440"/>
          </a:xfrm>
          <a:prstGeom prst="roundRect">
            <a:avLst/>
          </a:prstGeom>
          <a:solidFill>
            <a:srgbClr val="FAF0F0"/>
          </a:solidFill>
          <a:ln w="7620">
            <a:solidFill>
              <a:srgbClr val="FA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183879" y="3218688"/>
            <a:ext cx="8833104" cy="2103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GT / PRED · FIRST_RECIPIENTS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83879" y="3465576"/>
            <a:ext cx="8833104" cy="83210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24"/>
              </a:spcAft>
            </a:pPr>
            <a:r>
              <a:rPr sz="1600" b="1">
                <a:solidFill>
                  <a:srgbClr val="44494D"/>
                </a:solidFill>
                <a:latin typeface="Arial"/>
              </a:rPr>
              <a:t>Bộ trưởng các Bộ…; Chủ tịch UBND… → rỗng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8028431" y="4626864"/>
            <a:ext cx="9144000" cy="3675887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257031" y="4882896"/>
            <a:ext cx="86868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Nhận định có giới hạn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257031" y="5568696"/>
            <a:ext cx="8686800" cy="2505455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Cần soi layout/OCR và ranh giới văn bản trước khi thử fallback. Không suy vị trí GT từ trang tự chọn. Bundle không có Hallucination ở field có mẫu GT trống; không suy rộng sang lớp hiếm.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Nghi vấn GT: bucket Wrong vẫn cần người review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03+BC.HĐQT; 27+2026+VBHN · full inference trace v2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18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907791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77977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04 · EVIDENCE / GT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1243584" y="1920240"/>
            <a:ext cx="7708392" cy="306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3901" y="1979676"/>
            <a:ext cx="5047756" cy="2505456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1380744" y="4599432"/>
            <a:ext cx="74340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OCR nguồn: Số 03/BC HĐQT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235440" y="1920240"/>
            <a:ext cx="7936992" cy="3063240"/>
          </a:xfrm>
          <a:prstGeom prst="rect">
            <a:avLst/>
          </a:prstGeom>
          <a:solidFill>
            <a:srgbClr val="FFFFFF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4020" y="2546704"/>
            <a:ext cx="7799831" cy="1371399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9372600" y="4599432"/>
            <a:ext cx="7662671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737A80"/>
                </a:solidFill>
                <a:latin typeface="Arial"/>
              </a:rPr>
              <a:t>OCR nguồn: Số 27/2026/VBHN-NĐ-BTC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5212080"/>
            <a:ext cx="7708392" cy="32735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72184" y="5468112"/>
            <a:ext cx="72511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03+BC.HĐQT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472184" y="6153912"/>
            <a:ext cx="725119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GT 03/BC.HĐQT · Pred 03/BC-HĐQT. Quy tắc API đổi dấu cách thành '-'; cần rà lại policy gán dấu.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235440" y="5212080"/>
            <a:ext cx="7936992" cy="3273552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464040" y="5468112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27+2026+VBHN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9464040" y="6153912"/>
            <a:ext cx="7479792" cy="21031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GT …-ND-BTC · Pred …-NĐ-BTC. Ảnh/trace ủng hộ Đ; cần reviewer xác nhận, không tự sửa GT.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Khả thi để tiếp tục R&amp;D; chưa đủ điều kiện thay thế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5; full inference summary.json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19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404872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27685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05 · ĐÁNH GIÁ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938528"/>
            <a:ext cx="7717536" cy="5257800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94560"/>
            <a:ext cx="7260336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Đã chứng minh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80360"/>
            <a:ext cx="7260336" cy="4087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Pipeline end-to-end trên 100 PDF; API dữ liệu cấu trúc.</a:t>
            </a:r>
          </a:p>
          <a:p>
            <a:pPr algn="l">
              <a:lnSpc>
                <a:spcPct val="112000"/>
              </a:lnSpc>
              <a:spcAft>
                <a:spcPts val="280"/>
              </a:spcAft>
            </a:pPr>
          </a:p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0">
                <a:solidFill>
                  <a:srgbClr val="44494D"/>
                </a:solidFill>
                <a:latin typeface="Arial"/>
              </a:rPr>
              <a:t>Có GT, benchmark, ảnh trang/OCR/bbox/trace và case print/scan chạy tốt.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9235440" y="1938528"/>
            <a:ext cx="7936992" cy="5257800"/>
          </a:xfrm>
          <a:prstGeom prst="roundRect">
            <a:avLst/>
          </a:prstGeom>
          <a:solidFill>
            <a:srgbClr val="FAF1F3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464040" y="2194560"/>
            <a:ext cx="747979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Chưa chứng minh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464040" y="2880360"/>
            <a:ext cx="7479792" cy="4087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35% Document Success còn cách PoC 80%.</a:t>
            </a:r>
          </a:p>
          <a:p>
            <a:pPr algn="l">
              <a:lnSpc>
                <a:spcPct val="112000"/>
              </a:lnSpc>
              <a:spcAft>
                <a:spcPts val="266"/>
              </a:spcAft>
            </a:pPr>
          </a:p>
          <a:p>
            <a:pPr algn="l">
              <a:lnSpc>
                <a:spcPct val="112000"/>
              </a:lnSpc>
              <a:spcAft>
                <a:spcPts val="266"/>
              </a:spcAft>
            </a:pPr>
            <a:r>
              <a:rPr sz="1900" b="0">
                <a:solidFill>
                  <a:srgbClr val="44494D"/>
                </a:solidFill>
                <a:latin typeface="Arial"/>
              </a:rPr>
              <a:t>Mẫu lớp hiếm/chụp nghiêng-ngang chưa đủ; chưa có so sánh chi phí/chất lượng cùng giao thức để kết luận thay thế.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243584" y="7470648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463040" y="7607808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Cân bằng tổng quát hóa, chất lượng–GPU và hiểu ngữ cảnh–thời gian.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6" name="Google Shape;136;p4"/>
          <p:cNvSpPr/>
          <p:nvPr/>
        </p:nvSpPr>
        <p:spPr>
          <a:xfrm>
            <a:off x="15829237" y="0"/>
            <a:ext cx="2281823" cy="1427090"/>
          </a:xfrm>
          <a:custGeom>
            <a:rect b="b" l="l" r="r" t="t"/>
            <a:pathLst>
              <a:path extrusionOk="0" h="1427090" w="2281823">
                <a:moveTo>
                  <a:pt x="0" y="0"/>
                </a:moveTo>
                <a:lnTo>
                  <a:pt x="2281823" y="0"/>
                </a:lnTo>
                <a:lnTo>
                  <a:pt x="2281823" y="1427090"/>
                </a:lnTo>
                <a:lnTo>
                  <a:pt x="0" y="1427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/>
          <p:nvPr/>
        </p:nvSpPr>
        <p:spPr>
          <a:xfrm rot="5400000">
            <a:off x="904917" y="323426"/>
            <a:ext cx="957316" cy="957232"/>
          </a:xfrm>
          <a:custGeom>
            <a:rect b="b" l="l" r="r" t="t"/>
            <a:pathLst>
              <a:path extrusionOk="0" h="14399261" w="14400530">
                <a:moveTo>
                  <a:pt x="7199630" y="0"/>
                </a:moveTo>
                <a:cubicBezTo>
                  <a:pt x="3223260" y="0"/>
                  <a:pt x="0" y="3223260"/>
                  <a:pt x="0" y="7199630"/>
                </a:cubicBezTo>
                <a:cubicBezTo>
                  <a:pt x="0" y="11176001"/>
                  <a:pt x="3223260" y="14399261"/>
                  <a:pt x="7199630" y="14399261"/>
                </a:cubicBezTo>
                <a:lnTo>
                  <a:pt x="14399261" y="14399261"/>
                </a:lnTo>
                <a:lnTo>
                  <a:pt x="14399261" y="7199630"/>
                </a:lnTo>
                <a:cubicBezTo>
                  <a:pt x="14400530" y="3223260"/>
                  <a:pt x="11176000" y="0"/>
                  <a:pt x="7199630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4"/>
          <p:cNvGrpSpPr/>
          <p:nvPr/>
        </p:nvGrpSpPr>
        <p:grpSpPr>
          <a:xfrm rot="5400000">
            <a:off x="2801443" y="-1142413"/>
            <a:ext cx="956242" cy="3889984"/>
            <a:chOff x="0" y="0"/>
            <a:chExt cx="667469" cy="2715260"/>
          </a:xfrm>
        </p:grpSpPr>
        <p:sp>
          <p:nvSpPr>
            <p:cNvPr id="139" name="Google Shape;139;p4"/>
            <p:cNvSpPr/>
            <p:nvPr/>
          </p:nvSpPr>
          <p:spPr>
            <a:xfrm>
              <a:off x="0" y="0"/>
              <a:ext cx="667469" cy="2715260"/>
            </a:xfrm>
            <a:custGeom>
              <a:rect b="b" l="l" r="r" t="t"/>
              <a:pathLst>
                <a:path extrusionOk="0" h="2715260" w="667469">
                  <a:moveTo>
                    <a:pt x="222610" y="19070"/>
                  </a:moveTo>
                  <a:cubicBezTo>
                    <a:pt x="256719" y="7556"/>
                    <a:pt x="295733" y="0"/>
                    <a:pt x="333914" y="0"/>
                  </a:cubicBezTo>
                  <a:cubicBezTo>
                    <a:pt x="372098" y="0"/>
                    <a:pt x="408839" y="6476"/>
                    <a:pt x="442698" y="17990"/>
                  </a:cubicBezTo>
                  <a:cubicBezTo>
                    <a:pt x="443419" y="18350"/>
                    <a:pt x="444139" y="18350"/>
                    <a:pt x="444859" y="18710"/>
                  </a:cubicBezTo>
                  <a:cubicBezTo>
                    <a:pt x="572014" y="64765"/>
                    <a:pt x="665669" y="186379"/>
                    <a:pt x="667469" y="370761"/>
                  </a:cubicBezTo>
                  <a:lnTo>
                    <a:pt x="667469" y="2715260"/>
                  </a:lnTo>
                  <a:lnTo>
                    <a:pt x="0" y="2715260"/>
                  </a:lnTo>
                  <a:lnTo>
                    <a:pt x="0" y="372501"/>
                  </a:lnTo>
                  <a:cubicBezTo>
                    <a:pt x="1801" y="185660"/>
                    <a:pt x="94015" y="64045"/>
                    <a:pt x="222610" y="19070"/>
                  </a:cubicBezTo>
                  <a:close/>
                </a:path>
              </a:pathLst>
            </a:custGeom>
            <a:solidFill>
              <a:srgbClr val="ECEC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0" y="117475"/>
              <a:ext cx="667469" cy="259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p4"/>
          <p:cNvSpPr/>
          <p:nvPr/>
        </p:nvSpPr>
        <p:spPr>
          <a:xfrm>
            <a:off x="246716" y="323384"/>
            <a:ext cx="957257" cy="957257"/>
          </a:xfrm>
          <a:custGeom>
            <a:rect b="b" l="l" r="r" t="t"/>
            <a:pathLst>
              <a:path extrusionOk="0" h="1369822" w="1369822">
                <a:moveTo>
                  <a:pt x="0" y="684911"/>
                </a:moveTo>
                <a:cubicBezTo>
                  <a:pt x="0" y="306705"/>
                  <a:pt x="306705" y="0"/>
                  <a:pt x="684911" y="0"/>
                </a:cubicBezTo>
                <a:cubicBezTo>
                  <a:pt x="1063117" y="0"/>
                  <a:pt x="1369822" y="306705"/>
                  <a:pt x="1369822" y="684911"/>
                </a:cubicBezTo>
                <a:cubicBezTo>
                  <a:pt x="1369822" y="1063117"/>
                  <a:pt x="1063117" y="1369822"/>
                  <a:pt x="684911" y="1369822"/>
                </a:cubicBezTo>
                <a:cubicBezTo>
                  <a:pt x="306705" y="1369822"/>
                  <a:pt x="0" y="1063244"/>
                  <a:pt x="0" y="684911"/>
                </a:cubicBezTo>
                <a:close/>
              </a:path>
            </a:pathLst>
          </a:custGeom>
          <a:solidFill>
            <a:srgbClr val="EE0033">
              <a:alpha val="470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03522" y="480190"/>
            <a:ext cx="643704" cy="643704"/>
          </a:xfrm>
          <a:custGeom>
            <a:rect b="b" l="l" r="r" t="t"/>
            <a:pathLst>
              <a:path extrusionOk="0" h="921131" w="921131">
                <a:moveTo>
                  <a:pt x="0" y="460502"/>
                </a:moveTo>
                <a:cubicBezTo>
                  <a:pt x="0" y="206248"/>
                  <a:pt x="206248" y="0"/>
                  <a:pt x="460502" y="0"/>
                </a:cubicBezTo>
                <a:cubicBezTo>
                  <a:pt x="714756" y="0"/>
                  <a:pt x="921131" y="206248"/>
                  <a:pt x="921131" y="460502"/>
                </a:cubicBezTo>
                <a:cubicBezTo>
                  <a:pt x="921131" y="714756"/>
                  <a:pt x="714883" y="921131"/>
                  <a:pt x="460502" y="921131"/>
                </a:cubicBezTo>
                <a:cubicBezTo>
                  <a:pt x="206121" y="921131"/>
                  <a:pt x="0" y="714883"/>
                  <a:pt x="0" y="460502"/>
                </a:cubicBezTo>
                <a:close/>
              </a:path>
            </a:pathLst>
          </a:custGeom>
          <a:solidFill>
            <a:srgbClr val="EE0033">
              <a:alpha val="1960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78274" y="654943"/>
            <a:ext cx="294206" cy="294206"/>
          </a:xfrm>
          <a:custGeom>
            <a:rect b="b" l="l" r="r" t="t"/>
            <a:pathLst>
              <a:path extrusionOk="0" h="421005" w="421005">
                <a:moveTo>
                  <a:pt x="0" y="210439"/>
                </a:moveTo>
                <a:cubicBezTo>
                  <a:pt x="0" y="94234"/>
                  <a:pt x="94234" y="0"/>
                  <a:pt x="210439" y="0"/>
                </a:cubicBezTo>
                <a:cubicBezTo>
                  <a:pt x="326644" y="0"/>
                  <a:pt x="421005" y="94234"/>
                  <a:pt x="421005" y="210439"/>
                </a:cubicBezTo>
                <a:cubicBezTo>
                  <a:pt x="421005" y="326644"/>
                  <a:pt x="326771" y="421005"/>
                  <a:pt x="210439" y="421005"/>
                </a:cubicBezTo>
                <a:cubicBezTo>
                  <a:pt x="94107" y="421005"/>
                  <a:pt x="0" y="326771"/>
                  <a:pt x="0" y="210439"/>
                </a:cubicBezTo>
                <a:close/>
              </a:path>
            </a:pathLst>
          </a:custGeom>
          <a:solidFill>
            <a:srgbClr val="EE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0" y="9805374"/>
            <a:ext cx="18464608" cy="538937"/>
          </a:xfrm>
          <a:custGeom>
            <a:rect b="b" l="l" r="r" t="t"/>
            <a:pathLst>
              <a:path extrusionOk="0" h="538937" w="18464608">
                <a:moveTo>
                  <a:pt x="0" y="0"/>
                </a:moveTo>
                <a:lnTo>
                  <a:pt x="18464608" y="0"/>
                </a:lnTo>
                <a:lnTo>
                  <a:pt x="18464608" y="538937"/>
                </a:lnTo>
                <a:lnTo>
                  <a:pt x="0" y="53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0949" l="0" r="0" t="-50949"/>
            </a:stretch>
          </a:blipFill>
          <a:ln>
            <a:noFill/>
          </a:ln>
        </p:spPr>
      </p:sp>
      <p:sp>
        <p:nvSpPr>
          <p:cNvPr id="145" name="Google Shape;145;p4"/>
          <p:cNvSpPr/>
          <p:nvPr/>
        </p:nvSpPr>
        <p:spPr>
          <a:xfrm>
            <a:off x="15976039" y="9890331"/>
            <a:ext cx="1235636" cy="272110"/>
          </a:xfrm>
          <a:custGeom>
            <a:rect b="b" l="l" r="r" t="t"/>
            <a:pathLst>
              <a:path extrusionOk="0" h="272110" w="1235636">
                <a:moveTo>
                  <a:pt x="0" y="0"/>
                </a:moveTo>
                <a:lnTo>
                  <a:pt x="1235636" y="0"/>
                </a:lnTo>
                <a:lnTo>
                  <a:pt x="1235636" y="272110"/>
                </a:lnTo>
                <a:lnTo>
                  <a:pt x="0" y="2721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009" l="0" r="-1521" t="0"/>
            </a:stretch>
          </a:blipFill>
          <a:ln>
            <a:noFill/>
          </a:ln>
        </p:spPr>
      </p:sp>
      <p:sp>
        <p:nvSpPr>
          <p:cNvPr id="146" name="TextBox 145"/>
          <p:cNvSpPr txBox="1"/>
          <p:nvPr/>
        </p:nvSpPr>
        <p:spPr>
          <a:xfrm>
            <a:off x="1216152" y="539496"/>
            <a:ext cx="14173200" cy="6217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92"/>
              </a:spcAft>
            </a:pPr>
            <a:r>
              <a:rPr sz="2800" b="1">
                <a:solidFill>
                  <a:srgbClr val="44494D"/>
                </a:solidFill>
                <a:latin typeface="Sarabun"/>
              </a:rPr>
              <a:t>Ưu tiên accuracy; sau đó tối ưu vận hành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34440" y="9390888"/>
            <a:ext cx="130759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126"/>
              </a:spcAft>
            </a:pPr>
            <a:r>
              <a:rPr sz="900" b="0">
                <a:solidFill>
                  <a:srgbClr val="737A80"/>
                </a:solidFill>
                <a:latin typeface="Arial"/>
              </a:rPr>
              <a:t>Outline mục 6; benchmark policy §6, §9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172432" y="9390888"/>
            <a:ext cx="594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12000"/>
              </a:lnSpc>
              <a:spcAft>
                <a:spcPts val="140"/>
              </a:spcAft>
            </a:pPr>
            <a:r>
              <a:rPr sz="1000" b="0">
                <a:solidFill>
                  <a:srgbClr val="EE0033"/>
                </a:solidFill>
                <a:latin typeface="Arial"/>
              </a:rPr>
              <a:t>20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243584" y="1307592"/>
            <a:ext cx="2505456" cy="347472"/>
          </a:xfrm>
          <a:prstGeom prst="roundRect">
            <a:avLst/>
          </a:prstGeom>
          <a:solidFill>
            <a:srgbClr val="F8E7EA"/>
          </a:solidFill>
          <a:ln w="7620">
            <a:solidFill>
              <a:srgbClr val="F8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307592" y="1330451"/>
            <a:ext cx="23774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140"/>
              </a:spcAft>
            </a:pPr>
            <a:r>
              <a:rPr sz="1000" b="1">
                <a:solidFill>
                  <a:srgbClr val="EE0033"/>
                </a:solidFill>
                <a:latin typeface="Arial"/>
              </a:rPr>
              <a:t>06 · TIẾP THEO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243584" y="1874519"/>
            <a:ext cx="5029200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472184" y="2130552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01 · Dữ liệu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472184" y="2816352"/>
            <a:ext cx="4572000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Bổ sung hard cases dấu đỏ, chữ viết tay, trang nghiêng/ngang, lớp hiếm và văn bản dài; rà GT; chia train/dev/test nếu fine-tune.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6473952" y="1874519"/>
            <a:ext cx="5029200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702552" y="2130552"/>
            <a:ext cx="4572000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02 · Kỹ thuật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702552" y="2816352"/>
            <a:ext cx="4572000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Benchmark OCR riêng; thử model chữ viết tay, xử lý dấu/watermark, xác định ranh giới/trang cuối và chuẩn hóa giá trị hữu hạn.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11704320" y="1874519"/>
            <a:ext cx="5468112" cy="5321808"/>
          </a:xfrm>
          <a:prstGeom prst="roundRect">
            <a:avLst/>
          </a:prstGeom>
          <a:solidFill>
            <a:srgbClr val="F4F4F4"/>
          </a:solidFill>
          <a:ln w="7620">
            <a:solidFill>
              <a:srgbClr val="E3E3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1932920" y="2130552"/>
            <a:ext cx="5010912" cy="6583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Sarabun"/>
              </a:rPr>
              <a:t>03 · Kiểm chứng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1932920" y="2816352"/>
            <a:ext cx="5010912" cy="415137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52"/>
              </a:spcAft>
            </a:pPr>
            <a:r>
              <a:rPr sz="1800" b="0">
                <a:solidFill>
                  <a:srgbClr val="44494D"/>
                </a:solidFill>
                <a:latin typeface="Arial"/>
              </a:rPr>
              <a:t>Regression test mỗi vòng. Đạt accuracy target rồi tối ưu tốc độ → tài nguyên → chi phí → UAT có kiểm soát.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243584" y="7498079"/>
            <a:ext cx="15910559" cy="822960"/>
          </a:xfrm>
          <a:prstGeom prst="roundRect">
            <a:avLst/>
          </a:prstGeom>
          <a:solidFill>
            <a:srgbClr val="FBF1F2"/>
          </a:solidFill>
          <a:ln w="7620">
            <a:solidFill>
              <a:srgbClr val="F4D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463040" y="7635240"/>
            <a:ext cx="15453359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280"/>
              </a:spcAft>
            </a:pPr>
            <a:r>
              <a:rPr sz="2000" b="1">
                <a:solidFill>
                  <a:srgbClr val="44494D"/>
                </a:solidFill>
                <a:latin typeface="Arial"/>
              </a:rPr>
              <a:t>Cần thống nhất mốc review, hard cases ưu tiên và nguồn lực GPU/chuyên môn.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60" name="Google Shape;460;p24"/>
          <p:cNvSpPr/>
          <p:nvPr/>
        </p:nvSpPr>
        <p:spPr>
          <a:xfrm>
            <a:off x="0" y="7296"/>
            <a:ext cx="18424729" cy="10433003"/>
          </a:xfrm>
          <a:custGeom>
            <a:rect b="b" l="l" r="r" t="t"/>
            <a:pathLst>
              <a:path extrusionOk="0" h="10433003" w="18424729">
                <a:moveTo>
                  <a:pt x="0" y="0"/>
                </a:moveTo>
                <a:lnTo>
                  <a:pt x="18424729" y="0"/>
                </a:lnTo>
                <a:lnTo>
                  <a:pt x="18424729" y="10433003"/>
                </a:lnTo>
                <a:lnTo>
                  <a:pt x="0" y="1043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1" name="Google Shape;461;p24"/>
          <p:cNvSpPr/>
          <p:nvPr/>
        </p:nvSpPr>
        <p:spPr>
          <a:xfrm>
            <a:off x="-799601" y="3364833"/>
            <a:ext cx="7992570" cy="9672442"/>
          </a:xfrm>
          <a:custGeom>
            <a:rect b="b" l="l" r="r" t="t"/>
            <a:pathLst>
              <a:path extrusionOk="0" h="9672442" w="7992570">
                <a:moveTo>
                  <a:pt x="0" y="0"/>
                </a:moveTo>
                <a:lnTo>
                  <a:pt x="7992570" y="0"/>
                </a:lnTo>
                <a:lnTo>
                  <a:pt x="7992570" y="9672443"/>
                </a:lnTo>
                <a:lnTo>
                  <a:pt x="0" y="9672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6000"/>
            </a:blip>
            <a:stretch>
              <a:fillRect b="-165" l="0" r="-105" t="0"/>
            </a:stretch>
          </a:blipFill>
          <a:ln>
            <a:noFill/>
          </a:ln>
        </p:spPr>
      </p:sp>
      <p:sp>
        <p:nvSpPr>
          <p:cNvPr id="462" name="Google Shape;462;p24"/>
          <p:cNvSpPr/>
          <p:nvPr/>
        </p:nvSpPr>
        <p:spPr>
          <a:xfrm>
            <a:off x="-343810" y="3752988"/>
            <a:ext cx="7080989" cy="8569268"/>
          </a:xfrm>
          <a:custGeom>
            <a:rect b="b" l="l" r="r" t="t"/>
            <a:pathLst>
              <a:path extrusionOk="0" h="8569268" w="7080989">
                <a:moveTo>
                  <a:pt x="0" y="0"/>
                </a:moveTo>
                <a:lnTo>
                  <a:pt x="7080988" y="0"/>
                </a:lnTo>
                <a:lnTo>
                  <a:pt x="7080988" y="8569268"/>
                </a:lnTo>
                <a:lnTo>
                  <a:pt x="0" y="856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2998"/>
            </a:blip>
            <a:stretch>
              <a:fillRect b="-273" l="0" r="-213" t="0"/>
            </a:stretch>
          </a:blipFill>
          <a:ln>
            <a:noFill/>
          </a:ln>
        </p:spPr>
      </p:sp>
      <p:sp>
        <p:nvSpPr>
          <p:cNvPr id="463" name="Google Shape;463;p24"/>
          <p:cNvSpPr/>
          <p:nvPr/>
        </p:nvSpPr>
        <p:spPr>
          <a:xfrm>
            <a:off x="169718" y="4120710"/>
            <a:ext cx="6135651" cy="7425240"/>
          </a:xfrm>
          <a:custGeom>
            <a:rect b="b" l="l" r="r" t="t"/>
            <a:pathLst>
              <a:path extrusionOk="0" h="7425240" w="6135651">
                <a:moveTo>
                  <a:pt x="0" y="0"/>
                </a:moveTo>
                <a:lnTo>
                  <a:pt x="6135650" y="0"/>
                </a:lnTo>
                <a:lnTo>
                  <a:pt x="6135650" y="7425240"/>
                </a:lnTo>
                <a:lnTo>
                  <a:pt x="0" y="74252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90" l="0" r="-129" t="0"/>
            </a:stretch>
          </a:blipFill>
          <a:ln>
            <a:noFill/>
          </a:ln>
        </p:spPr>
      </p:sp>
      <p:sp>
        <p:nvSpPr>
          <p:cNvPr id="464" name="Google Shape;464;p24"/>
          <p:cNvSpPr/>
          <p:nvPr/>
        </p:nvSpPr>
        <p:spPr>
          <a:xfrm>
            <a:off x="671276" y="5575282"/>
            <a:ext cx="5024638" cy="2162561"/>
          </a:xfrm>
          <a:custGeom>
            <a:rect b="b" l="l" r="r" t="t"/>
            <a:pathLst>
              <a:path extrusionOk="0" h="2162561" w="5024638">
                <a:moveTo>
                  <a:pt x="0" y="0"/>
                </a:moveTo>
                <a:lnTo>
                  <a:pt x="5024638" y="0"/>
                </a:lnTo>
                <a:lnTo>
                  <a:pt x="5024638" y="2162561"/>
                </a:lnTo>
                <a:lnTo>
                  <a:pt x="0" y="2162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22" l="0" r="-422" t="0"/>
            </a:stretch>
          </a:blipFill>
          <a:ln>
            <a:noFill/>
          </a:ln>
        </p:spPr>
      </p:sp>
      <p:sp>
        <p:nvSpPr>
          <p:cNvPr id="465" name="Google Shape;465;p24"/>
          <p:cNvSpPr/>
          <p:nvPr/>
        </p:nvSpPr>
        <p:spPr>
          <a:xfrm>
            <a:off x="11314051" y="2232108"/>
            <a:ext cx="2989596" cy="1689122"/>
          </a:xfrm>
          <a:custGeom>
            <a:rect b="b" l="l" r="r" t="t"/>
            <a:pathLst>
              <a:path extrusionOk="0" h="1689122" w="2989596">
                <a:moveTo>
                  <a:pt x="0" y="0"/>
                </a:moveTo>
                <a:lnTo>
                  <a:pt x="2989595" y="0"/>
                </a:lnTo>
                <a:lnTo>
                  <a:pt x="2989595" y="1689122"/>
                </a:lnTo>
                <a:lnTo>
                  <a:pt x="0" y="1689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66" name="Picture 4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13280" y="640080"/>
            <a:ext cx="2743200" cy="1715014"/>
          </a:xfrm>
          <a:prstGeom prst="rect">
            <a:avLst/>
          </a:prstGeom>
        </p:spPr>
      </p:pic>
      <p:sp>
        <p:nvSpPr>
          <p:cNvPr id="467" name="TextBox 466"/>
          <p:cNvSpPr txBox="1"/>
          <p:nvPr/>
        </p:nvSpPr>
        <p:spPr>
          <a:xfrm>
            <a:off x="7104888" y="3867912"/>
            <a:ext cx="10149840" cy="1143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5000" b="1">
                <a:solidFill>
                  <a:srgbClr val="FFFFFF"/>
                </a:solidFill>
                <a:latin typeface="Sarabun"/>
              </a:rPr>
              <a:t>Xin cảm ơn!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7132320" y="5193792"/>
            <a:ext cx="10104120" cy="1371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35/100 hôm nay · 80/100 là mốc PoC</a:t>
            </a:r>
          </a:p>
          <a:p>
            <a:pPr algn="l">
              <a:lnSpc>
                <a:spcPct val="112000"/>
              </a:lnSpc>
              <a:spcAft>
                <a:spcPts val="322"/>
              </a:spcAft>
            </a:pPr>
            <a:r>
              <a:rPr sz="2300" b="0">
                <a:solidFill>
                  <a:srgbClr val="FFFFFF"/>
                </a:solidFill>
                <a:latin typeface="Arial"/>
              </a:rPr>
              <a:t>Feedback về field ưu tiên, UAT và nguồn lực?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quanpv2</dc:creator>
  <dc:title>Demo AI OCR văn bản hành chính · Viettel Solutions</dc:title>
  <dc:subject>Pipeline 01 · full inference 35/100 · 29/09/2026</dc:subject>
</cp:coreProperties>
</file>